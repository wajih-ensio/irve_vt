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90" r:id="rId5"/>
    <p:sldId id="257" r:id="rId6"/>
    <p:sldId id="258" r:id="rId7"/>
    <p:sldId id="287" r:id="rId8"/>
    <p:sldId id="276" r:id="rId9"/>
    <p:sldId id="259" r:id="rId10"/>
    <p:sldId id="291" r:id="rId11"/>
    <p:sldId id="282" r:id="rId12"/>
    <p:sldId id="292" r:id="rId13"/>
  </p:sldIdLst>
  <p:sldSz cx="9144000" cy="5143500" type="screen16x9"/>
  <p:notesSz cx="7104063" cy="10234613"/>
  <p:embeddedFontLst>
    <p:embeddedFont>
      <p:font typeface="DM Sans" pitchFamily="2" charset="0"/>
      <p:regular r:id="rId15"/>
      <p:bold r:id="rId16"/>
    </p:embeddedFont>
    <p:embeddedFont>
      <p:font typeface="DM Sans Medium" pitchFamily="2" charset="0"/>
      <p:regular r:id="rId17"/>
      <p:italic r:id="rId18"/>
    </p:embeddedFont>
    <p:embeddedFont>
      <p:font typeface="DM Sans SemiBold" panose="020B060402020202020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  <p:bold r:id="rId24"/>
      <p:italic r:id="rId25"/>
      <p:boldItalic r:id="rId26"/>
    </p:embeddedFont>
    <p:embeddedFont>
      <p:font typeface="Inter Medium" panose="020B0604020202020204" charset="0"/>
      <p:regular r:id="rId27"/>
      <p:bold r:id="rId28"/>
      <p:italic r:id="rId29"/>
      <p:boldItalic r:id="rId30"/>
    </p:embeddedFont>
    <p:embeddedFont>
      <p:font typeface="Inter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1j9oZ5O3lpsH/DtiAgaJrflxrT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is Normand" initials="" lastIdx="3" clrIdx="0"/>
  <p:cmAuthor id="1" name="Francois Hers" initials="" lastIdx="2" clrIdx="1"/>
  <p:cmAuthor id="2" name="Julie ENJALBERT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50B7B-AA50-3D81-6585-A020C9ED7ADC}" v="57" dt="2026-10-01T08:40:59.601"/>
    <p1510:client id="{C5B41FB0-3802-410D-A4D5-35648160A2F9}" v="1" dt="2026-09-29T09:00:28.334"/>
  </p1510:revLst>
</p1510:revInfo>
</file>

<file path=ppt/tableStyles.xml><?xml version="1.0" encoding="utf-8"?>
<a:tblStyleLst xmlns:a="http://schemas.openxmlformats.org/drawingml/2006/main" def="{312DF80A-4CAD-4B3A-9A1A-665FECB37874}">
  <a:tblStyle styleId="{312DF80A-4CAD-4B3A-9A1A-665FECB3787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4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53b08c1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a53b08c12_0_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88B413-A0BB-0A30-4C32-8841AD35F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53b08c12_0_5:notes">
            <a:extLst>
              <a:ext uri="{FF2B5EF4-FFF2-40B4-BE49-F238E27FC236}">
                <a16:creationId xmlns:a16="http://schemas.microsoft.com/office/drawing/2014/main" id="{1B64D1E2-7208-2AB0-F076-A78A5F67C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a53b08c12_0_5:notes">
            <a:extLst>
              <a:ext uri="{FF2B5EF4-FFF2-40B4-BE49-F238E27FC236}">
                <a16:creationId xmlns:a16="http://schemas.microsoft.com/office/drawing/2014/main" id="{249C11E0-4AA5-CEEB-5618-FCBB75ADA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5329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E3D19CB-DDA0-056D-90C6-A65ACCA8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53b08c12_0_5:notes">
            <a:extLst>
              <a:ext uri="{FF2B5EF4-FFF2-40B4-BE49-F238E27FC236}">
                <a16:creationId xmlns:a16="http://schemas.microsoft.com/office/drawing/2014/main" id="{C7085656-C764-06A5-FF76-2B25C625C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a53b08c12_0_5:notes">
            <a:extLst>
              <a:ext uri="{FF2B5EF4-FFF2-40B4-BE49-F238E27FC236}">
                <a16:creationId xmlns:a16="http://schemas.microsoft.com/office/drawing/2014/main" id="{488C3A76-67A8-2EC7-24BB-B72D7DFF2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107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 1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92168" y="381000"/>
            <a:ext cx="30669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DM Sans"/>
              <a:buNone/>
              <a:defRPr sz="8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 sz="42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title" idx="2"/>
          </p:nvPr>
        </p:nvSpPr>
        <p:spPr>
          <a:xfrm>
            <a:off x="492168" y="2586625"/>
            <a:ext cx="77247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1600"/>
              <a:buFont typeface="Inter SemiBold"/>
              <a:buNone/>
              <a:defRPr sz="1600" b="1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Inter SemiBold"/>
              <a:buNone/>
              <a:defRPr sz="2400" b="1">
                <a:solidFill>
                  <a:srgbClr val="1D2939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(light) 1">
  <p:cSld name="TITLE_AND_BODY_4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504825" y="314722"/>
            <a:ext cx="40671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 2 1">
  <p:cSld name="TITLE_1_2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5"/>
          <p:cNvPicPr preferRelativeResize="0"/>
          <p:nvPr/>
        </p:nvPicPr>
        <p:blipFill rotWithShape="1">
          <a:blip r:embed="rId2">
            <a:alphaModFix/>
          </a:blip>
          <a:srcRect l="39" r="49"/>
          <a:stretch/>
        </p:blipFill>
        <p:spPr>
          <a:xfrm>
            <a:off x="9525" y="0"/>
            <a:ext cx="91358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510231" y="1581150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title" idx="2"/>
          </p:nvPr>
        </p:nvSpPr>
        <p:spPr>
          <a:xfrm>
            <a:off x="510231" y="2867025"/>
            <a:ext cx="30669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DM Sans"/>
              <a:buNone/>
              <a:defRPr sz="3200" b="1">
                <a:solidFill>
                  <a:srgbClr val="1D2939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3200"/>
              <a:buFont typeface="Inter"/>
              <a:buNone/>
              <a:defRPr sz="3200" b="1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37" name="Google Shape;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231" y="457200"/>
            <a:ext cx="1463040" cy="327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eft (light) 1 1">
  <p:cSld name="TITLE_AND_BODY_4_1_1">
    <p:bg>
      <p:bgPr>
        <a:solidFill>
          <a:srgbClr val="1D2939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2" y="-2"/>
            <a:ext cx="9144000" cy="5143500"/>
          </a:xfrm>
          <a:prstGeom prst="rect">
            <a:avLst/>
          </a:prstGeom>
          <a:solidFill>
            <a:srgbClr val="1D2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504825" y="457200"/>
            <a:ext cx="40671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DM Sans SemiBold"/>
              <a:buNone/>
              <a:defRPr sz="2200">
                <a:solidFill>
                  <a:srgbClr val="FFFFFF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enter Description 1 1">
  <p:cSld name="TITLE_AND_BODY_1_3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504825" y="329138"/>
            <a:ext cx="81345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title" idx="2"/>
          </p:nvPr>
        </p:nvSpPr>
        <p:spPr>
          <a:xfrm>
            <a:off x="504825" y="808013"/>
            <a:ext cx="81345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AAC"/>
              </a:buClr>
              <a:buSzPts val="1400"/>
              <a:buFont typeface="DM Sans Medium"/>
              <a:buNone/>
              <a:defRPr sz="1400">
                <a:solidFill>
                  <a:srgbClr val="919AAC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573674" y="466322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  <a:defRPr sz="7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enter 2">
  <p:cSld name="TITLE_AND_BODY_3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38128" y="46695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504825" y="797450"/>
            <a:ext cx="81342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400"/>
              <a:buFont typeface="DM Sans SemiBold"/>
              <a:buNone/>
              <a:defRPr sz="240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800"/>
              <a:buNone/>
              <a:defRPr>
                <a:solidFill>
                  <a:srgbClr val="1D2939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sldNum" idx="2"/>
          </p:nvPr>
        </p:nvSpPr>
        <p:spPr>
          <a:xfrm>
            <a:off x="8638128" y="46695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title" idx="3"/>
          </p:nvPr>
        </p:nvSpPr>
        <p:spPr>
          <a:xfrm>
            <a:off x="504825" y="457200"/>
            <a:ext cx="8134200" cy="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DM Sans"/>
              <a:buNone/>
              <a:defRPr sz="1400" b="1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400"/>
              <a:buFont typeface="Inter"/>
              <a:buNone/>
              <a:defRPr sz="1400" b="1">
                <a:solidFill>
                  <a:srgbClr val="FF525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"/>
          <p:cNvPicPr preferRelativeResize="0"/>
          <p:nvPr/>
        </p:nvPicPr>
        <p:blipFill rotWithShape="1">
          <a:blip r:embed="rId8">
            <a:alphaModFix/>
          </a:blip>
          <a:srcRect l="39" r="49"/>
          <a:stretch/>
        </p:blipFill>
        <p:spPr>
          <a:xfrm>
            <a:off x="9525" y="0"/>
            <a:ext cx="91358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"/>
          <p:cNvSpPr/>
          <p:nvPr/>
        </p:nvSpPr>
        <p:spPr>
          <a:xfrm>
            <a:off x="8638125" y="4669525"/>
            <a:ext cx="274200" cy="274200"/>
          </a:xfrm>
          <a:prstGeom prst="roundRect">
            <a:avLst>
              <a:gd name="adj" fmla="val 35120"/>
            </a:avLst>
          </a:prstGeom>
          <a:solidFill>
            <a:srgbClr val="FFE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9"/>
          <p:cNvSpPr txBox="1">
            <a:spLocks noGrp="1"/>
          </p:cNvSpPr>
          <p:nvPr>
            <p:ph type="title"/>
          </p:nvPr>
        </p:nvSpPr>
        <p:spPr>
          <a:xfrm>
            <a:off x="504825" y="445025"/>
            <a:ext cx="8134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939"/>
              </a:buClr>
              <a:buSzPts val="2200"/>
              <a:buFont typeface="DM Sans SemiBold"/>
              <a:buNone/>
              <a:defRPr sz="2200" b="0" i="0" u="none" strike="noStrike" cap="none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body" idx="1"/>
          </p:nvPr>
        </p:nvSpPr>
        <p:spPr>
          <a:xfrm>
            <a:off x="504900" y="1152475"/>
            <a:ext cx="8134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800"/>
              <a:buFont typeface="Inter"/>
              <a:buChar char="●"/>
              <a:defRPr sz="18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●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○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67A"/>
              </a:buClr>
              <a:buSzPts val="1400"/>
              <a:buFont typeface="Inter"/>
              <a:buChar char="■"/>
              <a:defRPr sz="1400" b="0" i="0" u="none" strike="noStrike" cap="none">
                <a:solidFill>
                  <a:srgbClr val="5C667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38128" y="4669525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F525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5" r:id="rId4"/>
    <p:sldLayoutId id="2147483656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">
          <p15:clr>
            <a:srgbClr val="E46962"/>
          </p15:clr>
        </p15:guide>
        <p15:guide id="2" orient="horz" pos="2937">
          <p15:clr>
            <a:srgbClr val="E46962"/>
          </p15:clr>
        </p15:guide>
        <p15:guide id="3" pos="5442">
          <p15:clr>
            <a:srgbClr val="E46962"/>
          </p15:clr>
        </p15:guide>
        <p15:guide id="4" pos="2880">
          <p15:clr>
            <a:srgbClr val="E46962"/>
          </p15:clr>
        </p15:guide>
        <p15:guide id="5" pos="31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85BDC85-4873-E319-2D1A-6F4385550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64" b="90136" l="10000" r="99153">
                        <a14:foregroundMark x1="91525" y1="32313" x2="96271" y2="43027"/>
                        <a14:foregroundMark x1="96271" y1="28401" x2="96949" y2="28571"/>
                        <a14:foregroundMark x1="85763" y1="28571" x2="85763" y2="28571"/>
                        <a14:foregroundMark x1="94576" y1="87415" x2="94576" y2="87415"/>
                        <a14:foregroundMark x1="93729" y1="87245" x2="93729" y2="87245"/>
                        <a14:foregroundMark x1="92881" y1="86905" x2="92881" y2="86905"/>
                        <a14:foregroundMark x1="95085" y1="87245" x2="95085" y2="87245"/>
                        <a14:foregroundMark x1="96271" y1="87585" x2="96271" y2="87585"/>
                        <a14:foregroundMark x1="97119" y1="87585" x2="97119" y2="87585"/>
                        <a14:foregroundMark x1="97966" y1="87755" x2="97966" y2="87755"/>
                        <a14:foregroundMark x1="98814" y1="87755" x2="98814" y2="87755"/>
                        <a14:foregroundMark x1="99322" y1="83503" x2="99322" y2="83503"/>
                        <a14:foregroundMark x1="42373" y1="90136" x2="42373" y2="90136"/>
                        <a14:foregroundMark x1="92203" y1="86905" x2="92203" y2="86905"/>
                        <a14:foregroundMark x1="93390" y1="87075" x2="93390" y2="87075"/>
                        <a14:foregroundMark x1="47966" y1="31122" x2="47966" y2="31122"/>
                        <a14:backgroundMark x1="44746" y1="30102" x2="44746" y2="30102"/>
                        <a14:backgroundMark x1="44746" y1="22279" x2="44746" y2="22279"/>
                        <a14:backgroundMark x1="93220" y1="86395" x2="93220" y2="86395"/>
                        <a14:backgroundMark x1="92712" y1="86395" x2="92712" y2="86395"/>
                        <a14:backgroundMark x1="92203" y1="86395" x2="92203" y2="863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155" y="-77470"/>
            <a:ext cx="5617845" cy="560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690C50F-068C-FC21-D6DD-4886607DE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92" y="-173181"/>
            <a:ext cx="1925782" cy="1083252"/>
          </a:xfrm>
          <a:prstGeom prst="rect">
            <a:avLst/>
          </a:prstGeom>
        </p:spPr>
      </p:pic>
      <p:sp>
        <p:nvSpPr>
          <p:cNvPr id="7" name="Google Shape;57;g3669260789b_1_16">
            <a:extLst>
              <a:ext uri="{FF2B5EF4-FFF2-40B4-BE49-F238E27FC236}">
                <a16:creationId xmlns:a16="http://schemas.microsoft.com/office/drawing/2014/main" id="{6E572B6E-D03C-8868-98AE-D872A60639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987" y="1122548"/>
            <a:ext cx="3066900" cy="33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BEEV [Nom du site]</a:t>
            </a:r>
            <a:endParaRPr sz="1400" dirty="0">
              <a:solidFill>
                <a:srgbClr val="FF0000"/>
              </a:solidFill>
            </a:endParaRPr>
          </a:p>
        </p:txBody>
      </p:sp>
      <p:sp>
        <p:nvSpPr>
          <p:cNvPr id="8" name="Google Shape;60;g3669260789b_1_16">
            <a:extLst>
              <a:ext uri="{FF2B5EF4-FFF2-40B4-BE49-F238E27FC236}">
                <a16:creationId xmlns:a16="http://schemas.microsoft.com/office/drawing/2014/main" id="{60016617-E7B4-183A-EB5B-F96287D7E66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32987" y="1517387"/>
            <a:ext cx="3128352" cy="92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>
              <a:buSzPct val="111111"/>
            </a:pPr>
            <a:r>
              <a:rPr lang="fr-FR" sz="3200" dirty="0">
                <a:latin typeface="DM Sans" pitchFamily="2" charset="0"/>
              </a:rPr>
              <a:t>Avant-Projet Sommaire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9" name="Google Shape;58;g3669260789b_1_16">
            <a:extLst>
              <a:ext uri="{FF2B5EF4-FFF2-40B4-BE49-F238E27FC236}">
                <a16:creationId xmlns:a16="http://schemas.microsoft.com/office/drawing/2014/main" id="{0DE5FFB5-80FC-8847-A076-86CDD22B9C2A}"/>
              </a:ext>
            </a:extLst>
          </p:cNvPr>
          <p:cNvSpPr txBox="1"/>
          <p:nvPr/>
        </p:nvSpPr>
        <p:spPr>
          <a:xfrm>
            <a:off x="432987" y="2661805"/>
            <a:ext cx="3184875" cy="1723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lnSpc>
                <a:spcPct val="115000"/>
              </a:lnSpc>
              <a:buClr>
                <a:srgbClr val="FF5252"/>
              </a:buClr>
              <a:buSzPts val="1400"/>
            </a:pP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>
              <a:lnSpc>
                <a:spcPct val="115000"/>
              </a:lnSpc>
              <a:buClr>
                <a:srgbClr val="FF5252"/>
              </a:buClr>
              <a:buSzPts val="1400"/>
            </a:pP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>
              <a:lnSpc>
                <a:spcPct val="115000"/>
              </a:lnSpc>
              <a:buClr>
                <a:srgbClr val="FF5252"/>
              </a:buClr>
              <a:buSzPts val="1400"/>
            </a:pPr>
            <a:r>
              <a:rPr lang="fr-FR" sz="1200" dirty="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Installation de </a:t>
            </a: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</a:endParaRPr>
          </a:p>
          <a:p>
            <a:pPr>
              <a:lnSpc>
                <a:spcPct val="115000"/>
              </a:lnSpc>
              <a:buClr>
                <a:srgbClr val="FF5252"/>
              </a:buClr>
              <a:buSzPts val="1400"/>
            </a:pP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>
              <a:lnSpc>
                <a:spcPct val="115000"/>
              </a:lnSpc>
              <a:buClr>
                <a:srgbClr val="FF5252"/>
              </a:buClr>
              <a:buSzPts val="1400"/>
            </a:pPr>
            <a:r>
              <a:rPr lang="fr-FR" sz="1200" dirty="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Date de l’audit :</a:t>
            </a: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</a:endParaRPr>
          </a:p>
          <a:p>
            <a:pPr lvl="0">
              <a:lnSpc>
                <a:spcPct val="115000"/>
              </a:lnSpc>
              <a:buClr>
                <a:srgbClr val="FF5252"/>
              </a:buClr>
              <a:buSzPts val="1400"/>
            </a:pP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>
              <a:lnSpc>
                <a:spcPct val="115000"/>
              </a:lnSpc>
              <a:buClr>
                <a:srgbClr val="FF5252"/>
              </a:buClr>
              <a:buSzPts val="1400"/>
            </a:pPr>
            <a:r>
              <a:rPr lang="fr-FR" sz="1200" dirty="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Date :</a:t>
            </a:r>
            <a:endParaRPr lang="fr-FR" sz="1200" dirty="0">
              <a:solidFill>
                <a:srgbClr val="1D2939"/>
              </a:solidFill>
              <a:latin typeface="DM Sans SemiBold"/>
              <a:ea typeface="DM Sans SemiBold"/>
              <a:cs typeface="DM Sans SemiBold"/>
            </a:endParaRPr>
          </a:p>
          <a:p>
            <a:pPr lvl="0">
              <a:lnSpc>
                <a:spcPct val="115000"/>
              </a:lnSpc>
              <a:buClr>
                <a:srgbClr val="FF5252"/>
              </a:buClr>
              <a:buSzPts val="1400"/>
            </a:pPr>
            <a:r>
              <a:rPr lang="fr-FR" sz="1200" dirty="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N° </a:t>
            </a:r>
          </a:p>
          <a:p>
            <a:pPr lvl="0">
              <a:lnSpc>
                <a:spcPct val="115000"/>
              </a:lnSpc>
              <a:buClr>
                <a:srgbClr val="FF5252"/>
              </a:buClr>
              <a:buSzPts val="1400"/>
            </a:pPr>
            <a:r>
              <a:rPr lang="fr-FR" sz="1200" dirty="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</a:rPr>
              <a:t>Auditeur :</a:t>
            </a:r>
          </a:p>
          <a:p>
            <a:pPr>
              <a:lnSpc>
                <a:spcPct val="114999"/>
              </a:lnSpc>
              <a:buSzPts val="1400"/>
            </a:pPr>
            <a:r>
              <a:rPr lang="fr-FR" sz="1200" dirty="0">
                <a:solidFill>
                  <a:srgbClr val="1D2939"/>
                </a:solidFill>
                <a:latin typeface="DM Sans SemiBold"/>
                <a:ea typeface="DM Sans SemiBold"/>
                <a:cs typeface="DM Sans SemiBold"/>
              </a:rPr>
              <a:t>Rédacteur :</a:t>
            </a:r>
          </a:p>
        </p:txBody>
      </p:sp>
    </p:spTree>
    <p:extLst>
      <p:ext uri="{BB962C8B-B14F-4D97-AF65-F5344CB8AC3E}">
        <p14:creationId xmlns:p14="http://schemas.microsoft.com/office/powerpoint/2010/main" val="83187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title"/>
          </p:nvPr>
        </p:nvSpPr>
        <p:spPr>
          <a:xfrm>
            <a:off x="375225" y="444350"/>
            <a:ext cx="3937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fr-FR" sz="1800" dirty="0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rPr>
              <a:t>Le Projet</a:t>
            </a:r>
            <a:endParaRPr sz="5400" dirty="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7" name="Google Shape;67;p2"/>
          <p:cNvGrpSpPr/>
          <p:nvPr/>
        </p:nvGrpSpPr>
        <p:grpSpPr>
          <a:xfrm>
            <a:off x="375225" y="1319803"/>
            <a:ext cx="3937500" cy="946153"/>
            <a:chOff x="375224" y="1835007"/>
            <a:chExt cx="3937500" cy="946153"/>
          </a:xfrm>
        </p:grpSpPr>
        <p:sp>
          <p:nvSpPr>
            <p:cNvPr id="68" name="Google Shape;68;p2"/>
            <p:cNvSpPr/>
            <p:nvPr/>
          </p:nvSpPr>
          <p:spPr>
            <a:xfrm>
              <a:off x="375224" y="1994260"/>
              <a:ext cx="3937500" cy="786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>
                <a:buSzPts val="1100"/>
              </a:pPr>
              <a:r>
                <a:rPr lang="fr-FR" sz="1100" b="0" i="0" u="none" strike="noStrike" cap="none" dirty="0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[Nom]</a:t>
              </a:r>
              <a:endParaRPr lang="fr-FR" sz="1100" dirty="0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85725">
                <a:buSzPts val="1100"/>
              </a:pPr>
              <a:r>
                <a:rPr lang="fr-FR" sz="1100" dirty="0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[Mail]– [</a:t>
              </a:r>
              <a:r>
                <a:rPr lang="fr-FR" sz="1100" dirty="0" err="1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Num</a:t>
              </a:r>
              <a:r>
                <a:rPr lang="fr-FR" sz="1100" dirty="0">
                  <a:solidFill>
                    <a:srgbClr val="1D2939"/>
                  </a:solidFill>
                  <a:latin typeface="Inter"/>
                  <a:ea typeface="Inter"/>
                  <a:cs typeface="Inter"/>
                  <a:sym typeface="Inter"/>
                </a:rPr>
                <a:t>]</a:t>
              </a:r>
              <a:endParaRPr sz="1100" b="0" i="0" u="none" strike="noStrike" cap="none" dirty="0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Contact Client </a:t>
              </a:r>
              <a:endParaRPr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0" name="Google Shape;70;p2"/>
          <p:cNvGrpSpPr/>
          <p:nvPr/>
        </p:nvGrpSpPr>
        <p:grpSpPr>
          <a:xfrm>
            <a:off x="375225" y="2524920"/>
            <a:ext cx="3937500" cy="1126456"/>
            <a:chOff x="375224" y="1835007"/>
            <a:chExt cx="3498007" cy="773846"/>
          </a:xfrm>
        </p:grpSpPr>
        <p:sp>
          <p:nvSpPr>
            <p:cNvPr id="71" name="Google Shape;71;p2"/>
            <p:cNvSpPr/>
            <p:nvPr/>
          </p:nvSpPr>
          <p:spPr>
            <a:xfrm>
              <a:off x="375224" y="1994260"/>
              <a:ext cx="3498007" cy="61459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lvl="0"/>
              <a:r>
                <a:rPr lang="fr-FR" sz="1100" dirty="0">
                  <a:solidFill>
                    <a:srgbClr val="1D2939"/>
                  </a:solidFill>
                  <a:latin typeface="Inter"/>
                  <a:ea typeface="Inter"/>
                  <a:sym typeface="Inter"/>
                </a:rPr>
                <a:t>[Adresse du site]</a:t>
              </a:r>
              <a:endParaRPr lang="fr-FR" sz="1100" dirty="0">
                <a:solidFill>
                  <a:srgbClr val="1D2939"/>
                </a:solidFill>
                <a:latin typeface="Inter"/>
                <a:ea typeface="Inter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Adresse du site</a:t>
              </a:r>
              <a:endParaRPr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3" name="Google Shape;73;p2"/>
          <p:cNvGrpSpPr/>
          <p:nvPr/>
        </p:nvGrpSpPr>
        <p:grpSpPr>
          <a:xfrm>
            <a:off x="375144" y="4129735"/>
            <a:ext cx="3937581" cy="765159"/>
            <a:chOff x="375224" y="1835007"/>
            <a:chExt cx="3937581" cy="765159"/>
          </a:xfrm>
        </p:grpSpPr>
        <p:sp>
          <p:nvSpPr>
            <p:cNvPr id="74" name="Google Shape;74;p2"/>
            <p:cNvSpPr/>
            <p:nvPr/>
          </p:nvSpPr>
          <p:spPr>
            <a:xfrm>
              <a:off x="375224" y="1994260"/>
              <a:ext cx="3937581" cy="605906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BEE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216000" rIns="91425" bIns="91425" anchor="t" anchorCtr="0">
              <a:noAutofit/>
            </a:bodyPr>
            <a:lstStyle/>
            <a:p>
              <a:pPr marL="8572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 dirty="0">
                <a:solidFill>
                  <a:srgbClr val="1D29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3825" y="1835007"/>
              <a:ext cx="1653600" cy="286800"/>
            </a:xfrm>
            <a:prstGeom prst="roundRect">
              <a:avLst>
                <a:gd name="adj" fmla="val 28629"/>
              </a:avLst>
            </a:prstGeom>
            <a:solidFill>
              <a:srgbClr val="1D2939"/>
            </a:solidFill>
            <a:ln>
              <a:noFill/>
            </a:ln>
            <a:effectLst>
              <a:outerShdw blurRad="557213" dist="200025" dir="5400000" algn="bl" rotWithShape="0">
                <a:srgbClr val="1D2939">
                  <a:alpha val="10980"/>
                </a:srgb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fr-FR" sz="1000" b="1" i="0" u="none" strike="noStrike" cap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Type de site</a:t>
              </a:r>
              <a:endParaRPr sz="10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A414B90D-D9C6-691B-C5C0-033CF4ED1E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74115" y="1349130"/>
            <a:ext cx="2391895" cy="3186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375225" y="198000"/>
            <a:ext cx="81345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fr-FR" sz="1800" b="1">
                <a:latin typeface="DM Sans"/>
                <a:ea typeface="DM Sans"/>
                <a:cs typeface="DM Sans"/>
                <a:sym typeface="DM Sans"/>
              </a:rPr>
              <a:t>Plan </a:t>
            </a:r>
            <a:r>
              <a:rPr lang="fr-FR" sz="1800" b="1">
                <a:latin typeface="Inter"/>
                <a:ea typeface="Inter"/>
                <a:cs typeface="Inter"/>
                <a:sym typeface="Inter"/>
              </a:rPr>
              <a:t>d'implantation</a:t>
            </a:r>
            <a:r>
              <a:rPr lang="fr-FR" sz="1800" b="1">
                <a:latin typeface="DM Sans"/>
                <a:ea typeface="DM Sans"/>
                <a:cs typeface="DM Sans"/>
                <a:sym typeface="DM Sans"/>
              </a:rPr>
              <a:t> de la station</a:t>
            </a:r>
            <a:endParaRPr sz="180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4"/>
          <p:cNvSpPr txBox="1">
            <a:spLocks noGrp="1"/>
          </p:cNvSpPr>
          <p:nvPr>
            <p:ph type="sldNum" idx="12"/>
          </p:nvPr>
        </p:nvSpPr>
        <p:spPr>
          <a:xfrm>
            <a:off x="8573674" y="4678465"/>
            <a:ext cx="409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862E77-CCB3-2A19-E3E7-C0D32F5E7F44}"/>
              </a:ext>
            </a:extLst>
          </p:cNvPr>
          <p:cNvSpPr txBox="1"/>
          <p:nvPr/>
        </p:nvSpPr>
        <p:spPr>
          <a:xfrm>
            <a:off x="4038382" y="4722944"/>
            <a:ext cx="2147889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800" dirty="0"/>
              <a:t>Coordonnées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607CB-EA5E-63A1-FA9A-F142115E2CEC}"/>
              </a:ext>
            </a:extLst>
          </p:cNvPr>
          <p:cNvSpPr/>
          <p:nvPr/>
        </p:nvSpPr>
        <p:spPr>
          <a:xfrm>
            <a:off x="3158835" y="748145"/>
            <a:ext cx="2528455" cy="3581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Image informations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35114-643C-BBFF-1E03-716829D0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3A3FFF-C207-7C31-0EAF-4D5E4FB0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14722"/>
            <a:ext cx="4067100" cy="426496"/>
          </a:xfrm>
        </p:spPr>
        <p:txBody>
          <a:bodyPr>
            <a:normAutofit fontScale="90000"/>
          </a:bodyPr>
          <a:lstStyle/>
          <a:p>
            <a:r>
              <a:rPr lang="fr-FR" sz="1800"/>
              <a:t>Bilan de puissance &amp; Synoptique CFO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41420C1-4610-FF86-CF7B-F9FDB37303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8C98918-9850-1D42-00F2-C08AB18DCB8A}"/>
              </a:ext>
            </a:extLst>
          </p:cNvPr>
          <p:cNvGrpSpPr/>
          <p:nvPr/>
        </p:nvGrpSpPr>
        <p:grpSpPr>
          <a:xfrm>
            <a:off x="6114941" y="1829793"/>
            <a:ext cx="2320370" cy="2357210"/>
            <a:chOff x="6823630" y="1693788"/>
            <a:chExt cx="2320370" cy="235721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08572169-5882-9E97-932C-F0ECAF74A632}"/>
                </a:ext>
              </a:extLst>
            </p:cNvPr>
            <p:cNvGrpSpPr/>
            <p:nvPr/>
          </p:nvGrpSpPr>
          <p:grpSpPr>
            <a:xfrm>
              <a:off x="6823630" y="1693788"/>
              <a:ext cx="2320370" cy="2357210"/>
              <a:chOff x="6407727" y="1295401"/>
              <a:chExt cx="2320370" cy="2357210"/>
            </a:xfrm>
          </p:grpSpPr>
          <p:sp>
            <p:nvSpPr>
              <p:cNvPr id="18" name="Rectangle : coins arrondis 17">
                <a:extLst>
                  <a:ext uri="{FF2B5EF4-FFF2-40B4-BE49-F238E27FC236}">
                    <a16:creationId xmlns:a16="http://schemas.microsoft.com/office/drawing/2014/main" id="{B4CF367C-1BD4-D8D2-4765-2FC1738DFFD5}"/>
                  </a:ext>
                </a:extLst>
              </p:cNvPr>
              <p:cNvSpPr/>
              <p:nvPr/>
            </p:nvSpPr>
            <p:spPr>
              <a:xfrm>
                <a:off x="7349646" y="3193072"/>
                <a:ext cx="876966" cy="215444"/>
              </a:xfrm>
              <a:prstGeom prst="round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2B2321F1-71A2-635F-5DEE-FA01A02F9A84}"/>
                  </a:ext>
                </a:extLst>
              </p:cNvPr>
              <p:cNvSpPr/>
              <p:nvPr/>
            </p:nvSpPr>
            <p:spPr>
              <a:xfrm>
                <a:off x="6604488" y="1832325"/>
                <a:ext cx="784114" cy="293583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00" dirty="0">
                    <a:solidFill>
                      <a:schemeClr val="tx1"/>
                    </a:solidFill>
                  </a:rPr>
                  <a:t>TD IRVE existant</a:t>
                </a:r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88091486-021B-2592-4BF8-0195349C90A0}"/>
                  </a:ext>
                </a:extLst>
              </p:cNvPr>
              <p:cNvSpPr/>
              <p:nvPr/>
            </p:nvSpPr>
            <p:spPr>
              <a:xfrm>
                <a:off x="6604488" y="1420151"/>
                <a:ext cx="786911" cy="215444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00" dirty="0">
                    <a:solidFill>
                      <a:schemeClr val="tx1"/>
                    </a:solidFill>
                  </a:rPr>
                  <a:t>PDL C5</a:t>
                </a:r>
              </a:p>
            </p:txBody>
          </p:sp>
          <p:cxnSp>
            <p:nvCxnSpPr>
              <p:cNvPr id="11" name="Connecteur droit 10">
                <a:extLst>
                  <a:ext uri="{FF2B5EF4-FFF2-40B4-BE49-F238E27FC236}">
                    <a16:creationId xmlns:a16="http://schemas.microsoft.com/office/drawing/2014/main" id="{6DF3A1F9-02E7-01E7-CFC0-135D7C1E0D9B}"/>
                  </a:ext>
                </a:extLst>
              </p:cNvPr>
              <p:cNvCxnSpPr>
                <a:cxnSpLocks/>
                <a:stCxn id="9" idx="2"/>
                <a:endCxn id="8" idx="0"/>
              </p:cNvCxnSpPr>
              <p:nvPr/>
            </p:nvCxnSpPr>
            <p:spPr>
              <a:xfrm flipH="1">
                <a:off x="6996545" y="1635595"/>
                <a:ext cx="1399" cy="1967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 : en angle 19">
                <a:extLst>
                  <a:ext uri="{FF2B5EF4-FFF2-40B4-BE49-F238E27FC236}">
                    <a16:creationId xmlns:a16="http://schemas.microsoft.com/office/drawing/2014/main" id="{9DCF831E-5F30-F2A5-5470-8B9BB64320AB}"/>
                  </a:ext>
                </a:extLst>
              </p:cNvPr>
              <p:cNvCxnSpPr>
                <a:cxnSpLocks/>
                <a:stCxn id="8" idx="2"/>
                <a:endCxn id="32" idx="1"/>
              </p:cNvCxnSpPr>
              <p:nvPr/>
            </p:nvCxnSpPr>
            <p:spPr>
              <a:xfrm rot="16200000" flipH="1">
                <a:off x="6775969" y="2346484"/>
                <a:ext cx="794252" cy="353100"/>
              </a:xfrm>
              <a:prstGeom prst="bentConnector2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90EF3A7-08A6-0B4E-363F-0590699B2597}"/>
                  </a:ext>
                </a:extLst>
              </p:cNvPr>
              <p:cNvSpPr/>
              <p:nvPr/>
            </p:nvSpPr>
            <p:spPr>
              <a:xfrm>
                <a:off x="6407727" y="1295401"/>
                <a:ext cx="2246006" cy="235721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BD57D0A-F954-828A-E10D-6A6A63383F13}"/>
                  </a:ext>
                </a:extLst>
              </p:cNvPr>
              <p:cNvSpPr txBox="1"/>
              <p:nvPr/>
            </p:nvSpPr>
            <p:spPr>
              <a:xfrm>
                <a:off x="7738029" y="1312429"/>
                <a:ext cx="990068" cy="2154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r>
                  <a:rPr lang="fr-FR" sz="800"/>
                  <a:t>Synoptique CFO</a:t>
                </a:r>
                <a:endParaRPr lang="en-US" sz="900"/>
              </a:p>
            </p:txBody>
          </p:sp>
        </p:grpSp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11A9676A-D7C7-98A1-1FF9-F8584715B2A5}"/>
                </a:ext>
              </a:extLst>
            </p:cNvPr>
            <p:cNvSpPr/>
            <p:nvPr/>
          </p:nvSpPr>
          <p:spPr>
            <a:xfrm>
              <a:off x="7765548" y="3210825"/>
              <a:ext cx="876966" cy="215444"/>
            </a:xfrm>
            <a:prstGeom prst="roundRect">
              <a:avLst/>
            </a:prstGeom>
            <a:solidFill>
              <a:srgbClr val="92D05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dirty="0">
                  <a:solidFill>
                    <a:schemeClr val="tx1"/>
                  </a:solidFill>
                </a:rPr>
                <a:t>2 PDC 11 kW</a:t>
              </a:r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9922E681-E69B-80F6-10C6-31BD40A1F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1483" y="1553978"/>
            <a:ext cx="4513229" cy="163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8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35EDC-EC14-2870-2A2E-F414C6D2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14722"/>
            <a:ext cx="4067100" cy="426496"/>
          </a:xfrm>
        </p:spPr>
        <p:txBody>
          <a:bodyPr>
            <a:normAutofit/>
          </a:bodyPr>
          <a:lstStyle/>
          <a:p>
            <a:r>
              <a:rPr lang="fr-FR" sz="1800" dirty="0"/>
              <a:t>PDL TARIF [Type de Tarif]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03E5174-B152-59CA-FFF0-09DBCB2B85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76F5256-F7A4-4F02-F838-54E3AD4DF4C5}"/>
              </a:ext>
            </a:extLst>
          </p:cNvPr>
          <p:cNvSpPr txBox="1"/>
          <p:nvPr/>
        </p:nvSpPr>
        <p:spPr>
          <a:xfrm>
            <a:off x="1032526" y="3697574"/>
            <a:ext cx="1779748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000" dirty="0"/>
              <a:t>Vue d’ensemble du PDL</a:t>
            </a:r>
            <a:endParaRPr lang="en-US" sz="10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68CA694-FBED-7400-2D1B-80BE1908A9C5}"/>
              </a:ext>
            </a:extLst>
          </p:cNvPr>
          <p:cNvSpPr txBox="1"/>
          <p:nvPr/>
        </p:nvSpPr>
        <p:spPr>
          <a:xfrm>
            <a:off x="1769056" y="4311858"/>
            <a:ext cx="545254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000" dirty="0">
                <a:solidFill>
                  <a:srgbClr val="FF0000"/>
                </a:solidFill>
              </a:rPr>
              <a:t>Augmentation de puissance.</a:t>
            </a:r>
          </a:p>
          <a:p>
            <a:pPr algn="ctr"/>
            <a:r>
              <a:rPr lang="fr-FR" sz="1000" dirty="0">
                <a:solidFill>
                  <a:srgbClr val="FF0000"/>
                </a:solidFill>
              </a:rPr>
              <a:t>Puissance souscrite à augmenter à 36 kVA.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989715-B498-8A22-F183-17BBD1E209BD}"/>
              </a:ext>
            </a:extLst>
          </p:cNvPr>
          <p:cNvSpPr/>
          <p:nvPr/>
        </p:nvSpPr>
        <p:spPr>
          <a:xfrm>
            <a:off x="855313" y="932060"/>
            <a:ext cx="2023338" cy="269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Images Energie Electrique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DFF2C-0B5A-F10E-2529-B9CE762D3376}"/>
              </a:ext>
            </a:extLst>
          </p:cNvPr>
          <p:cNvSpPr/>
          <p:nvPr/>
        </p:nvSpPr>
        <p:spPr>
          <a:xfrm>
            <a:off x="3560256" y="932060"/>
            <a:ext cx="2023338" cy="269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0A7FD-28BC-4E42-4AA4-531C5A6F7D60}"/>
              </a:ext>
            </a:extLst>
          </p:cNvPr>
          <p:cNvSpPr/>
          <p:nvPr/>
        </p:nvSpPr>
        <p:spPr>
          <a:xfrm>
            <a:off x="6455856" y="932060"/>
            <a:ext cx="2023338" cy="2697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0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31000" b="-31000"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321B5456-640A-E08F-03A4-F3647B89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309894" y="1775985"/>
            <a:ext cx="2558890" cy="191916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1152335-D8F3-4528-1072-549F14A6FC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16200000">
            <a:off x="3607902" y="1775984"/>
            <a:ext cx="2558892" cy="1919169"/>
          </a:xfrm>
          <a:prstGeom prst="rect">
            <a:avLst/>
          </a:prstGeom>
        </p:spPr>
      </p:pic>
      <p:sp>
        <p:nvSpPr>
          <p:cNvPr id="107" name="Google Shape;107;g3ca53b08c12_0_5"/>
          <p:cNvSpPr txBox="1">
            <a:spLocks noGrp="1"/>
          </p:cNvSpPr>
          <p:nvPr>
            <p:ph type="title"/>
          </p:nvPr>
        </p:nvSpPr>
        <p:spPr>
          <a:xfrm>
            <a:off x="504825" y="314722"/>
            <a:ext cx="3436793" cy="4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fr-FR" sz="1800" b="1" dirty="0">
                <a:latin typeface="DM Sans"/>
                <a:ea typeface="DM Sans"/>
                <a:cs typeface="DM Sans"/>
                <a:sym typeface="DM Sans"/>
              </a:rPr>
              <a:t>Disjoncteurs à créer </a:t>
            </a:r>
            <a:endParaRPr sz="1800" dirty="0"/>
          </a:p>
        </p:txBody>
      </p:sp>
      <p:sp>
        <p:nvSpPr>
          <p:cNvPr id="108" name="Google Shape;108;g3ca53b08c12_0_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109" name="Google Shape;109;g3ca53b08c12_0_5"/>
          <p:cNvSpPr/>
          <p:nvPr/>
        </p:nvSpPr>
        <p:spPr>
          <a:xfrm>
            <a:off x="6386100" y="1258199"/>
            <a:ext cx="2757900" cy="3189900"/>
          </a:xfrm>
          <a:prstGeom prst="roundRect">
            <a:avLst>
              <a:gd name="adj" fmla="val 7507"/>
            </a:avLst>
          </a:prstGeom>
          <a:solidFill>
            <a:srgbClr val="F9FAFB"/>
          </a:solidFill>
          <a:ln w="9525" cap="flat" cmpd="sng">
            <a:solidFill>
              <a:srgbClr val="ECEFF3"/>
            </a:solidFill>
            <a:prstDash val="solid"/>
            <a:round/>
            <a:headEnd type="none" w="sm" len="sm"/>
            <a:tailEnd type="none" w="sm" len="sm"/>
          </a:ln>
          <a:effectLst>
            <a:outerShdw blurRad="557213" dist="200025" dir="5400000" algn="bl" rotWithShape="0">
              <a:srgbClr val="1D2939">
                <a:alpha val="10588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  <a:t>Installation</a:t>
            </a:r>
            <a:br>
              <a:rPr lang="fr-FR" sz="900" b="1" i="0" u="none" strike="noStrike" cap="none">
                <a:solidFill>
                  <a:srgbClr val="919AAC"/>
                </a:solidFill>
                <a:latin typeface="Inter"/>
                <a:ea typeface="Inter"/>
                <a:cs typeface="Inter"/>
                <a:sym typeface="Inter"/>
              </a:rPr>
            </a:br>
            <a:endParaRPr sz="900" b="1" i="0" u="none" strike="noStrike" cap="none">
              <a:solidFill>
                <a:srgbClr val="919AA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D293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110" name="Google Shape;110;g3ca53b08c12_0_5"/>
          <p:cNvGraphicFramePr/>
          <p:nvPr>
            <p:extLst>
              <p:ext uri="{D42A27DB-BD31-4B8C-83A1-F6EECF244321}">
                <p14:modId xmlns:p14="http://schemas.microsoft.com/office/powerpoint/2010/main" val="3811660652"/>
              </p:ext>
            </p:extLst>
          </p:nvPr>
        </p:nvGraphicFramePr>
        <p:xfrm>
          <a:off x="6434368" y="1852894"/>
          <a:ext cx="2381674" cy="2119500"/>
        </p:xfrm>
        <a:graphic>
          <a:graphicData uri="http://schemas.openxmlformats.org/drawingml/2006/table">
            <a:tbl>
              <a:tblPr>
                <a:noFill/>
                <a:tableStyleId>{312DF80A-4CAD-4B3A-9A1A-665FECB37874}</a:tableStyleId>
              </a:tblPr>
              <a:tblGrid>
                <a:gridCol w="2341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Puissance Souscrite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</a:rPr>
                        <a:t>15 </a:t>
                      </a: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kVA</a:t>
                      </a:r>
                      <a:endParaRPr sz="1000" b="1" u="none" strike="noStrike" cap="none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Puissance MAX </a:t>
                      </a: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</a:rPr>
                        <a:t>Soutirée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</a:rPr>
                        <a:t>4.5</a:t>
                      </a: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kVA</a:t>
                      </a:r>
                      <a:endParaRPr sz="1000" b="1" u="none" strike="noStrike" cap="none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lang="fr-FR"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Augmentation nécessaire </a:t>
                      </a:r>
                      <a:r>
                        <a:rPr lang="fr-FR" sz="1000" b="1" u="none" strike="noStrike" cap="none" dirty="0">
                          <a:latin typeface="Inter"/>
                          <a:ea typeface="Inter"/>
                          <a:cs typeface="Inter"/>
                        </a:rPr>
                        <a:t>(Oui) passage à 36KVA</a:t>
                      </a:r>
                      <a:endParaRPr sz="1000" b="1" u="none" strike="noStrike" cap="none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0" marR="0" marT="45700" marB="457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00" b="1" u="none" strike="noStrike" cap="non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0" marR="0" marT="45700" marB="45700" anchor="ctr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FF09026F-44B2-B5F3-E61F-9C4CF04D3934}"/>
              </a:ext>
            </a:extLst>
          </p:cNvPr>
          <p:cNvSpPr txBox="1"/>
          <p:nvPr/>
        </p:nvSpPr>
        <p:spPr>
          <a:xfrm>
            <a:off x="3625850" y="4047989"/>
            <a:ext cx="239795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000" dirty="0"/>
              <a:t>Vue d’ensemble du </a:t>
            </a:r>
            <a:r>
              <a:rPr lang="fr-FR" sz="1000" dirty="0">
                <a:solidFill>
                  <a:schemeClr val="tx1"/>
                </a:solidFill>
              </a:rPr>
              <a:t>Tableau électrique existant</a:t>
            </a:r>
          </a:p>
        </p:txBody>
      </p:sp>
      <p:sp>
        <p:nvSpPr>
          <p:cNvPr id="14" name="Forme libre : forme 13" hidden="1">
            <a:extLst>
              <a:ext uri="{FF2B5EF4-FFF2-40B4-BE49-F238E27FC236}">
                <a16:creationId xmlns:a16="http://schemas.microsoft.com/office/drawing/2014/main" id="{2402D530-62D0-D5A1-1469-86C894A9B6FD}"/>
              </a:ext>
            </a:extLst>
          </p:cNvPr>
          <p:cNvSpPr/>
          <p:nvPr/>
        </p:nvSpPr>
        <p:spPr>
          <a:xfrm>
            <a:off x="2105891" y="1856509"/>
            <a:ext cx="630382" cy="852055"/>
          </a:xfrm>
          <a:custGeom>
            <a:avLst/>
            <a:gdLst>
              <a:gd name="csX0" fmla="*/ 34636 w 630382"/>
              <a:gd name="csY0" fmla="*/ 852055 h 852055"/>
              <a:gd name="csX1" fmla="*/ 0 w 630382"/>
              <a:gd name="csY1" fmla="*/ 228600 h 852055"/>
              <a:gd name="csX2" fmla="*/ 630382 w 630382"/>
              <a:gd name="csY2" fmla="*/ 0 h 852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30382" h="852055">
                <a:moveTo>
                  <a:pt x="34636" y="852055"/>
                </a:moveTo>
                <a:lnTo>
                  <a:pt x="0" y="228600"/>
                </a:lnTo>
                <a:lnTo>
                  <a:pt x="630382" y="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59C42-AA44-755B-446A-FBE8632A58B4}"/>
              </a:ext>
            </a:extLst>
          </p:cNvPr>
          <p:cNvSpPr/>
          <p:nvPr/>
        </p:nvSpPr>
        <p:spPr>
          <a:xfrm>
            <a:off x="4454236" y="2942388"/>
            <a:ext cx="394260" cy="24619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Bulle narrative : rectangle à coins arrondis 8">
            <a:extLst>
              <a:ext uri="{FF2B5EF4-FFF2-40B4-BE49-F238E27FC236}">
                <a16:creationId xmlns:a16="http://schemas.microsoft.com/office/drawing/2014/main" id="{75857852-5A0B-AABD-F15D-68B42BD0E353}"/>
              </a:ext>
            </a:extLst>
          </p:cNvPr>
          <p:cNvSpPr/>
          <p:nvPr/>
        </p:nvSpPr>
        <p:spPr>
          <a:xfrm>
            <a:off x="3411925" y="3698023"/>
            <a:ext cx="983408" cy="258050"/>
          </a:xfrm>
          <a:prstGeom prst="wedgeRoundRectCallout">
            <a:avLst>
              <a:gd name="adj1" fmla="val 69423"/>
              <a:gd name="adj2" fmla="val -251723"/>
              <a:gd name="adj3" fmla="val 16667"/>
            </a:avLst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  <a:cs typeface="Arial"/>
              </a:rPr>
              <a:t>Disjoncteurs à poser</a:t>
            </a:r>
          </a:p>
        </p:txBody>
      </p:sp>
      <p:sp>
        <p:nvSpPr>
          <p:cNvPr id="11" name="Bulle narrative : rectangle à coins arrondis 10">
            <a:extLst>
              <a:ext uri="{FF2B5EF4-FFF2-40B4-BE49-F238E27FC236}">
                <a16:creationId xmlns:a16="http://schemas.microsoft.com/office/drawing/2014/main" id="{1217AEB4-04FB-1BBC-4CD2-2023A5A0B947}"/>
              </a:ext>
            </a:extLst>
          </p:cNvPr>
          <p:cNvSpPr/>
          <p:nvPr/>
        </p:nvSpPr>
        <p:spPr>
          <a:xfrm>
            <a:off x="359592" y="990856"/>
            <a:ext cx="798409" cy="277973"/>
          </a:xfrm>
          <a:prstGeom prst="wedgeRoundRectCallout">
            <a:avLst>
              <a:gd name="adj1" fmla="val 68826"/>
              <a:gd name="adj2" fmla="val 119645"/>
              <a:gd name="adj3" fmla="val 16667"/>
            </a:avLst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TD IRVE existant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2DF312-A3FB-51C9-F4CA-DE5F2A1B72F2}"/>
              </a:ext>
            </a:extLst>
          </p:cNvPr>
          <p:cNvSpPr/>
          <p:nvPr/>
        </p:nvSpPr>
        <p:spPr>
          <a:xfrm>
            <a:off x="3865418" y="1405308"/>
            <a:ext cx="706582" cy="24619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Exemple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985A631-640C-F077-0BA3-E920DB22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7B3B4BC-EA80-B858-DA55-C8DBDAA45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4921" y="1393474"/>
            <a:ext cx="2928253" cy="219618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D8F9851-EBBA-627C-EA9E-1B841B307B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3622" y="1376426"/>
            <a:ext cx="2928253" cy="219619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7EA5ACC-1B87-E422-8852-92453F3EC2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58355" y="1216702"/>
            <a:ext cx="2928254" cy="2196190"/>
          </a:xfrm>
          <a:prstGeom prst="rect">
            <a:avLst/>
          </a:prstGeom>
        </p:spPr>
      </p:pic>
      <p:sp>
        <p:nvSpPr>
          <p:cNvPr id="107" name="Google Shape;107;g3ca53b08c12_0_5">
            <a:extLst>
              <a:ext uri="{FF2B5EF4-FFF2-40B4-BE49-F238E27FC236}">
                <a16:creationId xmlns:a16="http://schemas.microsoft.com/office/drawing/2014/main" id="{84CDBE4E-E6E3-43AA-3564-38508D85B4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4825" y="314722"/>
            <a:ext cx="4067100" cy="41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fr-FR" sz="1800" b="1" dirty="0">
                <a:latin typeface="DM Sans"/>
                <a:ea typeface="DM Sans"/>
                <a:cs typeface="DM Sans"/>
                <a:sym typeface="DM Sans"/>
              </a:rPr>
              <a:t>Cheminement vers bornes 01-02</a:t>
            </a:r>
            <a:endParaRPr sz="1600" dirty="0"/>
          </a:p>
        </p:txBody>
      </p:sp>
      <p:sp>
        <p:nvSpPr>
          <p:cNvPr id="108" name="Google Shape;108;g3ca53b08c12_0_5">
            <a:extLst>
              <a:ext uri="{FF2B5EF4-FFF2-40B4-BE49-F238E27FC236}">
                <a16:creationId xmlns:a16="http://schemas.microsoft.com/office/drawing/2014/main" id="{A86E7F07-C12C-BF43-922C-E6C739D626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90AE7B-E138-5A13-5C13-A09B9CFA99C7}"/>
              </a:ext>
            </a:extLst>
          </p:cNvPr>
          <p:cNvSpPr txBox="1"/>
          <p:nvPr/>
        </p:nvSpPr>
        <p:spPr>
          <a:xfrm>
            <a:off x="-108456" y="3894889"/>
            <a:ext cx="3691769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000" dirty="0"/>
              <a:t>Cheminement à créer pour l’alimentation de 1 PDC </a:t>
            </a:r>
          </a:p>
        </p:txBody>
      </p:sp>
      <p:sp>
        <p:nvSpPr>
          <p:cNvPr id="13" name="Bulle narrative : rectangle à coins arrondis 12">
            <a:extLst>
              <a:ext uri="{FF2B5EF4-FFF2-40B4-BE49-F238E27FC236}">
                <a16:creationId xmlns:a16="http://schemas.microsoft.com/office/drawing/2014/main" id="{998429F9-24C0-4BE9-4E72-B769A2915C3C}"/>
              </a:ext>
            </a:extLst>
          </p:cNvPr>
          <p:cNvSpPr/>
          <p:nvPr/>
        </p:nvSpPr>
        <p:spPr>
          <a:xfrm>
            <a:off x="289980" y="850256"/>
            <a:ext cx="1001720" cy="464128"/>
          </a:xfrm>
          <a:prstGeom prst="wedgeRoundRectCallout">
            <a:avLst>
              <a:gd name="adj1" fmla="val 118007"/>
              <a:gd name="adj2" fmla="val 1967"/>
              <a:gd name="adj3" fmla="val 16667"/>
            </a:avLst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Cheminement des câbles vers bornes 01-02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FABC3DC-47AF-CE26-F067-159E49948DDB}"/>
              </a:ext>
            </a:extLst>
          </p:cNvPr>
          <p:cNvSpPr txBox="1"/>
          <p:nvPr/>
        </p:nvSpPr>
        <p:spPr>
          <a:xfrm>
            <a:off x="6211741" y="3655813"/>
            <a:ext cx="2507872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1000" dirty="0"/>
              <a:t>Percement à créer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A232FC-F99A-E82A-EFB0-84EDC998F035}"/>
              </a:ext>
            </a:extLst>
          </p:cNvPr>
          <p:cNvSpPr/>
          <p:nvPr/>
        </p:nvSpPr>
        <p:spPr>
          <a:xfrm rot="20827320">
            <a:off x="1872595" y="3120645"/>
            <a:ext cx="203806" cy="24247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1CEB07B6-73CE-9160-7AD7-9B3E1BC71DF3}"/>
              </a:ext>
            </a:extLst>
          </p:cNvPr>
          <p:cNvCxnSpPr>
            <a:cxnSpLocks/>
          </p:cNvCxnSpPr>
          <p:nvPr/>
        </p:nvCxnSpPr>
        <p:spPr>
          <a:xfrm flipV="1">
            <a:off x="2095856" y="875189"/>
            <a:ext cx="0" cy="5012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CD758E46-197F-88C3-888C-6329E3E892B0}"/>
              </a:ext>
            </a:extLst>
          </p:cNvPr>
          <p:cNvSpPr/>
          <p:nvPr/>
        </p:nvSpPr>
        <p:spPr>
          <a:xfrm>
            <a:off x="3685309" y="1378527"/>
            <a:ext cx="1544782" cy="1932709"/>
          </a:xfrm>
          <a:custGeom>
            <a:avLst/>
            <a:gdLst>
              <a:gd name="csX0" fmla="*/ 1544782 w 1544782"/>
              <a:gd name="csY0" fmla="*/ 1932709 h 1932709"/>
              <a:gd name="csX1" fmla="*/ 1378527 w 1544782"/>
              <a:gd name="csY1" fmla="*/ 1184564 h 1932709"/>
              <a:gd name="csX2" fmla="*/ 1378527 w 1544782"/>
              <a:gd name="csY2" fmla="*/ 1184564 h 1932709"/>
              <a:gd name="csX3" fmla="*/ 0 w 1544782"/>
              <a:gd name="csY3" fmla="*/ 0 h 19327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44782" h="1932709">
                <a:moveTo>
                  <a:pt x="1544782" y="1932709"/>
                </a:moveTo>
                <a:lnTo>
                  <a:pt x="1378527" y="1184564"/>
                </a:lnTo>
                <a:lnTo>
                  <a:pt x="1378527" y="1184564"/>
                </a:lnTo>
                <a:lnTo>
                  <a:pt x="0" y="0"/>
                </a:lnTo>
              </a:path>
            </a:pathLst>
          </a:cu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40A2BFB-ECBD-E4B3-ACFA-82708F2F5C98}"/>
              </a:ext>
            </a:extLst>
          </p:cNvPr>
          <p:cNvCxnSpPr>
            <a:cxnSpLocks/>
          </p:cNvCxnSpPr>
          <p:nvPr/>
        </p:nvCxnSpPr>
        <p:spPr>
          <a:xfrm flipH="1">
            <a:off x="6892637" y="1393474"/>
            <a:ext cx="1826976" cy="7054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ulle narrative : rectangle à coins arrondis 14">
            <a:extLst>
              <a:ext uri="{FF2B5EF4-FFF2-40B4-BE49-F238E27FC236}">
                <a16:creationId xmlns:a16="http://schemas.microsoft.com/office/drawing/2014/main" id="{01A6B69D-8DF7-0ED2-4AB9-D5D2A81D1C36}"/>
              </a:ext>
            </a:extLst>
          </p:cNvPr>
          <p:cNvSpPr/>
          <p:nvPr/>
        </p:nvSpPr>
        <p:spPr>
          <a:xfrm>
            <a:off x="2683589" y="1804554"/>
            <a:ext cx="1001720" cy="464128"/>
          </a:xfrm>
          <a:prstGeom prst="wedgeRoundRectCallout">
            <a:avLst>
              <a:gd name="adj1" fmla="val 118007"/>
              <a:gd name="adj2" fmla="val 1967"/>
              <a:gd name="adj3" fmla="val 16667"/>
            </a:avLst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Cheminement des câbles vers bornes 01-02</a:t>
            </a:r>
          </a:p>
        </p:txBody>
      </p:sp>
      <p:sp>
        <p:nvSpPr>
          <p:cNvPr id="16" name="Bulle narrative : rectangle à coins arrondis 15">
            <a:extLst>
              <a:ext uri="{FF2B5EF4-FFF2-40B4-BE49-F238E27FC236}">
                <a16:creationId xmlns:a16="http://schemas.microsoft.com/office/drawing/2014/main" id="{323DE996-7087-A932-75DC-9884A9E4E9E8}"/>
              </a:ext>
            </a:extLst>
          </p:cNvPr>
          <p:cNvSpPr/>
          <p:nvPr/>
        </p:nvSpPr>
        <p:spPr>
          <a:xfrm>
            <a:off x="6391777" y="839838"/>
            <a:ext cx="1001720" cy="464128"/>
          </a:xfrm>
          <a:prstGeom prst="wedgeRoundRectCallout">
            <a:avLst>
              <a:gd name="adj1" fmla="val 131146"/>
              <a:gd name="adj2" fmla="val 112414"/>
              <a:gd name="adj3" fmla="val 16667"/>
            </a:avLst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Cheminement des câbles vers bornes 01-02</a:t>
            </a:r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F4995259-1F87-05F2-E0A8-AE08029128CB}"/>
              </a:ext>
            </a:extLst>
          </p:cNvPr>
          <p:cNvSpPr/>
          <p:nvPr/>
        </p:nvSpPr>
        <p:spPr>
          <a:xfrm>
            <a:off x="6684819" y="1983746"/>
            <a:ext cx="207818" cy="230434"/>
          </a:xfrm>
          <a:prstGeom prst="mathMultiply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Bulle narrative : rectangle à coins arrondis 21">
            <a:extLst>
              <a:ext uri="{FF2B5EF4-FFF2-40B4-BE49-F238E27FC236}">
                <a16:creationId xmlns:a16="http://schemas.microsoft.com/office/drawing/2014/main" id="{C5D15CD1-5CB3-3B1E-6ECD-47FB30EF2373}"/>
              </a:ext>
            </a:extLst>
          </p:cNvPr>
          <p:cNvSpPr/>
          <p:nvPr/>
        </p:nvSpPr>
        <p:spPr>
          <a:xfrm>
            <a:off x="5787752" y="2713440"/>
            <a:ext cx="1000976" cy="285749"/>
          </a:xfrm>
          <a:prstGeom prst="wedgeRoundRectCallout">
            <a:avLst>
              <a:gd name="adj1" fmla="val 50220"/>
              <a:gd name="adj2" fmla="val -233116"/>
              <a:gd name="adj3" fmla="val 16667"/>
            </a:avLst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Percement N°01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À créer</a:t>
            </a:r>
          </a:p>
        </p:txBody>
      </p:sp>
      <p:sp>
        <p:nvSpPr>
          <p:cNvPr id="27" name="Bulle narrative : rectangle à coins arrondis 26">
            <a:extLst>
              <a:ext uri="{FF2B5EF4-FFF2-40B4-BE49-F238E27FC236}">
                <a16:creationId xmlns:a16="http://schemas.microsoft.com/office/drawing/2014/main" id="{F184EB78-E0D3-FB76-568E-74D4A3A15CF8}"/>
              </a:ext>
            </a:extLst>
          </p:cNvPr>
          <p:cNvSpPr/>
          <p:nvPr/>
        </p:nvSpPr>
        <p:spPr>
          <a:xfrm>
            <a:off x="160826" y="2571750"/>
            <a:ext cx="983408" cy="258050"/>
          </a:xfrm>
          <a:prstGeom prst="wedgeRoundRectCallout">
            <a:avLst>
              <a:gd name="adj1" fmla="val 122371"/>
              <a:gd name="adj2" fmla="val 176450"/>
              <a:gd name="adj3" fmla="val 16667"/>
            </a:avLst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  <a:cs typeface="Arial"/>
              </a:rPr>
              <a:t>Disjoncteurs à poser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10612-B2F2-3F25-4685-1DB700CE0214}"/>
              </a:ext>
            </a:extLst>
          </p:cNvPr>
          <p:cNvSpPr/>
          <p:nvPr/>
        </p:nvSpPr>
        <p:spPr>
          <a:xfrm>
            <a:off x="1291700" y="734291"/>
            <a:ext cx="706582" cy="24619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Exemple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6CDDDA-7A27-7290-BA44-CA1DAF1386F0}"/>
              </a:ext>
            </a:extLst>
          </p:cNvPr>
          <p:cNvSpPr/>
          <p:nvPr/>
        </p:nvSpPr>
        <p:spPr>
          <a:xfrm>
            <a:off x="3938755" y="1253330"/>
            <a:ext cx="706582" cy="24619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Exemple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DB2156-D6C9-FDB3-B6D3-576DEFDD7FC5}"/>
              </a:ext>
            </a:extLst>
          </p:cNvPr>
          <p:cNvSpPr/>
          <p:nvPr/>
        </p:nvSpPr>
        <p:spPr>
          <a:xfrm>
            <a:off x="6812465" y="1393474"/>
            <a:ext cx="706582" cy="24619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120673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076F19-7B88-1DDD-AD10-3F54AE62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a53b08c12_0_5">
            <a:extLst>
              <a:ext uri="{FF2B5EF4-FFF2-40B4-BE49-F238E27FC236}">
                <a16:creationId xmlns:a16="http://schemas.microsoft.com/office/drawing/2014/main" id="{8AE6CAF2-F3EE-A0F3-FC9C-907F4959F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4824" y="314722"/>
            <a:ext cx="4448175" cy="31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>
              <a:buClr>
                <a:srgbClr val="000000"/>
              </a:buClr>
              <a:buSzPts val="8000"/>
            </a:pPr>
            <a:r>
              <a:rPr lang="fr-FR" sz="1800" b="1">
                <a:latin typeface="DM Sans"/>
                <a:ea typeface="DM Sans"/>
                <a:cs typeface="DM Sans"/>
                <a:sym typeface="DM Sans"/>
              </a:rPr>
              <a:t>Fiche technique borne</a:t>
            </a:r>
            <a:endParaRPr sz="1800"/>
          </a:p>
        </p:txBody>
      </p:sp>
      <p:sp>
        <p:nvSpPr>
          <p:cNvPr id="108" name="Google Shape;108;g3ca53b08c12_0_5">
            <a:extLst>
              <a:ext uri="{FF2B5EF4-FFF2-40B4-BE49-F238E27FC236}">
                <a16:creationId xmlns:a16="http://schemas.microsoft.com/office/drawing/2014/main" id="{B6AC6FC9-D564-2C63-1C92-F52B9698DE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"/>
              <a:buFont typeface="Arial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55A707-BD9B-7768-CCAB-30E26CB76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63" y="634017"/>
            <a:ext cx="6945478" cy="43034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84AE6F-5439-E866-6755-4D31CA53AC86}"/>
              </a:ext>
            </a:extLst>
          </p:cNvPr>
          <p:cNvSpPr/>
          <p:nvPr/>
        </p:nvSpPr>
        <p:spPr>
          <a:xfrm>
            <a:off x="1143000" y="761072"/>
            <a:ext cx="706582" cy="24619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tx1"/>
                </a:solidFill>
              </a:rPr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231833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F8DA-D5A2-FB56-00E1-B5444F045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314722"/>
            <a:ext cx="8068849" cy="917100"/>
          </a:xfrm>
        </p:spPr>
        <p:txBody>
          <a:bodyPr/>
          <a:lstStyle/>
          <a:p>
            <a:r>
              <a:rPr lang="fr-FR" dirty="0"/>
              <a:t>Annexe Images – à supprimer avant l’envoie Client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2D636-F310-5FE0-E954-B98034FFE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8243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0ACF7CF757DC4094EE3C8029BBFF87" ma:contentTypeVersion="17" ma:contentTypeDescription="Crée un document." ma:contentTypeScope="" ma:versionID="e4941add2b7d5889b7155188c1132661">
  <xsd:schema xmlns:xsd="http://www.w3.org/2001/XMLSchema" xmlns:xs="http://www.w3.org/2001/XMLSchema" xmlns:p="http://schemas.microsoft.com/office/2006/metadata/properties" xmlns:ns2="a1102ece-9c89-40d2-9a2c-27d9929e8279" xmlns:ns3="3d362b09-fb7a-4ffe-b2d8-2cde68c25db3" targetNamespace="http://schemas.microsoft.com/office/2006/metadata/properties" ma:root="true" ma:fieldsID="f6b974aa2b127d8c88c06246f83f4eec" ns2:_="" ns3:_="">
    <xsd:import namespace="a1102ece-9c89-40d2-9a2c-27d9929e8279"/>
    <xsd:import namespace="3d362b09-fb7a-4ffe-b2d8-2cde68c25db3"/>
    <xsd:element name="properties">
      <xsd:complexType>
        <xsd:sequence>
          <xsd:element name="documentManagement">
            <xsd:complexType>
              <xsd:all>
                <xsd:element ref="ns2:CloudMigratorOriginId" minOccurs="0"/>
                <xsd:element ref="ns2:FileHash" minOccurs="0"/>
                <xsd:element ref="ns2:CloudMigratorVersion" minOccurs="0"/>
                <xsd:element ref="ns2:UniqueSourceRe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02ece-9c89-40d2-9a2c-27d9929e8279" elementFormDefault="qualified">
    <xsd:import namespace="http://schemas.microsoft.com/office/2006/documentManagement/types"/>
    <xsd:import namespace="http://schemas.microsoft.com/office/infopath/2007/PartnerControls"/>
    <xsd:element name="CloudMigratorOriginId" ma:index="8" nillable="true" ma:displayName="CloudMigratorOriginId" ma:description="" ma:internalName="CloudMigratorOriginId">
      <xsd:simpleType>
        <xsd:restriction base="dms:Note">
          <xsd:maxLength value="255"/>
        </xsd:restriction>
      </xsd:simpleType>
    </xsd:element>
    <xsd:element name="FileHash" ma:index="9" nillable="true" ma:displayName="FileHash" ma:description="" ma:internalName="FileHash">
      <xsd:simpleType>
        <xsd:restriction base="dms:Note">
          <xsd:maxLength value="255"/>
        </xsd:restriction>
      </xsd:simpleType>
    </xsd:element>
    <xsd:element name="CloudMigratorVersion" ma:index="10" nillable="true" ma:displayName="CloudMigratorVersion" ma:description="" ma:internalName="CloudMigratorVersion">
      <xsd:simpleType>
        <xsd:restriction base="dms:Note">
          <xsd:maxLength value="255"/>
        </xsd:restriction>
      </xsd:simpleType>
    </xsd:element>
    <xsd:element name="UniqueSourceRef" ma:index="11" nillable="true" ma:displayName="UniqueSourceRef" ma:description="" ma:internalName="UniqueSourceRef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9cf8ae5-f3d2-4649-a1b0-e98408d2ff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62b09-fb7a-4ffe-b2d8-2cde68c25d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bcd010-1ed8-463d-a1b5-4731b69db7f1}" ma:internalName="TaxCatchAll" ma:showField="CatchAllData" ma:web="3d362b09-fb7a-4ffe-b2d8-2cde68c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362b09-fb7a-4ffe-b2d8-2cde68c25db3" xsi:nil="true"/>
    <UniqueSourceRef xmlns="a1102ece-9c89-40d2-9a2c-27d9929e8279" xsi:nil="true"/>
    <FileHash xmlns="a1102ece-9c89-40d2-9a2c-27d9929e8279" xsi:nil="true"/>
    <lcf76f155ced4ddcb4097134ff3c332f xmlns="a1102ece-9c89-40d2-9a2c-27d9929e8279">
      <Terms xmlns="http://schemas.microsoft.com/office/infopath/2007/PartnerControls"/>
    </lcf76f155ced4ddcb4097134ff3c332f>
    <CloudMigratorOriginId xmlns="a1102ece-9c89-40d2-9a2c-27d9929e8279" xsi:nil="true"/>
    <CloudMigratorVersion xmlns="a1102ece-9c89-40d2-9a2c-27d9929e82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C97F97-0CBC-4222-B0CC-5994CD84710E}">
  <ds:schemaRefs>
    <ds:schemaRef ds:uri="3d362b09-fb7a-4ffe-b2d8-2cde68c25db3"/>
    <ds:schemaRef ds:uri="a1102ece-9c89-40d2-9a2c-27d9929e82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A538C0-CC9B-4828-BD87-2CDA13598469}">
  <ds:schemaRefs>
    <ds:schemaRef ds:uri="3d362b09-fb7a-4ffe-b2d8-2cde68c25db3"/>
    <ds:schemaRef ds:uri="a1102ece-9c89-40d2-9a2c-27d9929e82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CC09CF6-9B8C-4F07-9341-6ED482D9C21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dc7a131-982b-4d58-9fa6-ebd72253265c}" enabled="0" method="" siteId="{2dc7a131-982b-4d58-9fa6-ebd7225326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197</Words>
  <Application>Microsoft Office PowerPoint</Application>
  <PresentationFormat>On-screen Show (16:9)</PresentationFormat>
  <Paragraphs>65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DM Sans Medium</vt:lpstr>
      <vt:lpstr>DM Sans</vt:lpstr>
      <vt:lpstr>Inter</vt:lpstr>
      <vt:lpstr>DM Sans SemiBold</vt:lpstr>
      <vt:lpstr>Inter SemiBold</vt:lpstr>
      <vt:lpstr>Inter Medium</vt:lpstr>
      <vt:lpstr>Arial</vt:lpstr>
      <vt:lpstr>Simple Light</vt:lpstr>
      <vt:lpstr>BEEV [Nom du site]</vt:lpstr>
      <vt:lpstr>Le Projet</vt:lpstr>
      <vt:lpstr>Plan d'implantation de la station</vt:lpstr>
      <vt:lpstr>Bilan de puissance &amp; Synoptique CFO</vt:lpstr>
      <vt:lpstr>PDL TARIF [Type de Tarif]</vt:lpstr>
      <vt:lpstr>Disjoncteurs à créer </vt:lpstr>
      <vt:lpstr>Cheminement vers bornes 01-02</vt:lpstr>
      <vt:lpstr>Fiche technique borne</vt:lpstr>
      <vt:lpstr>Annexe Images – à supprimer avant l’envoie Client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Wajih TAZI</cp:lastModifiedBy>
  <cp:revision>25</cp:revision>
  <dcterms:modified xsi:type="dcterms:W3CDTF">2026-10-09T09:57:26Z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0x0101000F0ACF7CF757DC4094EE3C8029BBFF87</vt:lpwstr>
  </property>
  <property fmtid="{D5CDD505-2E9C-101B-9397-08002B2CF9AE}" pid="3" name="MediaServiceImageTags">
    <vt:lpwstr/>
  </property>
</Properties>
</file>