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4"/>
  </p:notesMasterIdLst>
  <p:sldIdLst>
    <p:sldId id="265" r:id="rId5"/>
    <p:sldId id="280" r:id="rId6"/>
    <p:sldId id="271" r:id="rId7"/>
    <p:sldId id="282" r:id="rId8"/>
    <p:sldId id="283" r:id="rId9"/>
    <p:sldId id="339" r:id="rId10"/>
    <p:sldId id="266" r:id="rId11"/>
    <p:sldId id="284" r:id="rId12"/>
    <p:sldId id="340" r:id="rId13"/>
    <p:sldId id="337" r:id="rId14"/>
    <p:sldId id="338" r:id="rId15"/>
    <p:sldId id="347" r:id="rId16"/>
    <p:sldId id="343" r:id="rId17"/>
    <p:sldId id="270" r:id="rId18"/>
    <p:sldId id="345" r:id="rId19"/>
    <p:sldId id="342" r:id="rId20"/>
    <p:sldId id="341" r:id="rId21"/>
    <p:sldId id="346" r:id="rId22"/>
    <p:sldId id="348" r:id="rId23"/>
  </p:sldIdLst>
  <p:sldSz cx="12192000" cy="6858000"/>
  <p:notesSz cx="6797675" cy="9928225"/>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472C4"/>
    <a:srgbClr val="7F7F7F"/>
    <a:srgbClr val="00B05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4CE51FC-968D-1000-95BC-4B7C466BC308}" v="2" dt="2026-10-09T08:28:03.90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45659" cy="498135"/>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50443" y="0"/>
            <a:ext cx="2945659" cy="498135"/>
          </a:xfrm>
          <a:prstGeom prst="rect">
            <a:avLst/>
          </a:prstGeom>
        </p:spPr>
        <p:txBody>
          <a:bodyPr vert="horz" lIns="91440" tIns="45720" rIns="91440" bIns="45720" rtlCol="0"/>
          <a:lstStyle>
            <a:lvl1pPr algn="r">
              <a:defRPr sz="1200"/>
            </a:lvl1pPr>
          </a:lstStyle>
          <a:p>
            <a:fld id="{15A7CC51-AA8F-47F2-A1B8-55ACAF3ADA33}" type="datetimeFigureOut">
              <a:rPr lang="fr-FR" smtClean="0"/>
              <a:t>09/10/2026</a:t>
            </a:fld>
            <a:endParaRPr lang="fr-FR"/>
          </a:p>
        </p:txBody>
      </p:sp>
      <p:sp>
        <p:nvSpPr>
          <p:cNvPr id="4" name="Espace réservé de l'image des diapositives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79768" y="4777958"/>
            <a:ext cx="5438140" cy="3909239"/>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9430091"/>
            <a:ext cx="2945659" cy="498134"/>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50443" y="9430091"/>
            <a:ext cx="2945659" cy="498134"/>
          </a:xfrm>
          <a:prstGeom prst="rect">
            <a:avLst/>
          </a:prstGeom>
        </p:spPr>
        <p:txBody>
          <a:bodyPr vert="horz" lIns="91440" tIns="45720" rIns="91440" bIns="45720" rtlCol="0" anchor="b"/>
          <a:lstStyle>
            <a:lvl1pPr algn="r">
              <a:defRPr sz="1200"/>
            </a:lvl1pPr>
          </a:lstStyle>
          <a:p>
            <a:fld id="{A675EB38-C5EB-4E4F-82A5-8BC4D345BCE0}" type="slidenum">
              <a:rPr lang="fr-FR" smtClean="0"/>
              <a:t>‹#›</a:t>
            </a:fld>
            <a:endParaRPr lang="fr-FR"/>
          </a:p>
        </p:txBody>
      </p:sp>
    </p:spTree>
    <p:extLst>
      <p:ext uri="{BB962C8B-B14F-4D97-AF65-F5344CB8AC3E}">
        <p14:creationId xmlns:p14="http://schemas.microsoft.com/office/powerpoint/2010/main" val="3705777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A675EB38-C5EB-4E4F-82A5-8BC4D345BCE0}" type="slidenum">
              <a:rPr lang="fr-FR" smtClean="0"/>
              <a:t>2</a:t>
            </a:fld>
            <a:endParaRPr lang="fr-FR" dirty="0"/>
          </a:p>
        </p:txBody>
      </p:sp>
    </p:spTree>
    <p:extLst>
      <p:ext uri="{BB962C8B-B14F-4D97-AF65-F5344CB8AC3E}">
        <p14:creationId xmlns:p14="http://schemas.microsoft.com/office/powerpoint/2010/main" val="19995185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A675EB38-C5EB-4E4F-82A5-8BC4D345BCE0}" type="slidenum">
              <a:rPr lang="fr-FR" smtClean="0"/>
              <a:t>4</a:t>
            </a:fld>
            <a:endParaRPr lang="fr-FR"/>
          </a:p>
        </p:txBody>
      </p:sp>
    </p:spTree>
    <p:extLst>
      <p:ext uri="{BB962C8B-B14F-4D97-AF65-F5344CB8AC3E}">
        <p14:creationId xmlns:p14="http://schemas.microsoft.com/office/powerpoint/2010/main" val="42366134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A675EB38-C5EB-4E4F-82A5-8BC4D345BCE0}" type="slidenum">
              <a:rPr lang="fr-FR" smtClean="0"/>
              <a:t>5</a:t>
            </a:fld>
            <a:endParaRPr lang="fr-FR"/>
          </a:p>
        </p:txBody>
      </p:sp>
    </p:spTree>
    <p:extLst>
      <p:ext uri="{BB962C8B-B14F-4D97-AF65-F5344CB8AC3E}">
        <p14:creationId xmlns:p14="http://schemas.microsoft.com/office/powerpoint/2010/main" val="26125707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CAE82F-121D-7AB9-46CC-A00307C2BA3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32A476C-41FC-25AF-C5CC-C741E3778FAF}"/>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572ECE9C-36BF-ECCB-4D49-7D6E37F096D2}"/>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E052DFED-3497-057D-29E4-57ACECF9E75C}"/>
              </a:ext>
            </a:extLst>
          </p:cNvPr>
          <p:cNvSpPr>
            <a:spLocks noGrp="1"/>
          </p:cNvSpPr>
          <p:nvPr>
            <p:ph type="sldNum" sz="quarter" idx="5"/>
          </p:nvPr>
        </p:nvSpPr>
        <p:spPr/>
        <p:txBody>
          <a:bodyPr/>
          <a:lstStyle/>
          <a:p>
            <a:fld id="{A675EB38-C5EB-4E4F-82A5-8BC4D345BCE0}" type="slidenum">
              <a:rPr lang="fr-FR" smtClean="0"/>
              <a:t>6</a:t>
            </a:fld>
            <a:endParaRPr lang="fr-FR"/>
          </a:p>
        </p:txBody>
      </p:sp>
    </p:spTree>
    <p:extLst>
      <p:ext uri="{BB962C8B-B14F-4D97-AF65-F5344CB8AC3E}">
        <p14:creationId xmlns:p14="http://schemas.microsoft.com/office/powerpoint/2010/main" val="26753928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A675EB38-C5EB-4E4F-82A5-8BC4D345BCE0}" type="slidenum">
              <a:rPr lang="fr-FR" smtClean="0"/>
              <a:t>7</a:t>
            </a:fld>
            <a:endParaRPr lang="fr-FR"/>
          </a:p>
        </p:txBody>
      </p:sp>
    </p:spTree>
    <p:extLst>
      <p:ext uri="{BB962C8B-B14F-4D97-AF65-F5344CB8AC3E}">
        <p14:creationId xmlns:p14="http://schemas.microsoft.com/office/powerpoint/2010/main" val="27011877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250F7-6607-58E8-21BC-F76C361D0E7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DAFAE2C-4D62-C800-6F2C-1964C3C776E1}"/>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6A64626-2D65-D9B4-23BF-F2E0B8107330}"/>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2A3B57BB-E803-A855-E186-C6C03A697D2A}"/>
              </a:ext>
            </a:extLst>
          </p:cNvPr>
          <p:cNvSpPr>
            <a:spLocks noGrp="1"/>
          </p:cNvSpPr>
          <p:nvPr>
            <p:ph type="sldNum" sz="quarter" idx="5"/>
          </p:nvPr>
        </p:nvSpPr>
        <p:spPr/>
        <p:txBody>
          <a:bodyPr/>
          <a:lstStyle/>
          <a:p>
            <a:fld id="{A675EB38-C5EB-4E4F-82A5-8BC4D345BCE0}" type="slidenum">
              <a:rPr lang="fr-FR" smtClean="0"/>
              <a:t>11</a:t>
            </a:fld>
            <a:endParaRPr lang="fr-FR"/>
          </a:p>
        </p:txBody>
      </p:sp>
    </p:spTree>
    <p:extLst>
      <p:ext uri="{BB962C8B-B14F-4D97-AF65-F5344CB8AC3E}">
        <p14:creationId xmlns:p14="http://schemas.microsoft.com/office/powerpoint/2010/main" val="1067981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C21CA6-921B-5BE4-8F5C-024F3C0C9A4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06BE388-0552-2C6F-10FB-670DD041DED5}"/>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53174B4C-903B-7BDD-5312-A6E9D8083F4E}"/>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3C793FF9-A879-6B5D-7917-455AE13F0107}"/>
              </a:ext>
            </a:extLst>
          </p:cNvPr>
          <p:cNvSpPr>
            <a:spLocks noGrp="1"/>
          </p:cNvSpPr>
          <p:nvPr>
            <p:ph type="sldNum" sz="quarter" idx="5"/>
          </p:nvPr>
        </p:nvSpPr>
        <p:spPr/>
        <p:txBody>
          <a:bodyPr/>
          <a:lstStyle/>
          <a:p>
            <a:fld id="{A675EB38-C5EB-4E4F-82A5-8BC4D345BCE0}" type="slidenum">
              <a:rPr lang="fr-FR" smtClean="0"/>
              <a:t>13</a:t>
            </a:fld>
            <a:endParaRPr lang="fr-FR"/>
          </a:p>
        </p:txBody>
      </p:sp>
    </p:spTree>
    <p:extLst>
      <p:ext uri="{BB962C8B-B14F-4D97-AF65-F5344CB8AC3E}">
        <p14:creationId xmlns:p14="http://schemas.microsoft.com/office/powerpoint/2010/main" val="7837604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E53BA6F-71CF-336D-62A7-DAB3A64E4285}"/>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EA3032A5-F3CC-E000-AD0B-4F613CBEE06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41AC9BDA-F16F-50A9-B041-0719BAFD3402}"/>
              </a:ext>
            </a:extLst>
          </p:cNvPr>
          <p:cNvSpPr>
            <a:spLocks noGrp="1"/>
          </p:cNvSpPr>
          <p:nvPr>
            <p:ph type="dt" sz="half" idx="10"/>
          </p:nvPr>
        </p:nvSpPr>
        <p:spPr/>
        <p:txBody>
          <a:bodyPr/>
          <a:lstStyle/>
          <a:p>
            <a:fld id="{CDC4102A-BFAA-4491-B4FA-A556E3D663FA}"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48C32A7E-8BD5-377A-84FA-F5909120413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93D2C76-5AF1-8D78-686C-C20DD285E7D4}"/>
              </a:ext>
            </a:extLst>
          </p:cNvPr>
          <p:cNvSpPr>
            <a:spLocks noGrp="1"/>
          </p:cNvSpPr>
          <p:nvPr>
            <p:ph type="sldNum" sz="quarter" idx="12"/>
          </p:nvPr>
        </p:nvSpPr>
        <p:spPr/>
        <p:txBody>
          <a:bodyPr/>
          <a:lstStyle/>
          <a:p>
            <a:fld id="{67742F42-51C1-45C2-B20A-B01148E0B018}" type="slidenum">
              <a:rPr lang="fr-FR" smtClean="0"/>
              <a:t>‹#›</a:t>
            </a:fld>
            <a:endParaRPr lang="fr-FR"/>
          </a:p>
        </p:txBody>
      </p:sp>
    </p:spTree>
    <p:extLst>
      <p:ext uri="{BB962C8B-B14F-4D97-AF65-F5344CB8AC3E}">
        <p14:creationId xmlns:p14="http://schemas.microsoft.com/office/powerpoint/2010/main" val="42008296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374EFE0-4F57-AF9B-CB3B-3FB451A6FF89}"/>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0663360D-67F0-B42D-96A1-A67B23DE324A}"/>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D10649A3-AC24-A1A7-D4D7-DE636510EA53}"/>
              </a:ext>
            </a:extLst>
          </p:cNvPr>
          <p:cNvSpPr>
            <a:spLocks noGrp="1"/>
          </p:cNvSpPr>
          <p:nvPr>
            <p:ph type="dt" sz="half" idx="10"/>
          </p:nvPr>
        </p:nvSpPr>
        <p:spPr/>
        <p:txBody>
          <a:bodyPr/>
          <a:lstStyle/>
          <a:p>
            <a:fld id="{CDC4102A-BFAA-4491-B4FA-A556E3D663FA}"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4A5E3C7C-09F5-D447-95E7-B944EFBBE453}"/>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BB07901E-D5B4-46E9-9A2F-20609320413F}"/>
              </a:ext>
            </a:extLst>
          </p:cNvPr>
          <p:cNvSpPr>
            <a:spLocks noGrp="1"/>
          </p:cNvSpPr>
          <p:nvPr>
            <p:ph type="sldNum" sz="quarter" idx="12"/>
          </p:nvPr>
        </p:nvSpPr>
        <p:spPr/>
        <p:txBody>
          <a:bodyPr/>
          <a:lstStyle/>
          <a:p>
            <a:fld id="{67742F42-51C1-45C2-B20A-B01148E0B018}" type="slidenum">
              <a:rPr lang="fr-FR" smtClean="0"/>
              <a:t>‹#›</a:t>
            </a:fld>
            <a:endParaRPr lang="fr-FR"/>
          </a:p>
        </p:txBody>
      </p:sp>
    </p:spTree>
    <p:extLst>
      <p:ext uri="{BB962C8B-B14F-4D97-AF65-F5344CB8AC3E}">
        <p14:creationId xmlns:p14="http://schemas.microsoft.com/office/powerpoint/2010/main" val="3893667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5D293CC-4DE3-895D-58EB-404210E945B3}"/>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D64AD068-0E50-8F69-ACB4-9CF1BEADD2B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13DED714-64C3-8B1C-5109-B56A3C93BF37}"/>
              </a:ext>
            </a:extLst>
          </p:cNvPr>
          <p:cNvSpPr>
            <a:spLocks noGrp="1"/>
          </p:cNvSpPr>
          <p:nvPr>
            <p:ph type="dt" sz="half" idx="10"/>
          </p:nvPr>
        </p:nvSpPr>
        <p:spPr/>
        <p:txBody>
          <a:bodyPr/>
          <a:lstStyle/>
          <a:p>
            <a:fld id="{CDC4102A-BFAA-4491-B4FA-A556E3D663FA}"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4CCF2311-62CD-5FE1-19B4-FB5D27DFDDA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9B4E6997-C5A9-ACCA-97F1-DC4781F98F82}"/>
              </a:ext>
            </a:extLst>
          </p:cNvPr>
          <p:cNvSpPr>
            <a:spLocks noGrp="1"/>
          </p:cNvSpPr>
          <p:nvPr>
            <p:ph type="sldNum" sz="quarter" idx="12"/>
          </p:nvPr>
        </p:nvSpPr>
        <p:spPr/>
        <p:txBody>
          <a:bodyPr/>
          <a:lstStyle/>
          <a:p>
            <a:fld id="{67742F42-51C1-45C2-B20A-B01148E0B018}" type="slidenum">
              <a:rPr lang="fr-FR" smtClean="0"/>
              <a:t>‹#›</a:t>
            </a:fld>
            <a:endParaRPr lang="fr-FR"/>
          </a:p>
        </p:txBody>
      </p:sp>
    </p:spTree>
    <p:extLst>
      <p:ext uri="{BB962C8B-B14F-4D97-AF65-F5344CB8AC3E}">
        <p14:creationId xmlns:p14="http://schemas.microsoft.com/office/powerpoint/2010/main" val="25905956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9CC6C7F-3008-6165-F6C0-E13033FE811E}"/>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F3611649-CEB2-7752-4C21-59140DF3E5E6}"/>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87BF9229-5913-19F6-FC00-559B618498E6}"/>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ED345DCB-A6CD-B01F-6B63-A85C2AFCDFF9}"/>
              </a:ext>
            </a:extLst>
          </p:cNvPr>
          <p:cNvSpPr>
            <a:spLocks noGrp="1"/>
          </p:cNvSpPr>
          <p:nvPr>
            <p:ph type="dt" sz="half" idx="10"/>
          </p:nvPr>
        </p:nvSpPr>
        <p:spPr/>
        <p:txBody>
          <a:bodyPr/>
          <a:lstStyle/>
          <a:p>
            <a:fld id="{CDC4102A-BFAA-4491-B4FA-A556E3D663FA}" type="datetimeFigureOut">
              <a:rPr lang="fr-FR" smtClean="0"/>
              <a:t>09/10/2026</a:t>
            </a:fld>
            <a:endParaRPr lang="fr-FR"/>
          </a:p>
        </p:txBody>
      </p:sp>
      <p:sp>
        <p:nvSpPr>
          <p:cNvPr id="6" name="Espace réservé du pied de page 5">
            <a:extLst>
              <a:ext uri="{FF2B5EF4-FFF2-40B4-BE49-F238E27FC236}">
                <a16:creationId xmlns:a16="http://schemas.microsoft.com/office/drawing/2014/main" id="{ABC1C7A8-D360-4ECC-A537-88FDC29C324B}"/>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1A65C740-0896-2CD2-CBDC-6D09BFB71B97}"/>
              </a:ext>
            </a:extLst>
          </p:cNvPr>
          <p:cNvSpPr>
            <a:spLocks noGrp="1"/>
          </p:cNvSpPr>
          <p:nvPr>
            <p:ph type="sldNum" sz="quarter" idx="12"/>
          </p:nvPr>
        </p:nvSpPr>
        <p:spPr/>
        <p:txBody>
          <a:bodyPr/>
          <a:lstStyle/>
          <a:p>
            <a:fld id="{67742F42-51C1-45C2-B20A-B01148E0B018}" type="slidenum">
              <a:rPr lang="fr-FR" smtClean="0"/>
              <a:t>‹#›</a:t>
            </a:fld>
            <a:endParaRPr lang="fr-FR"/>
          </a:p>
        </p:txBody>
      </p:sp>
    </p:spTree>
    <p:extLst>
      <p:ext uri="{BB962C8B-B14F-4D97-AF65-F5344CB8AC3E}">
        <p14:creationId xmlns:p14="http://schemas.microsoft.com/office/powerpoint/2010/main" val="8924022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CAADEAF-53DC-E51A-B10F-CADD99FF48D6}"/>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CF20C9E1-158E-84B7-672C-AA13E3478B9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478E43A1-7E0C-5FF0-3D94-E5B2B78A2061}"/>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CC8819EA-7A0F-9CC8-6DE3-F5F65A44039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4F72F8FC-18AE-60FE-13AD-3FF3F8FF8A63}"/>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5ACA9EA9-8B63-8C98-6F80-B6775403AED0}"/>
              </a:ext>
            </a:extLst>
          </p:cNvPr>
          <p:cNvSpPr>
            <a:spLocks noGrp="1"/>
          </p:cNvSpPr>
          <p:nvPr>
            <p:ph type="dt" sz="half" idx="10"/>
          </p:nvPr>
        </p:nvSpPr>
        <p:spPr/>
        <p:txBody>
          <a:bodyPr/>
          <a:lstStyle/>
          <a:p>
            <a:fld id="{CDC4102A-BFAA-4491-B4FA-A556E3D663FA}" type="datetimeFigureOut">
              <a:rPr lang="fr-FR" smtClean="0"/>
              <a:t>09/10/2026</a:t>
            </a:fld>
            <a:endParaRPr lang="fr-FR"/>
          </a:p>
        </p:txBody>
      </p:sp>
      <p:sp>
        <p:nvSpPr>
          <p:cNvPr id="8" name="Espace réservé du pied de page 7">
            <a:extLst>
              <a:ext uri="{FF2B5EF4-FFF2-40B4-BE49-F238E27FC236}">
                <a16:creationId xmlns:a16="http://schemas.microsoft.com/office/drawing/2014/main" id="{307521EF-D418-547E-ACE4-8414A833EDBA}"/>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827C2BBC-9FA4-7162-2C58-21FFDBD1E991}"/>
              </a:ext>
            </a:extLst>
          </p:cNvPr>
          <p:cNvSpPr>
            <a:spLocks noGrp="1"/>
          </p:cNvSpPr>
          <p:nvPr>
            <p:ph type="sldNum" sz="quarter" idx="12"/>
          </p:nvPr>
        </p:nvSpPr>
        <p:spPr/>
        <p:txBody>
          <a:bodyPr/>
          <a:lstStyle/>
          <a:p>
            <a:fld id="{67742F42-51C1-45C2-B20A-B01148E0B018}" type="slidenum">
              <a:rPr lang="fr-FR" smtClean="0"/>
              <a:t>‹#›</a:t>
            </a:fld>
            <a:endParaRPr lang="fr-FR"/>
          </a:p>
        </p:txBody>
      </p:sp>
    </p:spTree>
    <p:extLst>
      <p:ext uri="{BB962C8B-B14F-4D97-AF65-F5344CB8AC3E}">
        <p14:creationId xmlns:p14="http://schemas.microsoft.com/office/powerpoint/2010/main" val="1128853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861DED-2642-4A9A-80C0-D7289B12C56D}"/>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1ECAF1C9-0582-F242-B80D-4305B55029A2}"/>
              </a:ext>
            </a:extLst>
          </p:cNvPr>
          <p:cNvSpPr>
            <a:spLocks noGrp="1"/>
          </p:cNvSpPr>
          <p:nvPr>
            <p:ph type="dt" sz="half" idx="10"/>
          </p:nvPr>
        </p:nvSpPr>
        <p:spPr/>
        <p:txBody>
          <a:bodyPr/>
          <a:lstStyle/>
          <a:p>
            <a:fld id="{CDC4102A-BFAA-4491-B4FA-A556E3D663FA}" type="datetimeFigureOut">
              <a:rPr lang="fr-FR" smtClean="0"/>
              <a:t>09/10/2026</a:t>
            </a:fld>
            <a:endParaRPr lang="fr-FR"/>
          </a:p>
        </p:txBody>
      </p:sp>
      <p:sp>
        <p:nvSpPr>
          <p:cNvPr id="4" name="Espace réservé du pied de page 3">
            <a:extLst>
              <a:ext uri="{FF2B5EF4-FFF2-40B4-BE49-F238E27FC236}">
                <a16:creationId xmlns:a16="http://schemas.microsoft.com/office/drawing/2014/main" id="{B01F8502-DEFC-D1E6-D76A-90A29B54BF1D}"/>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8F996EBE-727C-66A3-B064-DB57D1EB5A67}"/>
              </a:ext>
            </a:extLst>
          </p:cNvPr>
          <p:cNvSpPr>
            <a:spLocks noGrp="1"/>
          </p:cNvSpPr>
          <p:nvPr>
            <p:ph type="sldNum" sz="quarter" idx="12"/>
          </p:nvPr>
        </p:nvSpPr>
        <p:spPr/>
        <p:txBody>
          <a:bodyPr/>
          <a:lstStyle/>
          <a:p>
            <a:fld id="{67742F42-51C1-45C2-B20A-B01148E0B018}" type="slidenum">
              <a:rPr lang="fr-FR" smtClean="0"/>
              <a:t>‹#›</a:t>
            </a:fld>
            <a:endParaRPr lang="fr-FR"/>
          </a:p>
        </p:txBody>
      </p:sp>
    </p:spTree>
    <p:extLst>
      <p:ext uri="{BB962C8B-B14F-4D97-AF65-F5344CB8AC3E}">
        <p14:creationId xmlns:p14="http://schemas.microsoft.com/office/powerpoint/2010/main" val="29745559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F74940DF-51F3-A1E4-3163-2DB4BEB0D743}"/>
              </a:ext>
            </a:extLst>
          </p:cNvPr>
          <p:cNvSpPr>
            <a:spLocks noGrp="1"/>
          </p:cNvSpPr>
          <p:nvPr>
            <p:ph type="dt" sz="half" idx="10"/>
          </p:nvPr>
        </p:nvSpPr>
        <p:spPr/>
        <p:txBody>
          <a:bodyPr/>
          <a:lstStyle/>
          <a:p>
            <a:fld id="{CDC4102A-BFAA-4491-B4FA-A556E3D663FA}" type="datetimeFigureOut">
              <a:rPr lang="fr-FR" smtClean="0"/>
              <a:t>09/10/2026</a:t>
            </a:fld>
            <a:endParaRPr lang="fr-FR"/>
          </a:p>
        </p:txBody>
      </p:sp>
      <p:sp>
        <p:nvSpPr>
          <p:cNvPr id="3" name="Espace réservé du pied de page 2">
            <a:extLst>
              <a:ext uri="{FF2B5EF4-FFF2-40B4-BE49-F238E27FC236}">
                <a16:creationId xmlns:a16="http://schemas.microsoft.com/office/drawing/2014/main" id="{DE74458E-4421-1CB3-9C88-997F54848E1B}"/>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533A7FE8-D9DC-35E1-C227-B4BBC9581EF3}"/>
              </a:ext>
            </a:extLst>
          </p:cNvPr>
          <p:cNvSpPr>
            <a:spLocks noGrp="1"/>
          </p:cNvSpPr>
          <p:nvPr>
            <p:ph type="sldNum" sz="quarter" idx="12"/>
          </p:nvPr>
        </p:nvSpPr>
        <p:spPr/>
        <p:txBody>
          <a:bodyPr/>
          <a:lstStyle/>
          <a:p>
            <a:fld id="{67742F42-51C1-45C2-B20A-B01148E0B018}" type="slidenum">
              <a:rPr lang="fr-FR" smtClean="0"/>
              <a:t>‹#›</a:t>
            </a:fld>
            <a:endParaRPr lang="fr-FR"/>
          </a:p>
        </p:txBody>
      </p:sp>
    </p:spTree>
    <p:extLst>
      <p:ext uri="{BB962C8B-B14F-4D97-AF65-F5344CB8AC3E}">
        <p14:creationId xmlns:p14="http://schemas.microsoft.com/office/powerpoint/2010/main" val="7889825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8BC97D1-6D59-2BF2-5858-2A741A6EE0B3}"/>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2B75D3C5-F68A-0CC6-6FC9-D327743B881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540924D6-323F-4200-F127-0383833B479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4768FBC2-D321-B754-1ADB-C5533D9FB246}"/>
              </a:ext>
            </a:extLst>
          </p:cNvPr>
          <p:cNvSpPr>
            <a:spLocks noGrp="1"/>
          </p:cNvSpPr>
          <p:nvPr>
            <p:ph type="dt" sz="half" idx="10"/>
          </p:nvPr>
        </p:nvSpPr>
        <p:spPr/>
        <p:txBody>
          <a:bodyPr/>
          <a:lstStyle/>
          <a:p>
            <a:fld id="{CDC4102A-BFAA-4491-B4FA-A556E3D663FA}" type="datetimeFigureOut">
              <a:rPr lang="fr-FR" smtClean="0"/>
              <a:t>09/10/2026</a:t>
            </a:fld>
            <a:endParaRPr lang="fr-FR"/>
          </a:p>
        </p:txBody>
      </p:sp>
      <p:sp>
        <p:nvSpPr>
          <p:cNvPr id="6" name="Espace réservé du pied de page 5">
            <a:extLst>
              <a:ext uri="{FF2B5EF4-FFF2-40B4-BE49-F238E27FC236}">
                <a16:creationId xmlns:a16="http://schemas.microsoft.com/office/drawing/2014/main" id="{76ED2760-5B45-0E5D-24A4-CB1DAA023324}"/>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F6AFE85B-692A-3886-6810-2F6A4466B52E}"/>
              </a:ext>
            </a:extLst>
          </p:cNvPr>
          <p:cNvSpPr>
            <a:spLocks noGrp="1"/>
          </p:cNvSpPr>
          <p:nvPr>
            <p:ph type="sldNum" sz="quarter" idx="12"/>
          </p:nvPr>
        </p:nvSpPr>
        <p:spPr/>
        <p:txBody>
          <a:bodyPr/>
          <a:lstStyle/>
          <a:p>
            <a:fld id="{67742F42-51C1-45C2-B20A-B01148E0B018}" type="slidenum">
              <a:rPr lang="fr-FR" smtClean="0"/>
              <a:t>‹#›</a:t>
            </a:fld>
            <a:endParaRPr lang="fr-FR"/>
          </a:p>
        </p:txBody>
      </p:sp>
    </p:spTree>
    <p:extLst>
      <p:ext uri="{BB962C8B-B14F-4D97-AF65-F5344CB8AC3E}">
        <p14:creationId xmlns:p14="http://schemas.microsoft.com/office/powerpoint/2010/main" val="41544857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462126-85C3-6DDF-CCB4-0C35A1831AF4}"/>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C3C9EAC9-C6FD-F9D2-86D6-1B93478FA59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085F7257-D86E-FFB5-8124-8E92583C70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5FC346D9-3187-04F4-BF43-A44DF0FE9189}"/>
              </a:ext>
            </a:extLst>
          </p:cNvPr>
          <p:cNvSpPr>
            <a:spLocks noGrp="1"/>
          </p:cNvSpPr>
          <p:nvPr>
            <p:ph type="dt" sz="half" idx="10"/>
          </p:nvPr>
        </p:nvSpPr>
        <p:spPr/>
        <p:txBody>
          <a:bodyPr/>
          <a:lstStyle/>
          <a:p>
            <a:fld id="{CDC4102A-BFAA-4491-B4FA-A556E3D663FA}" type="datetimeFigureOut">
              <a:rPr lang="fr-FR" smtClean="0"/>
              <a:t>09/10/2026</a:t>
            </a:fld>
            <a:endParaRPr lang="fr-FR"/>
          </a:p>
        </p:txBody>
      </p:sp>
      <p:sp>
        <p:nvSpPr>
          <p:cNvPr id="6" name="Espace réservé du pied de page 5">
            <a:extLst>
              <a:ext uri="{FF2B5EF4-FFF2-40B4-BE49-F238E27FC236}">
                <a16:creationId xmlns:a16="http://schemas.microsoft.com/office/drawing/2014/main" id="{ECDDF2EA-38E3-9C9D-991C-4DCD00CFDE4F}"/>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BD5B286A-EE21-5A6B-ECF9-6B0D55D55EC2}"/>
              </a:ext>
            </a:extLst>
          </p:cNvPr>
          <p:cNvSpPr>
            <a:spLocks noGrp="1"/>
          </p:cNvSpPr>
          <p:nvPr>
            <p:ph type="sldNum" sz="quarter" idx="12"/>
          </p:nvPr>
        </p:nvSpPr>
        <p:spPr/>
        <p:txBody>
          <a:bodyPr/>
          <a:lstStyle/>
          <a:p>
            <a:fld id="{67742F42-51C1-45C2-B20A-B01148E0B018}" type="slidenum">
              <a:rPr lang="fr-FR" smtClean="0"/>
              <a:t>‹#›</a:t>
            </a:fld>
            <a:endParaRPr lang="fr-FR"/>
          </a:p>
        </p:txBody>
      </p:sp>
    </p:spTree>
    <p:extLst>
      <p:ext uri="{BB962C8B-B14F-4D97-AF65-F5344CB8AC3E}">
        <p14:creationId xmlns:p14="http://schemas.microsoft.com/office/powerpoint/2010/main" val="13942179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B00A58-4DD1-D37F-65FB-C5CE90D28F40}"/>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BBA7914E-FC61-DEDF-0405-71F1AEA5524F}"/>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7F9EAFB9-3AAD-4FCC-10EF-39C2C92F4701}"/>
              </a:ext>
            </a:extLst>
          </p:cNvPr>
          <p:cNvSpPr>
            <a:spLocks noGrp="1"/>
          </p:cNvSpPr>
          <p:nvPr>
            <p:ph type="dt" sz="half" idx="10"/>
          </p:nvPr>
        </p:nvSpPr>
        <p:spPr/>
        <p:txBody>
          <a:bodyPr/>
          <a:lstStyle/>
          <a:p>
            <a:fld id="{CDC4102A-BFAA-4491-B4FA-A556E3D663FA}"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3D726FDF-09A9-F606-B515-0FE6723693C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B1385405-5560-508D-F195-18875D6F7000}"/>
              </a:ext>
            </a:extLst>
          </p:cNvPr>
          <p:cNvSpPr>
            <a:spLocks noGrp="1"/>
          </p:cNvSpPr>
          <p:nvPr>
            <p:ph type="sldNum" sz="quarter" idx="12"/>
          </p:nvPr>
        </p:nvSpPr>
        <p:spPr/>
        <p:txBody>
          <a:bodyPr/>
          <a:lstStyle/>
          <a:p>
            <a:fld id="{67742F42-51C1-45C2-B20A-B01148E0B018}" type="slidenum">
              <a:rPr lang="fr-FR" smtClean="0"/>
              <a:t>‹#›</a:t>
            </a:fld>
            <a:endParaRPr lang="fr-FR"/>
          </a:p>
        </p:txBody>
      </p:sp>
    </p:spTree>
    <p:extLst>
      <p:ext uri="{BB962C8B-B14F-4D97-AF65-F5344CB8AC3E}">
        <p14:creationId xmlns:p14="http://schemas.microsoft.com/office/powerpoint/2010/main" val="30882474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D2B102A2-5B59-B080-0A92-FAC0EE6FDC77}"/>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6CDA83DE-8A87-1A95-5AE2-A298130DF42F}"/>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86D612EC-DF25-7E46-51AF-DD5B6C8ECDCE}"/>
              </a:ext>
            </a:extLst>
          </p:cNvPr>
          <p:cNvSpPr>
            <a:spLocks noGrp="1"/>
          </p:cNvSpPr>
          <p:nvPr>
            <p:ph type="dt" sz="half" idx="10"/>
          </p:nvPr>
        </p:nvSpPr>
        <p:spPr/>
        <p:txBody>
          <a:bodyPr/>
          <a:lstStyle/>
          <a:p>
            <a:fld id="{CDC4102A-BFAA-4491-B4FA-A556E3D663FA}"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A7629080-1DF5-DE81-C1E1-85227D111DD3}"/>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5F1126A-4ACF-366C-7664-A5A672E8C973}"/>
              </a:ext>
            </a:extLst>
          </p:cNvPr>
          <p:cNvSpPr>
            <a:spLocks noGrp="1"/>
          </p:cNvSpPr>
          <p:nvPr>
            <p:ph type="sldNum" sz="quarter" idx="12"/>
          </p:nvPr>
        </p:nvSpPr>
        <p:spPr/>
        <p:txBody>
          <a:bodyPr/>
          <a:lstStyle/>
          <a:p>
            <a:fld id="{67742F42-51C1-45C2-B20A-B01148E0B018}" type="slidenum">
              <a:rPr lang="fr-FR" smtClean="0"/>
              <a:t>‹#›</a:t>
            </a:fld>
            <a:endParaRPr lang="fr-FR"/>
          </a:p>
        </p:txBody>
      </p:sp>
    </p:spTree>
    <p:extLst>
      <p:ext uri="{BB962C8B-B14F-4D97-AF65-F5344CB8AC3E}">
        <p14:creationId xmlns:p14="http://schemas.microsoft.com/office/powerpoint/2010/main" val="20479264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itre_02">
    <p:bg>
      <p:bgPr>
        <a:blipFill dpi="0" rotWithShape="1">
          <a:blip r:embed="rId2" cstate="screen">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90E3B2-4A64-9441-85B3-521A645E992A}"/>
              </a:ext>
            </a:extLst>
          </p:cNvPr>
          <p:cNvSpPr/>
          <p:nvPr/>
        </p:nvSpPr>
        <p:spPr>
          <a:xfrm>
            <a:off x="0" y="1800000"/>
            <a:ext cx="5338800" cy="5058000"/>
          </a:xfrm>
          <a:prstGeom prst="rect">
            <a:avLst/>
          </a:prstGeom>
          <a:solidFill>
            <a:srgbClr val="1057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88159929-A742-334A-B1AF-1593373A0717}"/>
              </a:ext>
            </a:extLst>
          </p:cNvPr>
          <p:cNvSpPr/>
          <p:nvPr/>
        </p:nvSpPr>
        <p:spPr>
          <a:xfrm>
            <a:off x="0" y="0"/>
            <a:ext cx="5338800" cy="1800000"/>
          </a:xfrm>
          <a:prstGeom prst="rect">
            <a:avLst/>
          </a:prstGeom>
          <a:solidFill>
            <a:srgbClr val="108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ln>
                <a:noFill/>
              </a:ln>
            </a:endParaRPr>
          </a:p>
        </p:txBody>
      </p:sp>
      <p:sp>
        <p:nvSpPr>
          <p:cNvPr id="9" name="Espace réservé du texte 26">
            <a:extLst>
              <a:ext uri="{FF2B5EF4-FFF2-40B4-BE49-F238E27FC236}">
                <a16:creationId xmlns:a16="http://schemas.microsoft.com/office/drawing/2014/main" id="{3CE51BA2-D309-3641-97BB-478096218B78}"/>
              </a:ext>
            </a:extLst>
          </p:cNvPr>
          <p:cNvSpPr>
            <a:spLocks noGrp="1"/>
          </p:cNvSpPr>
          <p:nvPr>
            <p:ph type="body" sz="quarter" idx="11" hasCustomPrompt="1"/>
          </p:nvPr>
        </p:nvSpPr>
        <p:spPr>
          <a:xfrm>
            <a:off x="0" y="1800000"/>
            <a:ext cx="5335200" cy="5058000"/>
          </a:xfrm>
          <a:prstGeom prst="rect">
            <a:avLst/>
          </a:prstGeom>
          <a:noFill/>
        </p:spPr>
        <p:txBody>
          <a:bodyPr wrap="square" lIns="540000" tIns="46800" rIns="540000" anchor="ctr">
            <a:noAutofit/>
          </a:bodyPr>
          <a:lstStyle>
            <a:lvl1pPr marL="0" indent="0">
              <a:buFontTx/>
              <a:buNone/>
              <a:defRPr sz="4000" b="0" i="0">
                <a:solidFill>
                  <a:schemeClr val="bg1"/>
                </a:solidFill>
                <a:latin typeface="Work Sans ExtraLight"/>
                <a:cs typeface="Work Sans ExtraLight"/>
              </a:defRPr>
            </a:lvl1pPr>
            <a:lvl2pPr>
              <a:buFontTx/>
              <a:buNone/>
              <a:defRPr/>
            </a:lvl2pPr>
            <a:lvl3pPr>
              <a:buFontTx/>
              <a:buNone/>
              <a:defRPr/>
            </a:lvl3pPr>
            <a:lvl4pPr>
              <a:buFontTx/>
              <a:buNone/>
              <a:defRPr/>
            </a:lvl4pPr>
            <a:lvl5pPr>
              <a:buFontTx/>
              <a:buNone/>
              <a:defRPr/>
            </a:lvl5pPr>
          </a:lstStyle>
          <a:p>
            <a:pPr lvl="0"/>
            <a:r>
              <a:rPr lang="fr-FR"/>
              <a:t>Cliquez pour modifier le titre du document</a:t>
            </a:r>
          </a:p>
        </p:txBody>
      </p:sp>
      <p:pic>
        <p:nvPicPr>
          <p:cNvPr id="3" name="Image 2">
            <a:extLst>
              <a:ext uri="{FF2B5EF4-FFF2-40B4-BE49-F238E27FC236}">
                <a16:creationId xmlns:a16="http://schemas.microsoft.com/office/drawing/2014/main" id="{499B47D5-1307-482A-B67E-CE4E1570B96C}"/>
              </a:ext>
            </a:extLst>
          </p:cNvPr>
          <p:cNvPicPr>
            <a:picLocks noChangeAspect="1"/>
          </p:cNvPicPr>
          <p:nvPr/>
        </p:nvPicPr>
        <p:blipFill>
          <a:blip r:embed="rId3"/>
          <a:stretch>
            <a:fillRect/>
          </a:stretch>
        </p:blipFill>
        <p:spPr>
          <a:xfrm>
            <a:off x="250763" y="285852"/>
            <a:ext cx="2160000" cy="1191830"/>
          </a:xfrm>
          <a:prstGeom prst="rect">
            <a:avLst/>
          </a:prstGeom>
        </p:spPr>
      </p:pic>
    </p:spTree>
    <p:extLst>
      <p:ext uri="{BB962C8B-B14F-4D97-AF65-F5344CB8AC3E}">
        <p14:creationId xmlns:p14="http://schemas.microsoft.com/office/powerpoint/2010/main" val="21850688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Texte seul">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ABEFDBFD-30CA-384E-B040-FA15205531FF}"/>
              </a:ext>
            </a:extLst>
          </p:cNvPr>
          <p:cNvSpPr>
            <a:spLocks noGrp="1"/>
          </p:cNvSpPr>
          <p:nvPr>
            <p:ph type="ctrTitle" hasCustomPrompt="1"/>
          </p:nvPr>
        </p:nvSpPr>
        <p:spPr>
          <a:xfrm>
            <a:off x="0" y="0"/>
            <a:ext cx="9673389" cy="1371600"/>
          </a:xfrm>
        </p:spPr>
        <p:txBody>
          <a:bodyPr lIns="360000" rIns="540000" anchor="ctr"/>
          <a:lstStyle>
            <a:lvl1pPr marL="365125" indent="-365125" algn="l">
              <a:buFont typeface="+mj-lt"/>
              <a:buAutoNum type="arabicPeriod"/>
              <a:tabLst/>
              <a:defRPr sz="3000" b="0" i="0">
                <a:solidFill>
                  <a:srgbClr val="1089FF"/>
                </a:solidFill>
                <a:latin typeface="Work Sans ExtraLight"/>
                <a:cs typeface="Work Sans ExtraLight"/>
              </a:defRPr>
            </a:lvl1pPr>
          </a:lstStyle>
          <a:p>
            <a:r>
              <a:rPr lang="fr-FR"/>
              <a:t>Cliquez pour ajouter un titre sur une ligne</a:t>
            </a:r>
          </a:p>
        </p:txBody>
      </p:sp>
      <p:sp>
        <p:nvSpPr>
          <p:cNvPr id="2" name="Espace réservé du numéro de diapositive 1">
            <a:extLst>
              <a:ext uri="{FF2B5EF4-FFF2-40B4-BE49-F238E27FC236}">
                <a16:creationId xmlns:a16="http://schemas.microsoft.com/office/drawing/2014/main" id="{E529E65E-A125-B245-9F61-EEBBE2F17970}"/>
              </a:ext>
            </a:extLst>
          </p:cNvPr>
          <p:cNvSpPr>
            <a:spLocks noGrp="1"/>
          </p:cNvSpPr>
          <p:nvPr>
            <p:ph type="sldNum" sz="quarter" idx="10"/>
          </p:nvPr>
        </p:nvSpPr>
        <p:spPr/>
        <p:txBody>
          <a:bodyPr/>
          <a:lstStyle/>
          <a:p>
            <a:fld id="{B0E65964-A4DF-446E-B0D3-80C6F778AEE2}" type="slidenum">
              <a:rPr lang="fr-FR" smtClean="0"/>
              <a:t>‹#›</a:t>
            </a:fld>
            <a:endParaRPr lang="fr-FR"/>
          </a:p>
        </p:txBody>
      </p:sp>
      <p:sp>
        <p:nvSpPr>
          <p:cNvPr id="8" name="Espace réservé du texte 3"/>
          <p:cNvSpPr>
            <a:spLocks noGrp="1"/>
          </p:cNvSpPr>
          <p:nvPr>
            <p:ph type="body" sz="quarter" idx="11" hasCustomPrompt="1"/>
          </p:nvPr>
        </p:nvSpPr>
        <p:spPr>
          <a:xfrm>
            <a:off x="360363" y="1743075"/>
            <a:ext cx="11222372" cy="3946525"/>
          </a:xfrm>
        </p:spPr>
        <p:txBody>
          <a:bodyPr/>
          <a:lstStyle/>
          <a:p>
            <a:pPr lvl="0"/>
            <a:r>
              <a:rPr lang="fr-FR"/>
              <a:t>Cliquez pour entrer votre texte</a:t>
            </a:r>
          </a:p>
          <a:p>
            <a:pPr lvl="1"/>
            <a:r>
              <a:rPr lang="fr-FR"/>
              <a:t>Deuxième niveau</a:t>
            </a:r>
          </a:p>
          <a:p>
            <a:pPr lvl="2"/>
            <a:r>
              <a:rPr lang="fr-FR"/>
              <a:t>Troisième niveau</a:t>
            </a:r>
          </a:p>
          <a:p>
            <a:pPr lvl="3"/>
            <a:r>
              <a:rPr lang="fr-FR"/>
              <a:t>Quatrième niveau</a:t>
            </a:r>
          </a:p>
          <a:p>
            <a:pPr lvl="4"/>
            <a:r>
              <a:rPr lang="fr-FR"/>
              <a:t>Cinquième niveau</a:t>
            </a:r>
          </a:p>
        </p:txBody>
      </p:sp>
      <p:pic>
        <p:nvPicPr>
          <p:cNvPr id="9" name="Image 8">
            <a:extLst>
              <a:ext uri="{FF2B5EF4-FFF2-40B4-BE49-F238E27FC236}">
                <a16:creationId xmlns:a16="http://schemas.microsoft.com/office/drawing/2014/main" id="{EA2D4148-3184-4AC0-9F52-50CA65411F9D}"/>
              </a:ext>
            </a:extLst>
          </p:cNvPr>
          <p:cNvPicPr>
            <a:picLocks noChangeAspect="1"/>
          </p:cNvPicPr>
          <p:nvPr/>
        </p:nvPicPr>
        <p:blipFill>
          <a:blip r:embed="rId2"/>
          <a:stretch>
            <a:fillRect/>
          </a:stretch>
        </p:blipFill>
        <p:spPr>
          <a:xfrm>
            <a:off x="189164" y="6123108"/>
            <a:ext cx="1029600" cy="568105"/>
          </a:xfrm>
          <a:prstGeom prst="rect">
            <a:avLst/>
          </a:prstGeom>
        </p:spPr>
      </p:pic>
    </p:spTree>
    <p:extLst>
      <p:ext uri="{BB962C8B-B14F-4D97-AF65-F5344CB8AC3E}">
        <p14:creationId xmlns:p14="http://schemas.microsoft.com/office/powerpoint/2010/main" val="18321790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3F33398A-DDC9-E659-B917-24F8B1D6F59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777BEC39-6B61-97AB-0ACE-1B96B1B4F8D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B323978F-E6D6-59ED-CFCE-4B316BA5E0C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DC4102A-BFAA-4491-B4FA-A556E3D663FA}"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62CDF049-8676-2D2E-E3C4-A241FD9BFAC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E0BAC417-E30B-E564-328E-FF74C3C9FE3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7742F42-51C1-45C2-B20A-B01148E0B018}" type="slidenum">
              <a:rPr lang="fr-FR" smtClean="0"/>
              <a:t>‹#›</a:t>
            </a:fld>
            <a:endParaRPr lang="fr-FR"/>
          </a:p>
        </p:txBody>
      </p:sp>
      <p:sp>
        <p:nvSpPr>
          <p:cNvPr id="8" name="ZoneTexte 7">
            <a:extLst>
              <a:ext uri="{FF2B5EF4-FFF2-40B4-BE49-F238E27FC236}">
                <a16:creationId xmlns:a16="http://schemas.microsoft.com/office/drawing/2014/main" id="{1C5673F1-22AB-8C31-A5B1-BDF275D09DCF}"/>
              </a:ext>
            </a:extLst>
          </p:cNvPr>
          <p:cNvSpPr txBox="1"/>
          <p:nvPr userDrawn="1">
            <p:extLst>
              <p:ext uri="{1162E1C5-73C7-4A58-AE30-91384D911F3F}">
                <p184:classification xmlns:p184="http://schemas.microsoft.com/office/powerpoint/2018/4/main" val="ftr"/>
              </p:ext>
            </p:extLst>
          </p:nvPr>
        </p:nvSpPr>
        <p:spPr>
          <a:xfrm>
            <a:off x="10496550" y="6705600"/>
            <a:ext cx="1724025" cy="152400"/>
          </a:xfrm>
          <a:prstGeom prst="rect">
            <a:avLst/>
          </a:prstGeom>
        </p:spPr>
        <p:txBody>
          <a:bodyPr horzOverflow="overflow" lIns="0" tIns="0" rIns="0" bIns="0">
            <a:spAutoFit/>
          </a:bodyPr>
          <a:lstStyle/>
          <a:p>
            <a:pPr algn="l"/>
            <a:r>
              <a:rPr lang="fr-FR" sz="1000">
                <a:solidFill>
                  <a:srgbClr val="000000"/>
                </a:solidFill>
                <a:latin typeface="Calibri" panose="020F0502020204030204" pitchFamily="34" charset="0"/>
                <a:cs typeface="Calibri" panose="020F0502020204030204" pitchFamily="34" charset="0"/>
              </a:rPr>
              <a:t>IZIVIA Classification : C1 - Interne</a:t>
            </a:r>
          </a:p>
        </p:txBody>
      </p:sp>
    </p:spTree>
    <p:extLst>
      <p:ext uri="{BB962C8B-B14F-4D97-AF65-F5344CB8AC3E}">
        <p14:creationId xmlns:p14="http://schemas.microsoft.com/office/powerpoint/2010/main" val="17243332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www.google.fr/maps/" TargetMode="Externa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8" Type="http://schemas.openxmlformats.org/officeDocument/2006/relationships/image" Target="../media/image28.jpg"/><Relationship Id="rId13" Type="http://schemas.openxmlformats.org/officeDocument/2006/relationships/image" Target="../media/image33.gif"/><Relationship Id="rId3" Type="http://schemas.openxmlformats.org/officeDocument/2006/relationships/image" Target="../media/image23.png"/><Relationship Id="rId7" Type="http://schemas.openxmlformats.org/officeDocument/2006/relationships/image" Target="../media/image27.png"/><Relationship Id="rId12" Type="http://schemas.openxmlformats.org/officeDocument/2006/relationships/image" Target="../media/image32.gif"/><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26.png"/><Relationship Id="rId11" Type="http://schemas.openxmlformats.org/officeDocument/2006/relationships/image" Target="../media/image31.gif"/><Relationship Id="rId5" Type="http://schemas.openxmlformats.org/officeDocument/2006/relationships/image" Target="../media/image25.gif"/><Relationship Id="rId10" Type="http://schemas.openxmlformats.org/officeDocument/2006/relationships/image" Target="../media/image30.gif"/><Relationship Id="rId4" Type="http://schemas.openxmlformats.org/officeDocument/2006/relationships/image" Target="../media/image24.png"/><Relationship Id="rId9" Type="http://schemas.openxmlformats.org/officeDocument/2006/relationships/image" Target="../media/image29.gi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1">
            <a:extLst>
              <a:ext uri="{FF2B5EF4-FFF2-40B4-BE49-F238E27FC236}">
                <a16:creationId xmlns:a16="http://schemas.microsoft.com/office/drawing/2014/main" id="{0BB7CE19-D078-4864-B5E0-9EE84D637F23}"/>
              </a:ext>
            </a:extLst>
          </p:cNvPr>
          <p:cNvSpPr>
            <a:spLocks noGrp="1"/>
          </p:cNvSpPr>
          <p:nvPr>
            <p:ph type="body" sz="quarter" idx="11"/>
          </p:nvPr>
        </p:nvSpPr>
        <p:spPr>
          <a:xfrm>
            <a:off x="1" y="1800000"/>
            <a:ext cx="5342562" cy="5058000"/>
          </a:xfrm>
        </p:spPr>
        <p:txBody>
          <a:bodyPr/>
          <a:lstStyle/>
          <a:p>
            <a:r>
              <a:rPr lang="fr-FR" sz="3200" b="1" dirty="0"/>
              <a:t>IZIVIA</a:t>
            </a:r>
          </a:p>
          <a:p>
            <a:r>
              <a:rPr lang="fr-FR" sz="3200" b="1" dirty="0"/>
              <a:t>Avant-Projet Détaillé Standard</a:t>
            </a:r>
          </a:p>
          <a:p>
            <a:endParaRPr lang="fr-FR" sz="3200" dirty="0"/>
          </a:p>
          <a:p>
            <a:r>
              <a:rPr lang="fr-FR" sz="2000" i="1" dirty="0"/>
              <a:t>Site : </a:t>
            </a:r>
          </a:p>
          <a:p>
            <a:r>
              <a:rPr lang="fr-FR" sz="2000" i="1" dirty="0"/>
              <a:t>Version : 1</a:t>
            </a:r>
          </a:p>
          <a:p>
            <a:r>
              <a:rPr lang="fr-FR" sz="2000" i="1" dirty="0"/>
              <a:t>Date de rédaction : </a:t>
            </a:r>
          </a:p>
          <a:p>
            <a:r>
              <a:rPr lang="fr-FR" sz="2000" i="1" dirty="0"/>
              <a:t>Rédacteur :</a:t>
            </a:r>
          </a:p>
          <a:p>
            <a:pPr>
              <a:spcBef>
                <a:spcPts val="0"/>
              </a:spcBef>
            </a:pPr>
            <a:r>
              <a:rPr lang="fr-FR" sz="2000" i="1" dirty="0"/>
              <a:t>Mail : </a:t>
            </a:r>
          </a:p>
          <a:p>
            <a:pPr>
              <a:spcBef>
                <a:spcPts val="0"/>
              </a:spcBef>
            </a:pPr>
            <a:r>
              <a:rPr lang="fr-FR" sz="2000" i="1" dirty="0" err="1"/>
              <a:t>Num</a:t>
            </a:r>
            <a:r>
              <a:rPr lang="fr-FR" sz="2000" i="1" dirty="0"/>
              <a:t> :</a:t>
            </a:r>
          </a:p>
          <a:p>
            <a:r>
              <a:rPr lang="fr-FR" sz="2000" i="1" dirty="0"/>
              <a:t>N° opportunité : </a:t>
            </a:r>
          </a:p>
        </p:txBody>
      </p:sp>
    </p:spTree>
    <p:extLst>
      <p:ext uri="{BB962C8B-B14F-4D97-AF65-F5344CB8AC3E}">
        <p14:creationId xmlns:p14="http://schemas.microsoft.com/office/powerpoint/2010/main" val="8030604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au 6">
            <a:extLst>
              <a:ext uri="{FF2B5EF4-FFF2-40B4-BE49-F238E27FC236}">
                <a16:creationId xmlns:a16="http://schemas.microsoft.com/office/drawing/2014/main" id="{C1418DA3-AD69-4918-9A7E-CF1ED3FF4218}"/>
              </a:ext>
            </a:extLst>
          </p:cNvPr>
          <p:cNvGraphicFramePr>
            <a:graphicFrameLocks noGrp="1"/>
          </p:cNvGraphicFramePr>
          <p:nvPr>
            <p:extLst>
              <p:ext uri="{D42A27DB-BD31-4B8C-83A1-F6EECF244321}">
                <p14:modId xmlns:p14="http://schemas.microsoft.com/office/powerpoint/2010/main" val="1722991471"/>
              </p:ext>
            </p:extLst>
          </p:nvPr>
        </p:nvGraphicFramePr>
        <p:xfrm>
          <a:off x="129459" y="70274"/>
          <a:ext cx="11954279" cy="6556080"/>
        </p:xfrm>
        <a:graphic>
          <a:graphicData uri="http://schemas.openxmlformats.org/drawingml/2006/table">
            <a:tbl>
              <a:tblPr firstRow="1" bandRow="1">
                <a:tableStyleId>{5940675A-B579-460E-94D1-54222C63F5DA}</a:tableStyleId>
              </a:tblPr>
              <a:tblGrid>
                <a:gridCol w="2357709">
                  <a:extLst>
                    <a:ext uri="{9D8B030D-6E8A-4147-A177-3AD203B41FA5}">
                      <a16:colId xmlns:a16="http://schemas.microsoft.com/office/drawing/2014/main" val="3627121043"/>
                    </a:ext>
                  </a:extLst>
                </a:gridCol>
                <a:gridCol w="1176313">
                  <a:extLst>
                    <a:ext uri="{9D8B030D-6E8A-4147-A177-3AD203B41FA5}">
                      <a16:colId xmlns:a16="http://schemas.microsoft.com/office/drawing/2014/main" val="3056065640"/>
                    </a:ext>
                  </a:extLst>
                </a:gridCol>
                <a:gridCol w="626980">
                  <a:extLst>
                    <a:ext uri="{9D8B030D-6E8A-4147-A177-3AD203B41FA5}">
                      <a16:colId xmlns:a16="http://schemas.microsoft.com/office/drawing/2014/main" val="1201520086"/>
                    </a:ext>
                  </a:extLst>
                </a:gridCol>
                <a:gridCol w="915775">
                  <a:extLst>
                    <a:ext uri="{9D8B030D-6E8A-4147-A177-3AD203B41FA5}">
                      <a16:colId xmlns:a16="http://schemas.microsoft.com/office/drawing/2014/main" val="436378668"/>
                    </a:ext>
                  </a:extLst>
                </a:gridCol>
                <a:gridCol w="588950">
                  <a:extLst>
                    <a:ext uri="{9D8B030D-6E8A-4147-A177-3AD203B41FA5}">
                      <a16:colId xmlns:a16="http://schemas.microsoft.com/office/drawing/2014/main" val="483153839"/>
                    </a:ext>
                  </a:extLst>
                </a:gridCol>
                <a:gridCol w="298568">
                  <a:extLst>
                    <a:ext uri="{9D8B030D-6E8A-4147-A177-3AD203B41FA5}">
                      <a16:colId xmlns:a16="http://schemas.microsoft.com/office/drawing/2014/main" val="1833969674"/>
                    </a:ext>
                  </a:extLst>
                </a:gridCol>
                <a:gridCol w="1139150">
                  <a:extLst>
                    <a:ext uri="{9D8B030D-6E8A-4147-A177-3AD203B41FA5}">
                      <a16:colId xmlns:a16="http://schemas.microsoft.com/office/drawing/2014/main" val="4290629443"/>
                    </a:ext>
                  </a:extLst>
                </a:gridCol>
                <a:gridCol w="244574">
                  <a:extLst>
                    <a:ext uri="{9D8B030D-6E8A-4147-A177-3AD203B41FA5}">
                      <a16:colId xmlns:a16="http://schemas.microsoft.com/office/drawing/2014/main" val="2812678536"/>
                    </a:ext>
                  </a:extLst>
                </a:gridCol>
                <a:gridCol w="218560">
                  <a:extLst>
                    <a:ext uri="{9D8B030D-6E8A-4147-A177-3AD203B41FA5}">
                      <a16:colId xmlns:a16="http://schemas.microsoft.com/office/drawing/2014/main" val="728589866"/>
                    </a:ext>
                  </a:extLst>
                </a:gridCol>
                <a:gridCol w="551925">
                  <a:extLst>
                    <a:ext uri="{9D8B030D-6E8A-4147-A177-3AD203B41FA5}">
                      <a16:colId xmlns:a16="http://schemas.microsoft.com/office/drawing/2014/main" val="3945829109"/>
                    </a:ext>
                  </a:extLst>
                </a:gridCol>
                <a:gridCol w="942162">
                  <a:extLst>
                    <a:ext uri="{9D8B030D-6E8A-4147-A177-3AD203B41FA5}">
                      <a16:colId xmlns:a16="http://schemas.microsoft.com/office/drawing/2014/main" val="2856235503"/>
                    </a:ext>
                  </a:extLst>
                </a:gridCol>
                <a:gridCol w="375269">
                  <a:extLst>
                    <a:ext uri="{9D8B030D-6E8A-4147-A177-3AD203B41FA5}">
                      <a16:colId xmlns:a16="http://schemas.microsoft.com/office/drawing/2014/main" val="767461900"/>
                    </a:ext>
                  </a:extLst>
                </a:gridCol>
                <a:gridCol w="909395">
                  <a:extLst>
                    <a:ext uri="{9D8B030D-6E8A-4147-A177-3AD203B41FA5}">
                      <a16:colId xmlns:a16="http://schemas.microsoft.com/office/drawing/2014/main" val="3151034461"/>
                    </a:ext>
                  </a:extLst>
                </a:gridCol>
                <a:gridCol w="349779">
                  <a:extLst>
                    <a:ext uri="{9D8B030D-6E8A-4147-A177-3AD203B41FA5}">
                      <a16:colId xmlns:a16="http://schemas.microsoft.com/office/drawing/2014/main" val="1163448197"/>
                    </a:ext>
                  </a:extLst>
                </a:gridCol>
                <a:gridCol w="1259170">
                  <a:extLst>
                    <a:ext uri="{9D8B030D-6E8A-4147-A177-3AD203B41FA5}">
                      <a16:colId xmlns:a16="http://schemas.microsoft.com/office/drawing/2014/main" val="3734625455"/>
                    </a:ext>
                  </a:extLst>
                </a:gridCol>
              </a:tblGrid>
              <a:tr h="234172">
                <a:tc gridSpan="15">
                  <a:txBody>
                    <a:bodyPr/>
                    <a:lstStyle/>
                    <a:p>
                      <a:r>
                        <a:rPr lang="fr-FR" sz="1050" b="1" dirty="0">
                          <a:solidFill>
                            <a:schemeClr val="bg1"/>
                          </a:solidFill>
                          <a:latin typeface="Work Sans" panose="00000500000000000000" pitchFamily="2" charset="0"/>
                        </a:rPr>
                        <a:t>INFORMATIONS GENERALES</a:t>
                      </a:r>
                    </a:p>
                  </a:txBody>
                  <a:tcPr>
                    <a:solidFill>
                      <a:schemeClr val="accent1"/>
                    </a:solidFill>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2459031976"/>
                  </a:ext>
                </a:extLst>
              </a:tr>
              <a:tr h="247947">
                <a:tc gridSpan="4">
                  <a:txBody>
                    <a:bodyPr/>
                    <a:lstStyle/>
                    <a:p>
                      <a:r>
                        <a:rPr lang="fr-FR" sz="1050" dirty="0">
                          <a:latin typeface="Work Sans" panose="00000500000000000000" pitchFamily="2" charset="0"/>
                        </a:rPr>
                        <a:t>Nom du site</a:t>
                      </a:r>
                    </a:p>
                  </a:txBody>
                  <a:tcPr/>
                </a:tc>
                <a:tc hMerge="1">
                  <a:txBody>
                    <a:bodyPr/>
                    <a:lstStyle/>
                    <a:p>
                      <a:endParaRPr lang="fr-FR"/>
                    </a:p>
                  </a:txBody>
                  <a:tcPr/>
                </a:tc>
                <a:tc hMerge="1">
                  <a:txBody>
                    <a:bodyPr/>
                    <a:lstStyle/>
                    <a:p>
                      <a:endParaRPr lang="fr-FR" sz="1200" dirty="0">
                        <a:latin typeface="Work Sans" panose="00000500000000000000" pitchFamily="2" charset="0"/>
                      </a:endParaRPr>
                    </a:p>
                  </a:txBody>
                  <a:tcPr/>
                </a:tc>
                <a:tc hMerge="1">
                  <a:txBody>
                    <a:bodyPr/>
                    <a:lstStyle/>
                    <a:p>
                      <a:endParaRPr lang="fr-FR"/>
                    </a:p>
                  </a:txBody>
                  <a:tcPr/>
                </a:tc>
                <a:tc gridSpan="11">
                  <a:txBody>
                    <a:bodyPr/>
                    <a:lstStyle/>
                    <a:p>
                      <a:endParaRPr lang="fr-FR" sz="1100" dirty="0">
                        <a:latin typeface="Work Sans" panose="00000500000000000000" pitchFamily="2" charset="0"/>
                      </a:endParaRPr>
                    </a:p>
                  </a:txBody>
                  <a:tcPr>
                    <a:solidFill>
                      <a:schemeClr val="accent5">
                        <a:lumMod val="20000"/>
                        <a:lumOff val="80000"/>
                      </a:schemeClr>
                    </a:solidFill>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3376898892"/>
                  </a:ext>
                </a:extLst>
              </a:tr>
              <a:tr h="247947">
                <a:tc gridSpan="4">
                  <a:txBody>
                    <a:bodyPr/>
                    <a:lstStyle/>
                    <a:p>
                      <a:r>
                        <a:rPr lang="fr-FR" sz="1050" dirty="0">
                          <a:latin typeface="Work Sans" panose="00000500000000000000" pitchFamily="2" charset="0"/>
                        </a:rPr>
                        <a:t>Adresse du site / Coordonnées GPS</a:t>
                      </a:r>
                    </a:p>
                  </a:txBody>
                  <a:tcPr/>
                </a:tc>
                <a:tc hMerge="1">
                  <a:txBody>
                    <a:bodyPr/>
                    <a:lstStyle/>
                    <a:p>
                      <a:endParaRPr lang="fr-FR"/>
                    </a:p>
                  </a:txBody>
                  <a:tcPr/>
                </a:tc>
                <a:tc hMerge="1">
                  <a:txBody>
                    <a:bodyPr/>
                    <a:lstStyle/>
                    <a:p>
                      <a:endParaRPr lang="fr-FR" sz="1200" dirty="0">
                        <a:latin typeface="Work Sans" panose="00000500000000000000" pitchFamily="2" charset="0"/>
                      </a:endParaRPr>
                    </a:p>
                  </a:txBody>
                  <a:tcPr/>
                </a:tc>
                <a:tc hMerge="1">
                  <a:txBody>
                    <a:bodyPr/>
                    <a:lstStyle/>
                    <a:p>
                      <a:endParaRPr lang="fr-FR"/>
                    </a:p>
                  </a:txBody>
                  <a:tcPr/>
                </a:tc>
                <a:tc gridSpan="11">
                  <a:txBody>
                    <a:bodyPr/>
                    <a:lstStyle/>
                    <a:p>
                      <a:endParaRPr lang="fr-FR" sz="1100" dirty="0">
                        <a:latin typeface="Work Sans" panose="00000500000000000000" pitchFamily="2" charset="0"/>
                      </a:endParaRPr>
                    </a:p>
                  </a:txBody>
                  <a:tcPr>
                    <a:solidFill>
                      <a:schemeClr val="accent5">
                        <a:lumMod val="20000"/>
                        <a:lumOff val="80000"/>
                      </a:schemeClr>
                    </a:solidFill>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2383640335"/>
                  </a:ext>
                </a:extLst>
              </a:tr>
              <a:tr h="247947">
                <a:tc gridSpan="4">
                  <a:txBody>
                    <a:bodyPr/>
                    <a:lstStyle/>
                    <a:p>
                      <a:r>
                        <a:rPr lang="fr-FR" sz="1050" dirty="0">
                          <a:latin typeface="Work Sans" panose="00000500000000000000" pitchFamily="2" charset="0"/>
                        </a:rPr>
                        <a:t>Date de la visite technique</a:t>
                      </a:r>
                    </a:p>
                  </a:txBody>
                  <a:tcPr/>
                </a:tc>
                <a:tc hMerge="1">
                  <a:txBody>
                    <a:bodyPr/>
                    <a:lstStyle/>
                    <a:p>
                      <a:endParaRPr lang="fr-FR"/>
                    </a:p>
                  </a:txBody>
                  <a:tcPr/>
                </a:tc>
                <a:tc hMerge="1">
                  <a:txBody>
                    <a:bodyPr/>
                    <a:lstStyle/>
                    <a:p>
                      <a:endParaRPr lang="fr-FR" sz="1200" dirty="0">
                        <a:latin typeface="Work Sans" panose="00000500000000000000" pitchFamily="2" charset="0"/>
                      </a:endParaRPr>
                    </a:p>
                  </a:txBody>
                  <a:tcPr/>
                </a:tc>
                <a:tc hMerge="1">
                  <a:txBody>
                    <a:bodyPr/>
                    <a:lstStyle/>
                    <a:p>
                      <a:endParaRPr lang="fr-FR"/>
                    </a:p>
                  </a:txBody>
                  <a:tcPr/>
                </a:tc>
                <a:tc gridSpan="11">
                  <a:txBody>
                    <a:bodyPr/>
                    <a:lstStyle/>
                    <a:p>
                      <a:endParaRPr lang="fr-FR" sz="1100" dirty="0">
                        <a:latin typeface="Work Sans" panose="00000500000000000000" pitchFamily="2" charset="0"/>
                      </a:endParaRPr>
                    </a:p>
                  </a:txBody>
                  <a:tcPr>
                    <a:solidFill>
                      <a:schemeClr val="accent5">
                        <a:lumMod val="20000"/>
                        <a:lumOff val="80000"/>
                      </a:schemeClr>
                    </a:solidFill>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925978482"/>
                  </a:ext>
                </a:extLst>
              </a:tr>
              <a:tr h="234172">
                <a:tc gridSpan="15">
                  <a:txBody>
                    <a:bodyPr/>
                    <a:lstStyle/>
                    <a:p>
                      <a:pPr marL="0" algn="l" defTabSz="914400" rtl="0" eaLnBrk="1" latinLnBrk="0" hangingPunct="1"/>
                      <a:r>
                        <a:rPr lang="fr-CA" sz="1050" b="1" kern="1200" dirty="0">
                          <a:solidFill>
                            <a:schemeClr val="bg1"/>
                          </a:solidFill>
                          <a:latin typeface="Work Sans" panose="00000500000000000000" pitchFamily="2" charset="0"/>
                          <a:ea typeface="+mn-ea"/>
                          <a:cs typeface="+mn-cs"/>
                        </a:rPr>
                        <a:t>NOMBRE ET TYPES DE BORNE SOUHAITEES</a:t>
                      </a:r>
                      <a:endParaRPr lang="fr-FR" sz="1050" b="1" kern="1200" dirty="0">
                        <a:solidFill>
                          <a:schemeClr val="bg1"/>
                        </a:solidFill>
                        <a:latin typeface="Work Sans" panose="00000500000000000000" pitchFamily="2" charset="0"/>
                        <a:ea typeface="+mn-ea"/>
                        <a:cs typeface="+mn-cs"/>
                      </a:endParaRPr>
                    </a:p>
                  </a:txBody>
                  <a:tcPr>
                    <a:solidFill>
                      <a:schemeClr val="accent1"/>
                    </a:solidFill>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latin typeface="Work Sans" panose="00000500000000000000" pitchFamily="2" charset="0"/>
                      </a:endParaRP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dirty="0"/>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2734880234"/>
                  </a:ext>
                </a:extLst>
              </a:tr>
              <a:tr h="234172">
                <a:tc gridSpan="2">
                  <a:txBody>
                    <a:bodyPr/>
                    <a:lstStyle/>
                    <a:p>
                      <a:pPr marL="0" algn="ctr" defTabSz="914400" rtl="0" eaLnBrk="1" latinLnBrk="0" hangingPunct="1"/>
                      <a:r>
                        <a:rPr lang="fr-FR" sz="1050" b="1" kern="1200" dirty="0">
                          <a:solidFill>
                            <a:schemeClr val="tx1"/>
                          </a:solidFill>
                          <a:latin typeface="Work Sans" panose="00000500000000000000" pitchFamily="2" charset="0"/>
                          <a:ea typeface="+mn-ea"/>
                          <a:cs typeface="+mn-cs"/>
                        </a:rPr>
                        <a:t>PUISSANCE</a:t>
                      </a:r>
                    </a:p>
                  </a:txBody>
                  <a:tcPr anchor="ctr"/>
                </a:tc>
                <a:tc hMerge="1">
                  <a:txBody>
                    <a:bodyPr/>
                    <a:lstStyle/>
                    <a:p>
                      <a:pPr marL="0" algn="ctr" defTabSz="914400" rtl="0" eaLnBrk="1" latinLnBrk="0" hangingPunct="1"/>
                      <a:endParaRPr lang="fr-FR" sz="1100" b="1" kern="1200" dirty="0">
                        <a:solidFill>
                          <a:schemeClr val="tx1"/>
                        </a:solidFill>
                        <a:latin typeface="Work Sans" panose="00000500000000000000" pitchFamily="2" charset="0"/>
                        <a:ea typeface="+mn-ea"/>
                        <a:cs typeface="+mn-cs"/>
                      </a:endParaRPr>
                    </a:p>
                  </a:txBody>
                  <a:tcPr anchor="ctr"/>
                </a:tc>
                <a:tc gridSpan="5">
                  <a:txBody>
                    <a:bodyPr/>
                    <a:lstStyle/>
                    <a:p>
                      <a:pPr marL="0" algn="ctr" defTabSz="914400" rtl="0" eaLnBrk="1" latinLnBrk="0" hangingPunct="1"/>
                      <a:r>
                        <a:rPr lang="fr-FR" sz="1050" b="1" dirty="0">
                          <a:latin typeface="Work Sans" panose="00000500000000000000" pitchFamily="2" charset="0"/>
                        </a:rPr>
                        <a:t>MARQUE - MODÈLE</a:t>
                      </a:r>
                      <a:endParaRPr lang="fr-FR" sz="1050" b="1" kern="1200" dirty="0">
                        <a:solidFill>
                          <a:schemeClr val="tx1"/>
                        </a:solidFill>
                        <a:latin typeface="Work Sans" panose="00000500000000000000" pitchFamily="2" charset="0"/>
                        <a:ea typeface="+mn-ea"/>
                        <a:cs typeface="+mn-cs"/>
                      </a:endParaRPr>
                    </a:p>
                  </a:txBody>
                  <a:tcPr anchor="ctr"/>
                </a:tc>
                <a:tc hMerge="1">
                  <a:txBody>
                    <a:bodyPr/>
                    <a:lstStyle/>
                    <a:p>
                      <a:endParaRPr lang="fr-FR"/>
                    </a:p>
                  </a:txBody>
                  <a:tcPr/>
                </a:tc>
                <a:tc hMerge="1">
                  <a:txBody>
                    <a:bodyPr/>
                    <a:lstStyle/>
                    <a:p>
                      <a:pPr algn="ctr"/>
                      <a:r>
                        <a:rPr lang="fr-FR" sz="1400" b="1" dirty="0">
                          <a:latin typeface="Work Sans" panose="00000500000000000000" pitchFamily="2" charset="0"/>
                        </a:rPr>
                        <a:t>MARQUE - MODÈLE</a:t>
                      </a:r>
                    </a:p>
                  </a:txBody>
                  <a:tcPr anchor="ctr"/>
                </a:tc>
                <a:tc hMerge="1">
                  <a:txBody>
                    <a:bodyPr/>
                    <a:lstStyle/>
                    <a:p>
                      <a:endParaRPr lang="fr-FR"/>
                    </a:p>
                  </a:txBody>
                  <a:tcPr/>
                </a:tc>
                <a:tc hMerge="1">
                  <a:txBody>
                    <a:bodyPr/>
                    <a:lstStyle/>
                    <a:p>
                      <a:pPr marL="0" algn="ctr" defTabSz="914400" rtl="0" eaLnBrk="1" latinLnBrk="0" hangingPunct="1"/>
                      <a:endParaRPr lang="fr-FR" sz="1100" b="1" kern="1200" dirty="0">
                        <a:solidFill>
                          <a:schemeClr val="tx1"/>
                        </a:solidFill>
                        <a:latin typeface="Work Sans" panose="00000500000000000000" pitchFamily="2" charset="0"/>
                        <a:ea typeface="+mn-ea"/>
                        <a:cs typeface="+mn-cs"/>
                      </a:endParaRPr>
                    </a:p>
                  </a:txBody>
                  <a:tcPr anchor="ctr"/>
                </a:tc>
                <a:tc gridSpan="8">
                  <a:txBody>
                    <a:bodyPr/>
                    <a:lstStyle/>
                    <a:p>
                      <a:r>
                        <a:rPr lang="fr-FR" sz="1050" b="1" kern="1200">
                          <a:solidFill>
                            <a:schemeClr val="tx1"/>
                          </a:solidFill>
                          <a:latin typeface="Work Sans" panose="00000500000000000000" pitchFamily="2" charset="0"/>
                          <a:ea typeface="+mn-ea"/>
                          <a:cs typeface="+mn-cs"/>
                        </a:rPr>
                        <a:t>Quantité</a:t>
                      </a:r>
                      <a:endParaRPr lang="fr-FR" sz="1600"/>
                    </a:p>
                  </a:txBody>
                  <a:tcPr anchor="ctr"/>
                </a:tc>
                <a:tc hMerge="1">
                  <a:txBody>
                    <a:bodyPr/>
                    <a:lstStyle/>
                    <a:p>
                      <a:endParaRPr lang="fr-FR"/>
                    </a:p>
                  </a:txBody>
                  <a:tcPr/>
                </a:tc>
                <a:tc hMerge="1">
                  <a:txBody>
                    <a:bodyPr/>
                    <a:lstStyle/>
                    <a:p>
                      <a:r>
                        <a:rPr lang="fr-FR" sz="1100" b="1" kern="1200">
                          <a:solidFill>
                            <a:schemeClr val="tx1"/>
                          </a:solidFill>
                          <a:latin typeface="Work Sans" panose="00000500000000000000" pitchFamily="2" charset="0"/>
                          <a:ea typeface="+mn-ea"/>
                          <a:cs typeface="+mn-cs"/>
                        </a:rPr>
                        <a:t>Quantité</a:t>
                      </a:r>
                      <a:endParaRPr lang="fr-FR"/>
                    </a:p>
                  </a:txBody>
                  <a:tcPr anchor="ctr"/>
                </a:tc>
                <a:tc hMerge="1">
                  <a:txBody>
                    <a:bodyPr/>
                    <a:lstStyle/>
                    <a:p>
                      <a:r>
                        <a:rPr lang="fr-FR" sz="1100" b="1" kern="1200">
                          <a:solidFill>
                            <a:schemeClr val="tx1"/>
                          </a:solidFill>
                          <a:latin typeface="Work Sans" panose="00000500000000000000" pitchFamily="2" charset="0"/>
                          <a:ea typeface="+mn-ea"/>
                          <a:cs typeface="+mn-cs"/>
                        </a:rPr>
                        <a:t>Quantité</a:t>
                      </a:r>
                      <a:endParaRPr lang="fr-FR"/>
                    </a:p>
                  </a:txBody>
                  <a:tcPr anchor="ctr"/>
                </a:tc>
                <a:tc hMerge="1">
                  <a:txBody>
                    <a:bodyPr/>
                    <a:lstStyle/>
                    <a:p>
                      <a:endParaRPr lang="fr-FR"/>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b="1" kern="1200" dirty="0">
                          <a:solidFill>
                            <a:schemeClr val="tx1"/>
                          </a:solidFill>
                          <a:latin typeface="Work Sans" panose="00000500000000000000" pitchFamily="2" charset="0"/>
                          <a:ea typeface="+mn-ea"/>
                          <a:cs typeface="+mn-cs"/>
                        </a:rPr>
                        <a:t>Quantité</a:t>
                      </a:r>
                    </a:p>
                  </a:txBody>
                  <a:tcPr anchor="ct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3980837211"/>
                  </a:ext>
                </a:extLst>
              </a:tr>
              <a:tr h="330596">
                <a:tc gridSpan="2">
                  <a:txBody>
                    <a:bodyPr/>
                    <a:lstStyle/>
                    <a:p>
                      <a:pPr marL="0" algn="l" defTabSz="914400" rtl="0" eaLnBrk="1" latinLnBrk="0" hangingPunct="1">
                        <a:lnSpc>
                          <a:spcPct val="107000"/>
                        </a:lnSpc>
                        <a:spcAft>
                          <a:spcPts val="800"/>
                        </a:spcAft>
                      </a:pPr>
                      <a:r>
                        <a:rPr lang="fr-FR" sz="1050" kern="1200" dirty="0">
                          <a:solidFill>
                            <a:schemeClr val="tx1"/>
                          </a:solidFill>
                          <a:latin typeface="Work Sans" panose="00000500000000000000" pitchFamily="2" charset="0"/>
                          <a:ea typeface="+mn-ea"/>
                          <a:cs typeface="+mn-cs"/>
                        </a:rPr>
                        <a:t>Borne mono AC : 3,7 kW(16A) / 7,4 kW (32A)</a:t>
                      </a:r>
                    </a:p>
                  </a:txBody>
                  <a:tcPr marL="34925" marR="34925" marT="34925" marB="34925"/>
                </a:tc>
                <a:tc hMerge="1">
                  <a:txBody>
                    <a:bodyPr/>
                    <a:lstStyle/>
                    <a:p>
                      <a:pPr marL="0" algn="l" defTabSz="914400" rtl="0" eaLnBrk="1" latinLnBrk="0" hangingPunct="1">
                        <a:lnSpc>
                          <a:spcPct val="107000"/>
                        </a:lnSpc>
                        <a:spcAft>
                          <a:spcPts val="800"/>
                        </a:spcAft>
                      </a:pPr>
                      <a:endParaRPr lang="fr-FR" sz="1100" kern="1200" dirty="0">
                        <a:solidFill>
                          <a:schemeClr val="tx1"/>
                        </a:solidFill>
                        <a:highlight>
                          <a:srgbClr val="FFFF00"/>
                        </a:highlight>
                        <a:latin typeface="Work Sans" panose="00000500000000000000" pitchFamily="2" charset="0"/>
                        <a:ea typeface="+mn-ea"/>
                        <a:cs typeface="+mn-cs"/>
                      </a:endParaRPr>
                    </a:p>
                  </a:txBody>
                  <a:tcPr marL="34925" marR="34925" marT="34925" marB="34925"/>
                </a:tc>
                <a:tc gridSpan="5">
                  <a:txBody>
                    <a:bodyPr/>
                    <a:lstStyle/>
                    <a:p>
                      <a:pPr marL="0" algn="l" defTabSz="914400" rtl="0" eaLnBrk="1" latinLnBrk="0" hangingPunct="1">
                        <a:lnSpc>
                          <a:spcPct val="107000"/>
                        </a:lnSpc>
                        <a:spcAft>
                          <a:spcPts val="800"/>
                        </a:spcAft>
                      </a:pPr>
                      <a:endParaRPr lang="fr-FR" sz="1050" kern="1200" dirty="0">
                        <a:solidFill>
                          <a:schemeClr val="tx1"/>
                        </a:solidFill>
                        <a:latin typeface="Work Sans" panose="00000500000000000000" pitchFamily="2" charset="0"/>
                        <a:ea typeface="+mn-ea"/>
                        <a:cs typeface="+mn-cs"/>
                      </a:endParaRPr>
                    </a:p>
                  </a:txBody>
                  <a:tcPr>
                    <a:solidFill>
                      <a:schemeClr val="accent5">
                        <a:lumMod val="20000"/>
                        <a:lumOff val="80000"/>
                      </a:schemeClr>
                    </a:solidFill>
                  </a:tcPr>
                </a:tc>
                <a:tc hMerge="1">
                  <a:txBody>
                    <a:bodyPr/>
                    <a:lstStyle/>
                    <a:p>
                      <a:endParaRPr lang="fr-FR"/>
                    </a:p>
                  </a:txBody>
                  <a:tcPr/>
                </a:tc>
                <a:tc hMerge="1">
                  <a:txBody>
                    <a:bodyPr/>
                    <a:lstStyle/>
                    <a:p>
                      <a:endParaRPr lang="fr-FR" sz="1200" dirty="0">
                        <a:latin typeface="Work Sans" panose="00000500000000000000" pitchFamily="2" charset="0"/>
                      </a:endParaRPr>
                    </a:p>
                  </a:txBody>
                  <a:tcPr/>
                </a:tc>
                <a:tc hMerge="1">
                  <a:txBody>
                    <a:bodyPr/>
                    <a:lstStyle/>
                    <a:p>
                      <a:endParaRPr lang="fr-FR"/>
                    </a:p>
                  </a:txBody>
                  <a:tcPr/>
                </a:tc>
                <a:tc hMerge="1">
                  <a:txBody>
                    <a:bodyPr/>
                    <a:lstStyle/>
                    <a:p>
                      <a:pPr marL="0" algn="l" defTabSz="914400" rtl="0" eaLnBrk="1" latinLnBrk="0" hangingPunct="1">
                        <a:lnSpc>
                          <a:spcPct val="107000"/>
                        </a:lnSpc>
                        <a:spcAft>
                          <a:spcPts val="800"/>
                        </a:spcAft>
                      </a:pPr>
                      <a:endParaRPr lang="fr-FR" sz="1100" kern="1200" dirty="0">
                        <a:solidFill>
                          <a:schemeClr val="tx1"/>
                        </a:solidFill>
                        <a:latin typeface="Work Sans" panose="00000500000000000000" pitchFamily="2" charset="0"/>
                        <a:ea typeface="+mn-ea"/>
                        <a:cs typeface="+mn-cs"/>
                      </a:endParaRPr>
                    </a:p>
                  </a:txBody>
                  <a:tcPr/>
                </a:tc>
                <a:tc gridSpan="8">
                  <a:txBody>
                    <a:bodyPr/>
                    <a:lstStyle/>
                    <a:p>
                      <a:endParaRPr lang="fr-FR" sz="1600"/>
                    </a:p>
                  </a:txBody>
                  <a:tcPr>
                    <a:solidFill>
                      <a:schemeClr val="accent5">
                        <a:lumMod val="20000"/>
                        <a:lumOff val="80000"/>
                      </a:schemeClr>
                    </a:solidFill>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sz="1200" kern="1200" dirty="0">
                        <a:solidFill>
                          <a:schemeClr val="tx1"/>
                        </a:solidFill>
                        <a:latin typeface="Work Sans" panose="00000500000000000000" pitchFamily="2" charset="0"/>
                        <a:ea typeface="+mn-ea"/>
                        <a:cs typeface="+mn-cs"/>
                      </a:endParaRPr>
                    </a:p>
                  </a:txBody>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2372339405"/>
                  </a:ext>
                </a:extLst>
              </a:tr>
              <a:tr h="330596">
                <a:tc gridSpan="2">
                  <a:txBody>
                    <a:bodyPr/>
                    <a:lstStyle/>
                    <a:p>
                      <a:pPr marL="0" algn="l" defTabSz="914400" rtl="0" eaLnBrk="1" latinLnBrk="0" hangingPunct="1">
                        <a:lnSpc>
                          <a:spcPct val="107000"/>
                        </a:lnSpc>
                        <a:spcAft>
                          <a:spcPts val="800"/>
                        </a:spcAft>
                      </a:pPr>
                      <a:r>
                        <a:rPr lang="fr-FR" sz="1050" kern="1200" dirty="0">
                          <a:solidFill>
                            <a:schemeClr val="tx1"/>
                          </a:solidFill>
                          <a:latin typeface="Work Sans" panose="00000500000000000000" pitchFamily="2" charset="0"/>
                          <a:ea typeface="+mn-ea"/>
                          <a:cs typeface="+mn-cs"/>
                        </a:rPr>
                        <a:t>Borne tri AC : 11 kW(16A) / 22 kW (32A)</a:t>
                      </a:r>
                    </a:p>
                  </a:txBody>
                  <a:tcPr marL="34925" marR="34925" marT="34925" marB="34925"/>
                </a:tc>
                <a:tc hMerge="1">
                  <a:txBody>
                    <a:bodyPr/>
                    <a:lstStyle/>
                    <a:p>
                      <a:pPr marL="0" algn="l" defTabSz="914400" rtl="0" eaLnBrk="1" latinLnBrk="0" hangingPunct="1">
                        <a:lnSpc>
                          <a:spcPct val="107000"/>
                        </a:lnSpc>
                        <a:spcAft>
                          <a:spcPts val="800"/>
                        </a:spcAft>
                      </a:pPr>
                      <a:endParaRPr lang="fr-FR" sz="1100" kern="1200" dirty="0">
                        <a:solidFill>
                          <a:schemeClr val="tx1"/>
                        </a:solidFill>
                        <a:highlight>
                          <a:srgbClr val="FFFF00"/>
                        </a:highlight>
                        <a:latin typeface="Work Sans" panose="00000500000000000000" pitchFamily="2" charset="0"/>
                        <a:ea typeface="+mn-ea"/>
                        <a:cs typeface="+mn-cs"/>
                      </a:endParaRPr>
                    </a:p>
                  </a:txBody>
                  <a:tcPr marL="34925" marR="34925" marT="34925" marB="34925"/>
                </a:tc>
                <a:tc gridSpan="5">
                  <a:txBody>
                    <a:bodyPr/>
                    <a:lstStyle/>
                    <a:p>
                      <a:pPr marL="0" algn="l" defTabSz="914400" rtl="0" eaLnBrk="1" latinLnBrk="0" hangingPunct="1">
                        <a:lnSpc>
                          <a:spcPct val="107000"/>
                        </a:lnSpc>
                        <a:spcAft>
                          <a:spcPts val="800"/>
                        </a:spcAft>
                      </a:pPr>
                      <a:endParaRPr lang="fr-FR" sz="1050" kern="1200" dirty="0">
                        <a:solidFill>
                          <a:schemeClr val="tx1"/>
                        </a:solidFill>
                        <a:latin typeface="Work Sans" panose="00000500000000000000" pitchFamily="2" charset="0"/>
                        <a:ea typeface="+mn-ea"/>
                        <a:cs typeface="+mn-cs"/>
                      </a:endParaRPr>
                    </a:p>
                  </a:txBody>
                  <a:tcPr>
                    <a:solidFill>
                      <a:schemeClr val="accent5">
                        <a:lumMod val="20000"/>
                        <a:lumOff val="80000"/>
                      </a:schemeClr>
                    </a:solidFill>
                  </a:tcPr>
                </a:tc>
                <a:tc hMerge="1">
                  <a:txBody>
                    <a:bodyPr/>
                    <a:lstStyle/>
                    <a:p>
                      <a:endParaRPr lang="fr-FR"/>
                    </a:p>
                  </a:txBody>
                  <a:tcPr/>
                </a:tc>
                <a:tc hMerge="1">
                  <a:txBody>
                    <a:bodyPr/>
                    <a:lstStyle/>
                    <a:p>
                      <a:endParaRPr lang="fr-FR" sz="1200">
                        <a:latin typeface="Work Sans" panose="00000500000000000000" pitchFamily="2" charset="0"/>
                      </a:endParaRPr>
                    </a:p>
                  </a:txBody>
                  <a:tcPr/>
                </a:tc>
                <a:tc hMerge="1">
                  <a:txBody>
                    <a:bodyPr/>
                    <a:lstStyle/>
                    <a:p>
                      <a:endParaRPr lang="fr-FR"/>
                    </a:p>
                  </a:txBody>
                  <a:tcPr/>
                </a:tc>
                <a:tc hMerge="1">
                  <a:txBody>
                    <a:bodyPr/>
                    <a:lstStyle/>
                    <a:p>
                      <a:pPr marL="0" algn="l" defTabSz="914400" rtl="0" eaLnBrk="1" latinLnBrk="0" hangingPunct="1">
                        <a:lnSpc>
                          <a:spcPct val="107000"/>
                        </a:lnSpc>
                        <a:spcAft>
                          <a:spcPts val="800"/>
                        </a:spcAft>
                      </a:pPr>
                      <a:endParaRPr lang="fr-FR" sz="1100" kern="1200" dirty="0">
                        <a:solidFill>
                          <a:schemeClr val="tx1"/>
                        </a:solidFill>
                        <a:latin typeface="Work Sans" panose="00000500000000000000" pitchFamily="2" charset="0"/>
                        <a:ea typeface="+mn-ea"/>
                        <a:cs typeface="+mn-cs"/>
                      </a:endParaRPr>
                    </a:p>
                  </a:txBody>
                  <a:tcPr/>
                </a:tc>
                <a:tc gridSpan="8">
                  <a:txBody>
                    <a:bodyPr/>
                    <a:lstStyle/>
                    <a:p>
                      <a:endParaRPr lang="fr-FR" sz="1600"/>
                    </a:p>
                  </a:txBody>
                  <a:tcPr>
                    <a:solidFill>
                      <a:schemeClr val="accent5">
                        <a:lumMod val="20000"/>
                        <a:lumOff val="80000"/>
                      </a:schemeClr>
                    </a:solidFill>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sz="1200" kern="1200" dirty="0">
                        <a:solidFill>
                          <a:schemeClr val="tx1"/>
                        </a:solidFill>
                        <a:latin typeface="Work Sans" panose="00000500000000000000" pitchFamily="2" charset="0"/>
                        <a:ea typeface="+mn-ea"/>
                        <a:cs typeface="+mn-cs"/>
                      </a:endParaRPr>
                    </a:p>
                  </a:txBody>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3937157538"/>
                  </a:ext>
                </a:extLst>
              </a:tr>
              <a:tr h="330596">
                <a:tc gridSpan="2">
                  <a:txBody>
                    <a:bodyPr/>
                    <a:lstStyle/>
                    <a:p>
                      <a:pPr marL="0" algn="l" defTabSz="914400" rtl="0" eaLnBrk="1" latinLnBrk="0" hangingPunct="1">
                        <a:lnSpc>
                          <a:spcPct val="107000"/>
                        </a:lnSpc>
                        <a:spcAft>
                          <a:spcPts val="800"/>
                        </a:spcAft>
                      </a:pPr>
                      <a:r>
                        <a:rPr lang="fr-FR" sz="1050" kern="1200">
                          <a:solidFill>
                            <a:schemeClr val="tx1"/>
                          </a:solidFill>
                          <a:latin typeface="Work Sans" panose="00000500000000000000" pitchFamily="2" charset="0"/>
                          <a:ea typeface="+mn-ea"/>
                          <a:cs typeface="+mn-cs"/>
                        </a:rPr>
                        <a:t>Borne DC</a:t>
                      </a:r>
                      <a:endParaRPr lang="fr-FR" sz="1050" kern="1200" dirty="0">
                        <a:solidFill>
                          <a:schemeClr val="tx1"/>
                        </a:solidFill>
                        <a:latin typeface="Work Sans" panose="00000500000000000000" pitchFamily="2" charset="0"/>
                        <a:ea typeface="+mn-ea"/>
                        <a:cs typeface="+mn-cs"/>
                      </a:endParaRPr>
                    </a:p>
                  </a:txBody>
                  <a:tcPr marL="34925" marR="34925" marT="34925" marB="34925"/>
                </a:tc>
                <a:tc hMerge="1">
                  <a:txBody>
                    <a:bodyPr/>
                    <a:lstStyle/>
                    <a:p>
                      <a:pPr marL="0" algn="l" defTabSz="914400" rtl="0" eaLnBrk="1" latinLnBrk="0" hangingPunct="1">
                        <a:lnSpc>
                          <a:spcPct val="107000"/>
                        </a:lnSpc>
                        <a:spcAft>
                          <a:spcPts val="800"/>
                        </a:spcAft>
                      </a:pPr>
                      <a:endParaRPr lang="fr-FR" sz="1100" kern="1200" dirty="0">
                        <a:solidFill>
                          <a:schemeClr val="tx1"/>
                        </a:solidFill>
                        <a:latin typeface="Work Sans" panose="00000500000000000000" pitchFamily="2" charset="0"/>
                        <a:ea typeface="+mn-ea"/>
                        <a:cs typeface="+mn-cs"/>
                      </a:endParaRPr>
                    </a:p>
                  </a:txBody>
                  <a:tcPr marL="34925" marR="34925" marT="34925" marB="34925"/>
                </a:tc>
                <a:tc gridSpan="5">
                  <a:txBody>
                    <a:bodyPr/>
                    <a:lstStyle/>
                    <a:p>
                      <a:pPr marL="0" algn="l" defTabSz="914400" rtl="0" eaLnBrk="1" latinLnBrk="0" hangingPunct="1">
                        <a:lnSpc>
                          <a:spcPct val="107000"/>
                        </a:lnSpc>
                        <a:spcAft>
                          <a:spcPts val="800"/>
                        </a:spcAft>
                      </a:pPr>
                      <a:endParaRPr lang="fr-FR" sz="1050" kern="1200" dirty="0">
                        <a:solidFill>
                          <a:schemeClr val="tx1"/>
                        </a:solidFill>
                        <a:latin typeface="Work Sans" panose="00000500000000000000" pitchFamily="2" charset="0"/>
                        <a:ea typeface="+mn-ea"/>
                        <a:cs typeface="+mn-cs"/>
                      </a:endParaRPr>
                    </a:p>
                  </a:txBody>
                  <a:tcPr>
                    <a:solidFill>
                      <a:schemeClr val="accent5">
                        <a:lumMod val="20000"/>
                        <a:lumOff val="80000"/>
                      </a:schemeClr>
                    </a:solidFill>
                  </a:tcPr>
                </a:tc>
                <a:tc hMerge="1">
                  <a:txBody>
                    <a:bodyPr/>
                    <a:lstStyle/>
                    <a:p>
                      <a:endParaRPr lang="fr-FR"/>
                    </a:p>
                  </a:txBody>
                  <a:tcPr/>
                </a:tc>
                <a:tc hMerge="1">
                  <a:txBody>
                    <a:bodyPr/>
                    <a:lstStyle/>
                    <a:p>
                      <a:endParaRPr lang="fr-FR" sz="1200" dirty="0">
                        <a:latin typeface="Work Sans" panose="00000500000000000000" pitchFamily="2" charset="0"/>
                      </a:endParaRPr>
                    </a:p>
                  </a:txBody>
                  <a:tcPr/>
                </a:tc>
                <a:tc hMerge="1">
                  <a:txBody>
                    <a:bodyPr/>
                    <a:lstStyle/>
                    <a:p>
                      <a:endParaRPr lang="fr-FR"/>
                    </a:p>
                  </a:txBody>
                  <a:tcPr/>
                </a:tc>
                <a:tc hMerge="1">
                  <a:txBody>
                    <a:bodyPr/>
                    <a:lstStyle/>
                    <a:p>
                      <a:pPr marL="0" algn="l" defTabSz="914400" rtl="0" eaLnBrk="1" latinLnBrk="0" hangingPunct="1">
                        <a:lnSpc>
                          <a:spcPct val="107000"/>
                        </a:lnSpc>
                        <a:spcAft>
                          <a:spcPts val="800"/>
                        </a:spcAft>
                      </a:pPr>
                      <a:endParaRPr lang="fr-FR" sz="1100" kern="1200" dirty="0">
                        <a:solidFill>
                          <a:schemeClr val="tx1"/>
                        </a:solidFill>
                        <a:latin typeface="Work Sans" panose="00000500000000000000" pitchFamily="2" charset="0"/>
                        <a:ea typeface="+mn-ea"/>
                        <a:cs typeface="+mn-cs"/>
                      </a:endParaRPr>
                    </a:p>
                  </a:txBody>
                  <a:tcPr/>
                </a:tc>
                <a:tc gridSpan="8">
                  <a:txBody>
                    <a:bodyPr/>
                    <a:lstStyle/>
                    <a:p>
                      <a:endParaRPr lang="fr-FR" sz="1600" dirty="0"/>
                    </a:p>
                  </a:txBody>
                  <a:tcPr>
                    <a:solidFill>
                      <a:schemeClr val="accent5">
                        <a:lumMod val="20000"/>
                        <a:lumOff val="80000"/>
                      </a:schemeClr>
                    </a:solidFill>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sz="1200" kern="1200" dirty="0">
                        <a:solidFill>
                          <a:schemeClr val="tx1"/>
                        </a:solidFill>
                        <a:latin typeface="Work Sans" panose="00000500000000000000" pitchFamily="2" charset="0"/>
                        <a:ea typeface="+mn-ea"/>
                        <a:cs typeface="+mn-cs"/>
                      </a:endParaRPr>
                    </a:p>
                  </a:txBody>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3150259342"/>
                  </a:ext>
                </a:extLst>
              </a:tr>
              <a:tr h="0">
                <a:tc gridSpan="2">
                  <a:txBody>
                    <a:bodyPr/>
                    <a:lstStyle/>
                    <a:p>
                      <a:pPr marL="0" algn="l" defTabSz="914400" rtl="0" eaLnBrk="1" latinLnBrk="0" hangingPunct="1">
                        <a:lnSpc>
                          <a:spcPct val="107000"/>
                        </a:lnSpc>
                        <a:spcAft>
                          <a:spcPts val="800"/>
                        </a:spcAft>
                      </a:pPr>
                      <a:r>
                        <a:rPr lang="fr-FR" sz="1050" kern="1200" dirty="0">
                          <a:solidFill>
                            <a:schemeClr val="tx1"/>
                          </a:solidFill>
                          <a:latin typeface="Work Sans" panose="00000500000000000000" pitchFamily="2" charset="0"/>
                          <a:ea typeface="+mn-ea"/>
                          <a:cs typeface="+mn-cs"/>
                        </a:rPr>
                        <a:t>Souhait d’un pré-équipement pour une extension </a:t>
                      </a:r>
                    </a:p>
                  </a:txBody>
                  <a:tcPr marL="34925" marR="34925" marT="34925" marB="34925"/>
                </a:tc>
                <a:tc hMerge="1">
                  <a:txBody>
                    <a:bodyPr/>
                    <a:lstStyle/>
                    <a:p>
                      <a:pPr marL="0" algn="l" defTabSz="914400" rtl="0" eaLnBrk="1" latinLnBrk="0" hangingPunct="1">
                        <a:lnSpc>
                          <a:spcPct val="107000"/>
                        </a:lnSpc>
                        <a:spcAft>
                          <a:spcPts val="800"/>
                        </a:spcAft>
                      </a:pPr>
                      <a:endParaRPr lang="fr-FR" sz="1100" kern="1200" dirty="0">
                        <a:solidFill>
                          <a:schemeClr val="tx1"/>
                        </a:solidFill>
                        <a:latin typeface="Work Sans" panose="00000500000000000000" pitchFamily="2" charset="0"/>
                        <a:ea typeface="+mn-ea"/>
                        <a:cs typeface="+mn-cs"/>
                      </a:endParaRPr>
                    </a:p>
                  </a:txBody>
                  <a:tcPr marL="34925" marR="34925" marT="34925" marB="34925"/>
                </a:tc>
                <a:tc gridSpan="5">
                  <a:txBody>
                    <a:bodyPr/>
                    <a:lstStyle/>
                    <a:p>
                      <a:pPr marL="171450" indent="-171450" algn="l" defTabSz="914400" rtl="0" eaLnBrk="1" latinLnBrk="0" hangingPunct="1">
                        <a:lnSpc>
                          <a:spcPct val="107000"/>
                        </a:lnSpc>
                        <a:spcAft>
                          <a:spcPts val="800"/>
                        </a:spcAft>
                        <a:buFont typeface="Wingdings" panose="05000000000000000000" pitchFamily="2" charset="2"/>
                        <a:buChar char="q"/>
                      </a:pPr>
                      <a:r>
                        <a:rPr lang="fr-FR" sz="1050" kern="1200" dirty="0">
                          <a:solidFill>
                            <a:schemeClr val="tx1"/>
                          </a:solidFill>
                          <a:latin typeface="Work Sans" panose="00000500000000000000" pitchFamily="2" charset="0"/>
                          <a:ea typeface="+mn-ea"/>
                          <a:cs typeface="+mn-cs"/>
                        </a:rPr>
                        <a:t>Non</a:t>
                      </a:r>
                    </a:p>
                  </a:txBody>
                  <a:tcPr>
                    <a:solidFill>
                      <a:schemeClr val="accent5">
                        <a:lumMod val="20000"/>
                        <a:lumOff val="80000"/>
                      </a:schemeClr>
                    </a:solidFill>
                  </a:tcPr>
                </a:tc>
                <a:tc hMerge="1">
                  <a:txBody>
                    <a:bodyPr/>
                    <a:lstStyle/>
                    <a:p>
                      <a:endParaRPr lang="fr-FR"/>
                    </a:p>
                  </a:txBody>
                  <a:tcPr/>
                </a:tc>
                <a:tc hMerge="1">
                  <a:txBody>
                    <a:bodyPr/>
                    <a:lstStyle/>
                    <a:p>
                      <a:pPr marL="171450" marR="0" lvl="0" indent="-171450" algn="ctr"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lang="fr-FR" sz="1200" kern="1200" dirty="0">
                          <a:solidFill>
                            <a:schemeClr val="tx1"/>
                          </a:solidFill>
                          <a:latin typeface="Work Sans" panose="00000500000000000000" pitchFamily="2" charset="0"/>
                          <a:ea typeface="+mn-ea"/>
                          <a:cs typeface="+mn-cs"/>
                        </a:rPr>
                        <a:t>Non</a:t>
                      </a:r>
                    </a:p>
                  </a:txBody>
                  <a:tcPr/>
                </a:tc>
                <a:tc hMerge="1">
                  <a:txBody>
                    <a:bodyPr/>
                    <a:lstStyle/>
                    <a:p>
                      <a:endParaRPr lang="fr-FR"/>
                    </a:p>
                  </a:txBody>
                  <a:tcPr/>
                </a:tc>
                <a:tc hMerge="1">
                  <a:txBody>
                    <a:bodyPr/>
                    <a:lstStyle/>
                    <a:p>
                      <a:pPr marL="171450" indent="-171450" algn="l" defTabSz="914400" rtl="0" eaLnBrk="1" latinLnBrk="0" hangingPunct="1">
                        <a:lnSpc>
                          <a:spcPct val="107000"/>
                        </a:lnSpc>
                        <a:spcAft>
                          <a:spcPts val="800"/>
                        </a:spcAft>
                        <a:buFont typeface="Wingdings" panose="05000000000000000000" pitchFamily="2" charset="2"/>
                        <a:buChar char="q"/>
                      </a:pPr>
                      <a:endParaRPr lang="fr-FR" sz="1100" kern="1200" dirty="0">
                        <a:solidFill>
                          <a:schemeClr val="tx1"/>
                        </a:solidFill>
                        <a:latin typeface="Work Sans" panose="00000500000000000000" pitchFamily="2" charset="0"/>
                        <a:ea typeface="+mn-ea"/>
                        <a:cs typeface="+mn-cs"/>
                      </a:endParaRPr>
                    </a:p>
                  </a:txBody>
                  <a:tcPr/>
                </a:tc>
                <a:tc gridSpan="8">
                  <a:txBody>
                    <a:bodyPr/>
                    <a:lstStyle/>
                    <a:p>
                      <a:pPr marL="171450" marR="0" lvl="0" indent="-171450" algn="ctr"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lang="fr-FR" sz="1050" kern="1200" dirty="0">
                          <a:solidFill>
                            <a:schemeClr val="tx1"/>
                          </a:solidFill>
                          <a:latin typeface="Work Sans" panose="00000500000000000000" pitchFamily="2" charset="0"/>
                          <a:ea typeface="+mn-ea"/>
                          <a:cs typeface="+mn-cs"/>
                        </a:rPr>
                        <a:t>Oui</a:t>
                      </a:r>
                    </a:p>
                    <a:p>
                      <a:pPr marL="0" marR="0" lvl="0" indent="0" algn="ctr"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fr-FR" sz="1050" kern="1200" dirty="0">
                          <a:solidFill>
                            <a:schemeClr val="tx1"/>
                          </a:solidFill>
                          <a:latin typeface="Work Sans" panose="00000500000000000000" pitchFamily="2" charset="0"/>
                          <a:ea typeface="+mn-ea"/>
                          <a:cs typeface="+mn-cs"/>
                        </a:rPr>
                        <a:t>____ bornes de ____ kW en plus des bornes listées ci-dessus</a:t>
                      </a:r>
                      <a:endParaRPr lang="fr-FR" sz="1600" dirty="0"/>
                    </a:p>
                  </a:txBody>
                  <a:tcPr>
                    <a:solidFill>
                      <a:schemeClr val="accent5">
                        <a:lumMod val="20000"/>
                        <a:lumOff val="80000"/>
                      </a:schemeClr>
                    </a:solidFill>
                  </a:tcPr>
                </a:tc>
                <a:tc hMerge="1">
                  <a:txBody>
                    <a:bodyPr/>
                    <a:lstStyle/>
                    <a:p>
                      <a:endParaRPr lang="fr-FR"/>
                    </a:p>
                  </a:txBody>
                  <a:tcPr/>
                </a:tc>
                <a:tc hMerge="1">
                  <a:txBody>
                    <a:bodyPr/>
                    <a:lstStyle/>
                    <a:p>
                      <a:pPr marL="171450" marR="0" lvl="0" indent="-171450" algn="ctr"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lang="fr-FR" sz="1100" kern="1200" dirty="0">
                          <a:solidFill>
                            <a:schemeClr val="tx1"/>
                          </a:solidFill>
                          <a:latin typeface="Work Sans" panose="00000500000000000000" pitchFamily="2" charset="0"/>
                          <a:ea typeface="+mn-ea"/>
                          <a:cs typeface="+mn-cs"/>
                        </a:rPr>
                        <a:t>Oui</a:t>
                      </a:r>
                    </a:p>
                    <a:p>
                      <a:pPr marL="0" marR="0" lvl="0" indent="0" algn="ctr"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fr-FR" sz="1100" kern="1200" dirty="0">
                          <a:solidFill>
                            <a:schemeClr val="tx1"/>
                          </a:solidFill>
                          <a:latin typeface="Work Sans" panose="00000500000000000000" pitchFamily="2" charset="0"/>
                          <a:ea typeface="+mn-ea"/>
                          <a:cs typeface="+mn-cs"/>
                        </a:rPr>
                        <a:t>____ bornes de ____ kW en plus des bornes listées ci-dessus</a:t>
                      </a:r>
                      <a:endParaRPr lang="fr-FR" dirty="0"/>
                    </a:p>
                  </a:txBody>
                  <a:tcPr/>
                </a:tc>
                <a:tc hMerge="1">
                  <a:txBody>
                    <a:bodyPr/>
                    <a:lstStyle/>
                    <a:p>
                      <a:pPr marL="171450" marR="0" lvl="0" indent="-171450" algn="ctr"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lang="fr-FR" sz="1100" kern="1200" dirty="0">
                          <a:solidFill>
                            <a:schemeClr val="tx1"/>
                          </a:solidFill>
                          <a:latin typeface="Work Sans" panose="00000500000000000000" pitchFamily="2" charset="0"/>
                          <a:ea typeface="+mn-ea"/>
                          <a:cs typeface="+mn-cs"/>
                        </a:rPr>
                        <a:t>Oui</a:t>
                      </a:r>
                    </a:p>
                    <a:p>
                      <a:pPr marL="0" marR="0" lvl="0" indent="0" algn="ctr"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fr-FR" sz="1100" kern="1200" dirty="0">
                          <a:solidFill>
                            <a:schemeClr val="tx1"/>
                          </a:solidFill>
                          <a:latin typeface="Work Sans" panose="00000500000000000000" pitchFamily="2" charset="0"/>
                          <a:ea typeface="+mn-ea"/>
                          <a:cs typeface="+mn-cs"/>
                        </a:rPr>
                        <a:t>____ bornes de ____ kW en plus des bornes listées ci-dessus</a:t>
                      </a:r>
                      <a:endParaRPr lang="fr-FR" dirty="0"/>
                    </a:p>
                  </a:txBody>
                  <a:tcPr/>
                </a:tc>
                <a:tc hMerge="1">
                  <a:txBody>
                    <a:bodyPr/>
                    <a:lstStyle/>
                    <a:p>
                      <a:endParaRPr lang="fr-FR"/>
                    </a:p>
                  </a:txBody>
                  <a:tcPr/>
                </a:tc>
                <a:tc hMerge="1">
                  <a:txBody>
                    <a:bodyPr/>
                    <a:lstStyle/>
                    <a:p>
                      <a:endParaRPr lang="fr-FR" dirty="0"/>
                    </a:p>
                  </a:txBody>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974278066"/>
                  </a:ext>
                </a:extLst>
              </a:tr>
              <a:tr h="722089">
                <a:tc gridSpan="2">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lang="fr-FR" sz="1050" kern="1200" dirty="0">
                          <a:solidFill>
                            <a:schemeClr val="tx1"/>
                          </a:solidFill>
                          <a:latin typeface="Work Sans" panose="00000500000000000000" pitchFamily="2" charset="0"/>
                          <a:ea typeface="+mn-ea"/>
                          <a:cs typeface="+mn-cs"/>
                        </a:rPr>
                        <a:t>En cas de pré-équipement souhaité, celui-ci doit comprendre</a:t>
                      </a:r>
                    </a:p>
                  </a:txBody>
                  <a:tcPr marL="34925" marR="34925" marT="34925" marB="34925"/>
                </a:tc>
                <a:tc hMerge="1">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endParaRPr lang="fr-FR" sz="1100" kern="1200" dirty="0">
                        <a:solidFill>
                          <a:schemeClr val="tx1"/>
                        </a:solidFill>
                        <a:latin typeface="Work Sans" panose="00000500000000000000" pitchFamily="2" charset="0"/>
                        <a:ea typeface="+mn-ea"/>
                        <a:cs typeface="+mn-cs"/>
                      </a:endParaRPr>
                    </a:p>
                  </a:txBody>
                  <a:tcPr marL="34925" marR="34925" marT="34925" marB="34925"/>
                </a:tc>
                <a:tc gridSpan="3">
                  <a:txBody>
                    <a:bodyPr/>
                    <a:lstStyle/>
                    <a:p>
                      <a:pPr marL="171450" marR="0" lvl="0" indent="-171450" algn="l" defTabSz="914400" rtl="0" eaLnBrk="1" fontAlgn="auto" latinLnBrk="0" hangingPunct="1">
                        <a:lnSpc>
                          <a:spcPct val="107000"/>
                        </a:lnSpc>
                        <a:spcBef>
                          <a:spcPts val="0"/>
                        </a:spcBef>
                        <a:spcAft>
                          <a:spcPts val="800"/>
                        </a:spcAft>
                        <a:buClrTx/>
                        <a:buSzTx/>
                        <a:buFont typeface="Wingdings" panose="05000000000000000000" pitchFamily="2" charset="2"/>
                        <a:buChar char="q"/>
                        <a:tabLst/>
                        <a:defRPr/>
                      </a:pPr>
                      <a:r>
                        <a:rPr lang="fr-FR" sz="1050" kern="1200" dirty="0">
                          <a:solidFill>
                            <a:schemeClr val="tx1"/>
                          </a:solidFill>
                          <a:latin typeface="Work Sans" panose="00000500000000000000" pitchFamily="2" charset="0"/>
                          <a:ea typeface="+mn-ea"/>
                          <a:cs typeface="+mn-cs"/>
                        </a:rPr>
                        <a:t>Une réserve de place pour les protections électriques des futures bornes</a:t>
                      </a:r>
                    </a:p>
                  </a:txBody>
                  <a:tcPr>
                    <a:solidFill>
                      <a:schemeClr val="accent5">
                        <a:lumMod val="20000"/>
                        <a:lumOff val="80000"/>
                      </a:schemeClr>
                    </a:solidFill>
                  </a:tcPr>
                </a:tc>
                <a:tc hMerge="1">
                  <a:txBody>
                    <a:bodyPr/>
                    <a:lstStyle/>
                    <a:p>
                      <a:endParaRPr lang="fr-FR"/>
                    </a:p>
                  </a:txBody>
                  <a:tcPr/>
                </a:tc>
                <a:tc hMerge="1">
                  <a:txBody>
                    <a:bodyPr/>
                    <a:lstStyle/>
                    <a:p>
                      <a:pPr marL="171450" marR="0" lvl="0" indent="-171450" algn="ctr"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lang="fr-FR" sz="1200" kern="1200" dirty="0">
                          <a:solidFill>
                            <a:schemeClr val="tx1"/>
                          </a:solidFill>
                          <a:latin typeface="Work Sans" panose="00000500000000000000" pitchFamily="2" charset="0"/>
                          <a:ea typeface="+mn-ea"/>
                          <a:cs typeface="+mn-cs"/>
                        </a:rPr>
                        <a:t>Une réserve de place pour les protections électrique des futures bornes</a:t>
                      </a:r>
                    </a:p>
                  </a:txBody>
                  <a:tcPr/>
                </a:tc>
                <a:tc gridSpan="3">
                  <a:txBody>
                    <a:bodyPr/>
                    <a:lstStyle/>
                    <a:p>
                      <a:pPr marL="171450" marR="0" lvl="0" indent="-171450" algn="ctr"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lang="fr-FR" sz="1050" kern="1200" dirty="0">
                          <a:solidFill>
                            <a:schemeClr val="tx1"/>
                          </a:solidFill>
                          <a:latin typeface="Work Sans" panose="00000500000000000000" pitchFamily="2" charset="0"/>
                          <a:ea typeface="+mn-ea"/>
                          <a:cs typeface="+mn-cs"/>
                        </a:rPr>
                        <a:t>Les protections électriques de chaque future borne</a:t>
                      </a:r>
                    </a:p>
                  </a:txBody>
                  <a:tcPr>
                    <a:solidFill>
                      <a:schemeClr val="accent5">
                        <a:lumMod val="20000"/>
                        <a:lumOff val="80000"/>
                      </a:schemeClr>
                    </a:solidFill>
                  </a:tcPr>
                </a:tc>
                <a:tc hMerge="1">
                  <a:txBody>
                    <a:bodyPr/>
                    <a:lstStyle/>
                    <a:p>
                      <a:endParaRPr lang="fr-FR"/>
                    </a:p>
                  </a:txBody>
                  <a:tcPr/>
                </a:tc>
                <a:tc hMerge="1">
                  <a:txBody>
                    <a:bodyPr/>
                    <a:lstStyle/>
                    <a:p>
                      <a:pPr marL="171450" marR="0" lvl="0" indent="-171450" algn="ctr"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lang="fr-FR" sz="1100" kern="1200" dirty="0">
                        <a:solidFill>
                          <a:schemeClr val="tx1"/>
                        </a:solidFill>
                        <a:latin typeface="Work Sans" panose="00000500000000000000" pitchFamily="2" charset="0"/>
                        <a:ea typeface="+mn-ea"/>
                        <a:cs typeface="+mn-cs"/>
                      </a:endParaRPr>
                    </a:p>
                  </a:txBody>
                  <a:tcPr/>
                </a:tc>
                <a:tc gridSpan="3">
                  <a:txBody>
                    <a:bodyPr/>
                    <a:lstStyle/>
                    <a:p>
                      <a:pPr marL="171450" marR="0" lvl="0" indent="-171450" algn="ctr"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lang="fr-FR" sz="1050" kern="1200" dirty="0">
                          <a:solidFill>
                            <a:schemeClr val="tx1"/>
                          </a:solidFill>
                          <a:latin typeface="Work Sans" panose="00000500000000000000" pitchFamily="2" charset="0"/>
                          <a:ea typeface="+mn-ea"/>
                          <a:cs typeface="+mn-cs"/>
                        </a:rPr>
                        <a:t>Le GC et les passages pour les futurs câbles</a:t>
                      </a:r>
                    </a:p>
                  </a:txBody>
                  <a:tcPr>
                    <a:solidFill>
                      <a:schemeClr val="accent5">
                        <a:lumMod val="20000"/>
                        <a:lumOff val="80000"/>
                      </a:schemeClr>
                    </a:solidFill>
                  </a:tcPr>
                </a:tc>
                <a:tc hMerge="1">
                  <a:txBody>
                    <a:bodyPr/>
                    <a:lstStyle/>
                    <a:p>
                      <a:endParaRPr lang="fr-FR"/>
                    </a:p>
                  </a:txBody>
                  <a:tcPr/>
                </a:tc>
                <a:tc hMerge="1">
                  <a:txBody>
                    <a:bodyPr/>
                    <a:lstStyle/>
                    <a:p>
                      <a:endParaRPr lang="fr-FR"/>
                    </a:p>
                  </a:txBody>
                  <a:tcPr/>
                </a:tc>
                <a:tc gridSpan="2">
                  <a:txBody>
                    <a:bodyPr/>
                    <a:lstStyle/>
                    <a:p>
                      <a:pPr marL="171450" marR="0" lvl="0" indent="-171450" algn="ctr"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lang="fr-FR" sz="1050" kern="1200" dirty="0">
                          <a:solidFill>
                            <a:schemeClr val="tx1"/>
                          </a:solidFill>
                          <a:latin typeface="Work Sans" panose="00000500000000000000" pitchFamily="2" charset="0"/>
                          <a:ea typeface="+mn-ea"/>
                          <a:cs typeface="+mn-cs"/>
                        </a:rPr>
                        <a:t>Les massifs des futures bornes</a:t>
                      </a:r>
                    </a:p>
                  </a:txBody>
                  <a:tcPr>
                    <a:solidFill>
                      <a:schemeClr val="accent5">
                        <a:lumMod val="20000"/>
                        <a:lumOff val="80000"/>
                      </a:schemeClr>
                    </a:solidFill>
                  </a:tcPr>
                </a:tc>
                <a:tc hMerge="1">
                  <a:txBody>
                    <a:bodyPr/>
                    <a:lstStyle/>
                    <a:p>
                      <a:endParaRPr lang="fr-FR"/>
                    </a:p>
                  </a:txBody>
                  <a:tcPr/>
                </a:tc>
                <a:tc gridSpan="2">
                  <a:txBody>
                    <a:bodyPr/>
                    <a:lstStyle/>
                    <a:p>
                      <a:pPr marL="171450" marR="0" lvl="0" indent="-171450" algn="ctr"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lang="fr-FR" sz="1050" kern="1200" dirty="0">
                          <a:solidFill>
                            <a:schemeClr val="tx1"/>
                          </a:solidFill>
                          <a:latin typeface="Work Sans" panose="00000500000000000000" pitchFamily="2" charset="0"/>
                          <a:ea typeface="+mn-ea"/>
                          <a:cs typeface="+mn-cs"/>
                        </a:rPr>
                        <a:t>Les câbles en attente pour les futures bornes</a:t>
                      </a:r>
                    </a:p>
                  </a:txBody>
                  <a:tcPr>
                    <a:solidFill>
                      <a:schemeClr val="accent5">
                        <a:lumMod val="20000"/>
                        <a:lumOff val="80000"/>
                      </a:schemeClr>
                    </a:solidFill>
                  </a:tcPr>
                </a:tc>
                <a:tc hMerge="1">
                  <a:txBody>
                    <a:bodyPr/>
                    <a:lstStyle/>
                    <a:p>
                      <a:endParaRPr lang="fr-FR"/>
                    </a:p>
                  </a:txBody>
                  <a:tcPr/>
                </a:tc>
                <a:extLst>
                  <a:ext uri="{0D108BD9-81ED-4DB2-BD59-A6C34878D82A}">
                    <a16:rowId xmlns:a16="http://schemas.microsoft.com/office/drawing/2014/main" val="232606183"/>
                  </a:ext>
                </a:extLst>
              </a:tr>
              <a:tr h="216150">
                <a:tc gridSpan="15">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lang="fr-FR" sz="1050" b="1" kern="1200" dirty="0">
                          <a:solidFill>
                            <a:schemeClr val="bg1"/>
                          </a:solidFill>
                          <a:latin typeface="Work Sans" panose="00000500000000000000" pitchFamily="2" charset="0"/>
                          <a:ea typeface="+mn-ea"/>
                          <a:cs typeface="+mn-cs"/>
                        </a:rPr>
                        <a:t>REPRISE DE BORNE</a:t>
                      </a:r>
                    </a:p>
                  </a:txBody>
                  <a:tcPr marL="34925" marR="34925" marT="34925" marB="34925">
                    <a:solidFill>
                      <a:schemeClr val="accent1"/>
                    </a:solidFill>
                  </a:tcPr>
                </a:tc>
                <a:tc hMerge="1">
                  <a:txBody>
                    <a:bodyPr/>
                    <a:lstStyle/>
                    <a:p>
                      <a:endParaRPr lang="fr-FR"/>
                    </a:p>
                  </a:txBody>
                  <a:tcPr/>
                </a:tc>
                <a:tc hMerge="1">
                  <a:txBody>
                    <a:bodyPr/>
                    <a:lstStyle/>
                    <a:p>
                      <a:pPr marL="171450" marR="0" lvl="0" indent="-171450" algn="l" defTabSz="914400" rtl="0" eaLnBrk="1" fontAlgn="auto" latinLnBrk="0" hangingPunct="1">
                        <a:lnSpc>
                          <a:spcPct val="107000"/>
                        </a:lnSpc>
                        <a:spcBef>
                          <a:spcPts val="0"/>
                        </a:spcBef>
                        <a:spcAft>
                          <a:spcPts val="800"/>
                        </a:spcAft>
                        <a:buClrTx/>
                        <a:buSzTx/>
                        <a:buFont typeface="Wingdings" panose="05000000000000000000" pitchFamily="2" charset="2"/>
                        <a:buChar char="q"/>
                        <a:tabLst/>
                        <a:defRPr/>
                      </a:pPr>
                      <a:endParaRPr lang="fr-FR" sz="1100" kern="1200" dirty="0">
                        <a:solidFill>
                          <a:schemeClr val="tx1"/>
                        </a:solidFill>
                        <a:latin typeface="Work Sans" panose="00000500000000000000" pitchFamily="2" charset="0"/>
                        <a:ea typeface="+mn-ea"/>
                        <a:cs typeface="+mn-cs"/>
                      </a:endParaRPr>
                    </a:p>
                  </a:txBody>
                  <a:tcPr/>
                </a:tc>
                <a:tc hMerge="1">
                  <a:txBody>
                    <a:bodyPr/>
                    <a:lstStyle/>
                    <a:p>
                      <a:endParaRPr lang="fr-FR"/>
                    </a:p>
                  </a:txBody>
                  <a:tcPr/>
                </a:tc>
                <a:tc hMerge="1">
                  <a:txBody>
                    <a:bodyPr/>
                    <a:lstStyle/>
                    <a:p>
                      <a:endParaRPr lang="fr-FR"/>
                    </a:p>
                  </a:txBody>
                  <a:tcPr/>
                </a:tc>
                <a:tc hMerge="1">
                  <a:txBody>
                    <a:bodyPr/>
                    <a:lstStyle/>
                    <a:p>
                      <a:pPr marL="171450" marR="0" lvl="0" indent="-171450" algn="ctr"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lang="fr-FR" sz="1100" kern="1200" dirty="0">
                        <a:solidFill>
                          <a:schemeClr val="tx1"/>
                        </a:solidFill>
                        <a:latin typeface="Work Sans" panose="00000500000000000000" pitchFamily="2" charset="0"/>
                        <a:ea typeface="+mn-ea"/>
                        <a:cs typeface="+mn-cs"/>
                      </a:endParaRPr>
                    </a:p>
                  </a:txBody>
                  <a:tcPr/>
                </a:tc>
                <a:tc hMerge="1">
                  <a:txBody>
                    <a:bodyPr/>
                    <a:lstStyle/>
                    <a:p>
                      <a:endParaRPr lang="fr-FR"/>
                    </a:p>
                  </a:txBody>
                  <a:tcPr/>
                </a:tc>
                <a:tc hMerge="1">
                  <a:txBody>
                    <a:bodyPr/>
                    <a:lstStyle/>
                    <a:p>
                      <a:endParaRPr lang="fr-FR"/>
                    </a:p>
                  </a:txBody>
                  <a:tcPr/>
                </a:tc>
                <a:tc hMerge="1">
                  <a:txBody>
                    <a:bodyPr/>
                    <a:lstStyle/>
                    <a:p>
                      <a:pPr marL="171450" marR="0" lvl="0" indent="-171450" algn="ctr"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lang="fr-FR" sz="1100" kern="1200" dirty="0">
                        <a:solidFill>
                          <a:schemeClr val="tx1"/>
                        </a:solidFill>
                        <a:latin typeface="Work Sans" panose="00000500000000000000" pitchFamily="2" charset="0"/>
                        <a:ea typeface="+mn-ea"/>
                        <a:cs typeface="+mn-cs"/>
                      </a:endParaRPr>
                    </a:p>
                  </a:txBody>
                  <a:tcPr/>
                </a:tc>
                <a:tc hMerge="1">
                  <a:txBody>
                    <a:bodyPr/>
                    <a:lstStyle/>
                    <a:p>
                      <a:endParaRPr lang="fr-FR"/>
                    </a:p>
                  </a:txBody>
                  <a:tcPr/>
                </a:tc>
                <a:tc hMerge="1">
                  <a:txBody>
                    <a:bodyPr/>
                    <a:lstStyle/>
                    <a:p>
                      <a:endParaRPr lang="fr-FR"/>
                    </a:p>
                  </a:txBody>
                  <a:tcPr/>
                </a:tc>
                <a:tc hMerge="1">
                  <a:txBody>
                    <a:bodyPr/>
                    <a:lstStyle/>
                    <a:p>
                      <a:pPr marL="171450" marR="0" lvl="0" indent="-171450" algn="ctr"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lang="fr-FR" sz="1100" kern="1200" dirty="0">
                        <a:solidFill>
                          <a:schemeClr val="tx1"/>
                        </a:solidFill>
                        <a:latin typeface="Work Sans" panose="00000500000000000000" pitchFamily="2" charset="0"/>
                        <a:ea typeface="+mn-ea"/>
                        <a:cs typeface="+mn-cs"/>
                      </a:endParaRPr>
                    </a:p>
                  </a:txBody>
                  <a:tcPr/>
                </a:tc>
                <a:tc hMerge="1">
                  <a:txBody>
                    <a:bodyPr/>
                    <a:lstStyle/>
                    <a:p>
                      <a:endParaRPr lang="fr-FR"/>
                    </a:p>
                  </a:txBody>
                  <a:tcPr/>
                </a:tc>
                <a:tc hMerge="1">
                  <a:txBody>
                    <a:bodyPr/>
                    <a:lstStyle/>
                    <a:p>
                      <a:pPr marL="171450" marR="0" lvl="0" indent="-171450" algn="ctr"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lang="fr-FR" sz="1100" kern="1200" dirty="0">
                        <a:solidFill>
                          <a:schemeClr val="tx1"/>
                        </a:solidFill>
                        <a:latin typeface="Work Sans" panose="00000500000000000000" pitchFamily="2" charset="0"/>
                        <a:ea typeface="+mn-ea"/>
                        <a:cs typeface="+mn-cs"/>
                      </a:endParaRPr>
                    </a:p>
                  </a:txBody>
                  <a:tcPr/>
                </a:tc>
                <a:tc hMerge="1">
                  <a:txBody>
                    <a:bodyPr/>
                    <a:lstStyle/>
                    <a:p>
                      <a:endParaRPr lang="fr-FR"/>
                    </a:p>
                  </a:txBody>
                  <a:tcPr/>
                </a:tc>
                <a:extLst>
                  <a:ext uri="{0D108BD9-81ED-4DB2-BD59-A6C34878D82A}">
                    <a16:rowId xmlns:a16="http://schemas.microsoft.com/office/drawing/2014/main" val="2978743408"/>
                  </a:ext>
                </a:extLst>
              </a:tr>
              <a:tr h="378292">
                <a:tc gridSpan="2">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lang="fr-FR" sz="1050" kern="1200" dirty="0">
                          <a:solidFill>
                            <a:schemeClr val="tx1"/>
                          </a:solidFill>
                          <a:latin typeface="Work Sans" panose="00000500000000000000" pitchFamily="2" charset="0"/>
                          <a:ea typeface="+mn-ea"/>
                          <a:cs typeface="+mn-cs"/>
                        </a:rPr>
                        <a:t>Le client dispose de borne de recharge sur son site </a:t>
                      </a:r>
                    </a:p>
                  </a:txBody>
                  <a:tcPr marL="34925" marR="34925" marT="34925" marB="34925"/>
                </a:tc>
                <a:tc hMerge="1">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endParaRPr lang="fr-FR" sz="1100" kern="1200" dirty="0">
                        <a:solidFill>
                          <a:schemeClr val="tx1"/>
                        </a:solidFill>
                        <a:highlight>
                          <a:srgbClr val="FFFF00"/>
                        </a:highlight>
                        <a:latin typeface="Work Sans" panose="00000500000000000000" pitchFamily="2" charset="0"/>
                        <a:ea typeface="+mn-ea"/>
                        <a:cs typeface="+mn-cs"/>
                      </a:endParaRPr>
                    </a:p>
                  </a:txBody>
                  <a:tcPr marL="34925" marR="34925" marT="34925" marB="34925"/>
                </a:tc>
                <a:tc gridSpan="7">
                  <a:txBody>
                    <a:bodyPr/>
                    <a:lstStyle/>
                    <a:p>
                      <a:pPr marL="171450" marR="0" lvl="0" indent="-171450" algn="l" defTabSz="914400" rtl="0" eaLnBrk="1" fontAlgn="auto" latinLnBrk="0" hangingPunct="1">
                        <a:lnSpc>
                          <a:spcPct val="107000"/>
                        </a:lnSpc>
                        <a:spcBef>
                          <a:spcPts val="0"/>
                        </a:spcBef>
                        <a:spcAft>
                          <a:spcPts val="800"/>
                        </a:spcAft>
                        <a:buClrTx/>
                        <a:buSzTx/>
                        <a:buFont typeface="Wingdings" panose="05000000000000000000" pitchFamily="2" charset="2"/>
                        <a:buChar char="q"/>
                        <a:tabLst/>
                        <a:defRPr/>
                      </a:pPr>
                      <a:r>
                        <a:rPr lang="fr-FR" sz="1050" kern="1200" dirty="0">
                          <a:solidFill>
                            <a:schemeClr val="tx1"/>
                          </a:solidFill>
                          <a:latin typeface="Work Sans" panose="00000500000000000000" pitchFamily="2" charset="0"/>
                          <a:ea typeface="+mn-ea"/>
                          <a:cs typeface="+mn-cs"/>
                        </a:rPr>
                        <a:t>Oui</a:t>
                      </a:r>
                    </a:p>
                  </a:txBody>
                  <a:tcPr>
                    <a:solidFill>
                      <a:schemeClr val="accent5">
                        <a:lumMod val="20000"/>
                        <a:lumOff val="80000"/>
                      </a:schemeClr>
                    </a:solidFill>
                  </a:tcPr>
                </a:tc>
                <a:tc hMerge="1">
                  <a:txBody>
                    <a:bodyPr/>
                    <a:lstStyle/>
                    <a:p>
                      <a:endParaRPr lang="fr-FR"/>
                    </a:p>
                  </a:txBody>
                  <a:tcPr/>
                </a:tc>
                <a:tc hMerge="1">
                  <a:txBody>
                    <a:bodyPr/>
                    <a:lstStyle/>
                    <a:p>
                      <a:endParaRPr lang="fr-FR"/>
                    </a:p>
                  </a:txBody>
                  <a:tcPr/>
                </a:tc>
                <a:tc hMerge="1">
                  <a:txBody>
                    <a:bodyPr/>
                    <a:lstStyle/>
                    <a:p>
                      <a:pPr marL="171450" marR="0" lvl="0" indent="-171450" algn="ctr"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lang="fr-FR" sz="1100" kern="1200" dirty="0">
                        <a:solidFill>
                          <a:schemeClr val="tx1"/>
                        </a:solidFill>
                        <a:latin typeface="Work Sans" panose="00000500000000000000" pitchFamily="2" charset="0"/>
                        <a:ea typeface="+mn-ea"/>
                        <a:cs typeface="+mn-cs"/>
                      </a:endParaRPr>
                    </a:p>
                  </a:txBody>
                  <a:tcPr/>
                </a:tc>
                <a:tc hMerge="1">
                  <a:txBody>
                    <a:bodyPr/>
                    <a:lstStyle/>
                    <a:p>
                      <a:endParaRPr lang="fr-FR"/>
                    </a:p>
                  </a:txBody>
                  <a:tcPr/>
                </a:tc>
                <a:tc hMerge="1">
                  <a:txBody>
                    <a:bodyPr/>
                    <a:lstStyle/>
                    <a:p>
                      <a:endParaRPr lang="fr-FR"/>
                    </a:p>
                  </a:txBody>
                  <a:tcPr/>
                </a:tc>
                <a:tc hMerge="1">
                  <a:txBody>
                    <a:bodyPr/>
                    <a:lstStyle/>
                    <a:p>
                      <a:pPr marL="171450" marR="0" lvl="0" indent="-171450" algn="ctr"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lang="fr-FR" sz="1100" kern="1200" dirty="0">
                        <a:solidFill>
                          <a:schemeClr val="tx1"/>
                        </a:solidFill>
                        <a:latin typeface="Work Sans" panose="00000500000000000000" pitchFamily="2" charset="0"/>
                        <a:ea typeface="+mn-ea"/>
                        <a:cs typeface="+mn-cs"/>
                      </a:endParaRPr>
                    </a:p>
                  </a:txBody>
                  <a:tcPr/>
                </a:tc>
                <a:tc gridSpan="6">
                  <a:txBody>
                    <a:bodyPr/>
                    <a:lstStyle/>
                    <a:p>
                      <a:pPr marL="171450" marR="0" lvl="0" indent="-171450" algn="l" defTabSz="914400" rtl="0" eaLnBrk="1" fontAlgn="auto" latinLnBrk="0" hangingPunct="1">
                        <a:lnSpc>
                          <a:spcPct val="107000"/>
                        </a:lnSpc>
                        <a:spcBef>
                          <a:spcPts val="0"/>
                        </a:spcBef>
                        <a:spcAft>
                          <a:spcPts val="800"/>
                        </a:spcAft>
                        <a:buClrTx/>
                        <a:buSzTx/>
                        <a:buFont typeface="Wingdings" panose="05000000000000000000" pitchFamily="2" charset="2"/>
                        <a:buChar char="q"/>
                        <a:tabLst/>
                        <a:defRPr/>
                      </a:pPr>
                      <a:r>
                        <a:rPr lang="fr-FR" sz="1050" kern="1200" dirty="0">
                          <a:solidFill>
                            <a:schemeClr val="tx1"/>
                          </a:solidFill>
                          <a:latin typeface="Work Sans" panose="00000500000000000000" pitchFamily="2" charset="0"/>
                          <a:ea typeface="+mn-ea"/>
                          <a:cs typeface="+mn-cs"/>
                        </a:rPr>
                        <a:t> Non</a:t>
                      </a:r>
                    </a:p>
                  </a:txBody>
                  <a:tcPr>
                    <a:solidFill>
                      <a:schemeClr val="accent5">
                        <a:lumMod val="20000"/>
                        <a:lumOff val="80000"/>
                      </a:schemeClr>
                    </a:solidFill>
                  </a:tcPr>
                </a:tc>
                <a:tc hMerge="1">
                  <a:txBody>
                    <a:bodyPr/>
                    <a:lstStyle/>
                    <a:p>
                      <a:endParaRPr lang="fr-FR"/>
                    </a:p>
                  </a:txBody>
                  <a:tcPr/>
                </a:tc>
                <a:tc hMerge="1">
                  <a:txBody>
                    <a:bodyPr/>
                    <a:lstStyle/>
                    <a:p>
                      <a:pPr marL="171450" marR="0" lvl="0" indent="-171450" algn="ctr"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lang="fr-FR" sz="1100" kern="1200" dirty="0">
                        <a:solidFill>
                          <a:schemeClr val="tx1"/>
                        </a:solidFill>
                        <a:latin typeface="Work Sans" panose="00000500000000000000" pitchFamily="2" charset="0"/>
                        <a:ea typeface="+mn-ea"/>
                        <a:cs typeface="+mn-cs"/>
                      </a:endParaRPr>
                    </a:p>
                  </a:txBody>
                  <a:tcPr/>
                </a:tc>
                <a:tc hMerge="1">
                  <a:txBody>
                    <a:bodyPr/>
                    <a:lstStyle/>
                    <a:p>
                      <a:endParaRPr lang="fr-FR"/>
                    </a:p>
                  </a:txBody>
                  <a:tcPr/>
                </a:tc>
                <a:tc hMerge="1">
                  <a:txBody>
                    <a:bodyPr/>
                    <a:lstStyle/>
                    <a:p>
                      <a:pPr marL="171450" marR="0" lvl="0" indent="-171450" algn="ctr"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lang="fr-FR" sz="1100" kern="1200" dirty="0">
                        <a:solidFill>
                          <a:schemeClr val="tx1"/>
                        </a:solidFill>
                        <a:latin typeface="Work Sans" panose="00000500000000000000" pitchFamily="2" charset="0"/>
                        <a:ea typeface="+mn-ea"/>
                        <a:cs typeface="+mn-cs"/>
                      </a:endParaRPr>
                    </a:p>
                  </a:txBody>
                  <a:tcPr/>
                </a:tc>
                <a:tc hMerge="1">
                  <a:txBody>
                    <a:bodyPr/>
                    <a:lstStyle/>
                    <a:p>
                      <a:endParaRPr lang="fr-FR"/>
                    </a:p>
                  </a:txBody>
                  <a:tcPr/>
                </a:tc>
                <a:extLst>
                  <a:ext uri="{0D108BD9-81ED-4DB2-BD59-A6C34878D82A}">
                    <a16:rowId xmlns:a16="http://schemas.microsoft.com/office/drawing/2014/main" val="1915165610"/>
                  </a:ext>
                </a:extLst>
              </a:tr>
              <a:tr h="470124">
                <a:tc gridSpan="2">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lang="fr-FR" sz="1050" kern="1200" dirty="0">
                          <a:solidFill>
                            <a:schemeClr val="tx1"/>
                          </a:solidFill>
                          <a:latin typeface="Work Sans" panose="00000500000000000000" pitchFamily="2" charset="0"/>
                          <a:ea typeface="+mn-ea"/>
                          <a:cs typeface="+mn-cs"/>
                        </a:rPr>
                        <a:t>Si oui, préciser l’option souhaitée par le client</a:t>
                      </a:r>
                    </a:p>
                    <a:p>
                      <a:pPr marL="0" marR="0" lvl="0" indent="0" algn="l" defTabSz="914400" rtl="0" eaLnBrk="1" fontAlgn="auto" latinLnBrk="0" hangingPunct="1">
                        <a:lnSpc>
                          <a:spcPct val="107000"/>
                        </a:lnSpc>
                        <a:spcBef>
                          <a:spcPts val="0"/>
                        </a:spcBef>
                        <a:spcAft>
                          <a:spcPts val="800"/>
                        </a:spcAft>
                        <a:buClrTx/>
                        <a:buSzTx/>
                        <a:buFontTx/>
                        <a:buNone/>
                        <a:tabLst/>
                        <a:defRPr/>
                      </a:pPr>
                      <a:endParaRPr lang="fr-FR" sz="1050" kern="1200" dirty="0">
                        <a:solidFill>
                          <a:schemeClr val="tx1"/>
                        </a:solidFill>
                        <a:latin typeface="Work Sans" panose="00000500000000000000" pitchFamily="2" charset="0"/>
                        <a:ea typeface="+mn-ea"/>
                        <a:cs typeface="+mn-cs"/>
                      </a:endParaRPr>
                    </a:p>
                  </a:txBody>
                  <a:tcPr marL="34925" marR="34925" marT="34925" marB="34925"/>
                </a:tc>
                <a:tc hMerge="1">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endParaRPr lang="fr-FR" sz="1100" kern="1200" dirty="0">
                        <a:solidFill>
                          <a:schemeClr val="tx1"/>
                        </a:solidFill>
                        <a:highlight>
                          <a:srgbClr val="FFFF00"/>
                        </a:highlight>
                        <a:latin typeface="Work Sans" panose="00000500000000000000" pitchFamily="2" charset="0"/>
                        <a:ea typeface="+mn-ea"/>
                        <a:cs typeface="+mn-cs"/>
                      </a:endParaRPr>
                    </a:p>
                  </a:txBody>
                  <a:tcPr marL="34925" marR="34925" marT="34925" marB="34925"/>
                </a:tc>
                <a:tc gridSpan="3">
                  <a:txBody>
                    <a:bodyPr/>
                    <a:lstStyle/>
                    <a:p>
                      <a:pPr marL="171450" marR="0" lvl="0" indent="-171450" algn="l" defTabSz="914400" rtl="0" eaLnBrk="1" fontAlgn="auto" latinLnBrk="0" hangingPunct="1">
                        <a:lnSpc>
                          <a:spcPct val="107000"/>
                        </a:lnSpc>
                        <a:spcBef>
                          <a:spcPts val="0"/>
                        </a:spcBef>
                        <a:spcAft>
                          <a:spcPts val="800"/>
                        </a:spcAft>
                        <a:buClrTx/>
                        <a:buSzTx/>
                        <a:buFont typeface="Wingdings" panose="05000000000000000000" pitchFamily="2" charset="2"/>
                        <a:buChar char="q"/>
                        <a:tabLst/>
                        <a:defRPr/>
                      </a:pPr>
                      <a:r>
                        <a:rPr lang="fr-FR" sz="1050" b="0" kern="1200" dirty="0">
                          <a:solidFill>
                            <a:schemeClr val="tx1"/>
                          </a:solidFill>
                          <a:latin typeface="Work Sans" panose="00000500000000000000" pitchFamily="2" charset="0"/>
                          <a:ea typeface="+mn-ea"/>
                          <a:cs typeface="+mn-cs"/>
                        </a:rPr>
                        <a:t>Dépose des bornes</a:t>
                      </a:r>
                    </a:p>
                  </a:txBody>
                  <a:tcPr>
                    <a:solidFill>
                      <a:schemeClr val="accent5">
                        <a:lumMod val="20000"/>
                        <a:lumOff val="80000"/>
                      </a:schemeClr>
                    </a:solidFill>
                  </a:tcPr>
                </a:tc>
                <a:tc hMerge="1">
                  <a:txBody>
                    <a:bodyPr/>
                    <a:lstStyle/>
                    <a:p>
                      <a:endParaRPr lang="fr-FR"/>
                    </a:p>
                  </a:txBody>
                  <a:tcPr/>
                </a:tc>
                <a:tc hMerge="1">
                  <a:txBody>
                    <a:bodyPr/>
                    <a:lstStyle/>
                    <a:p>
                      <a:endParaRPr lang="fr-FR"/>
                    </a:p>
                  </a:txBody>
                  <a:tcPr/>
                </a:tc>
                <a:tc gridSpan="4">
                  <a:txBody>
                    <a:bodyPr/>
                    <a:lstStyle/>
                    <a:p>
                      <a:pPr marL="171450" marR="0" lvl="0" indent="-171450" algn="ctr"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lang="fr-FR" sz="1050" kern="1200" dirty="0">
                          <a:solidFill>
                            <a:schemeClr val="tx1"/>
                          </a:solidFill>
                          <a:latin typeface="Work Sans" panose="00000500000000000000" pitchFamily="2" charset="0"/>
                          <a:ea typeface="+mn-ea"/>
                          <a:cs typeface="+mn-cs"/>
                        </a:rPr>
                        <a:t>Remplacement des bornes</a:t>
                      </a:r>
                    </a:p>
                  </a:txBody>
                  <a:tcPr>
                    <a:solidFill>
                      <a:schemeClr val="accent5">
                        <a:lumMod val="20000"/>
                        <a:lumOff val="80000"/>
                      </a:schemeClr>
                    </a:solidFill>
                  </a:tcPr>
                </a:tc>
                <a:tc hMerge="1">
                  <a:txBody>
                    <a:bodyPr/>
                    <a:lstStyle/>
                    <a:p>
                      <a:endParaRPr lang="fr-FR"/>
                    </a:p>
                  </a:txBody>
                  <a:tcPr/>
                </a:tc>
                <a:tc hMerge="1">
                  <a:txBody>
                    <a:bodyPr/>
                    <a:lstStyle/>
                    <a:p>
                      <a:endParaRPr lang="fr-FR"/>
                    </a:p>
                  </a:txBody>
                  <a:tcPr/>
                </a:tc>
                <a:tc hMerge="1">
                  <a:txBody>
                    <a:bodyPr/>
                    <a:lstStyle/>
                    <a:p>
                      <a:pPr marL="171450" marR="0" lvl="0" indent="-171450" algn="ctr"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lang="fr-FR" sz="1100" kern="1200" dirty="0">
                        <a:solidFill>
                          <a:schemeClr val="tx1"/>
                        </a:solidFill>
                        <a:latin typeface="Work Sans" panose="00000500000000000000" pitchFamily="2" charset="0"/>
                        <a:ea typeface="+mn-ea"/>
                        <a:cs typeface="+mn-cs"/>
                      </a:endParaRPr>
                    </a:p>
                  </a:txBody>
                  <a:tcPr/>
                </a:tc>
                <a:tc gridSpan="6">
                  <a:txBody>
                    <a:bodyPr/>
                    <a:lstStyle/>
                    <a:p>
                      <a:pPr marL="171450" marR="0" lvl="0" indent="-171450" algn="l" defTabSz="914400" rtl="0" eaLnBrk="1" fontAlgn="auto" latinLnBrk="0" hangingPunct="1">
                        <a:lnSpc>
                          <a:spcPct val="107000"/>
                        </a:lnSpc>
                        <a:spcBef>
                          <a:spcPts val="0"/>
                        </a:spcBef>
                        <a:spcAft>
                          <a:spcPts val="800"/>
                        </a:spcAft>
                        <a:buClrTx/>
                        <a:buSzTx/>
                        <a:buFont typeface="Wingdings" panose="05000000000000000000" pitchFamily="2" charset="2"/>
                        <a:buChar char="q"/>
                        <a:tabLst/>
                        <a:defRPr/>
                      </a:pPr>
                      <a:r>
                        <a:rPr lang="fr-FR" sz="1050" b="0" kern="1200" dirty="0">
                          <a:solidFill>
                            <a:schemeClr val="tx1"/>
                          </a:solidFill>
                          <a:latin typeface="Work Sans" panose="00000500000000000000" pitchFamily="2" charset="0"/>
                          <a:ea typeface="+mn-ea"/>
                          <a:cs typeface="+mn-cs"/>
                        </a:rPr>
                        <a:t>Reprise en exploitation des bornes</a:t>
                      </a:r>
                    </a:p>
                  </a:txBody>
                  <a:tcPr>
                    <a:solidFill>
                      <a:schemeClr val="accent5">
                        <a:lumMod val="20000"/>
                        <a:lumOff val="80000"/>
                      </a:schemeClr>
                    </a:solidFill>
                  </a:tcPr>
                </a:tc>
                <a:tc hMerge="1">
                  <a:txBody>
                    <a:bodyPr/>
                    <a:lstStyle/>
                    <a:p>
                      <a:endParaRPr lang="fr-FR"/>
                    </a:p>
                  </a:txBody>
                  <a:tcPr/>
                </a:tc>
                <a:tc hMerge="1">
                  <a:txBody>
                    <a:bodyPr/>
                    <a:lstStyle/>
                    <a:p>
                      <a:pPr marL="171450" marR="0" lvl="0" indent="-171450" algn="ctr"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lang="fr-FR" sz="1100" kern="1200" dirty="0">
                        <a:solidFill>
                          <a:schemeClr val="tx1"/>
                        </a:solidFill>
                        <a:latin typeface="Work Sans" panose="00000500000000000000" pitchFamily="2" charset="0"/>
                        <a:ea typeface="+mn-ea"/>
                        <a:cs typeface="+mn-cs"/>
                      </a:endParaRPr>
                    </a:p>
                  </a:txBody>
                  <a:tcPr/>
                </a:tc>
                <a:tc hMerge="1">
                  <a:txBody>
                    <a:bodyPr/>
                    <a:lstStyle/>
                    <a:p>
                      <a:endParaRPr lang="fr-FR"/>
                    </a:p>
                  </a:txBody>
                  <a:tcPr/>
                </a:tc>
                <a:tc hMerge="1">
                  <a:txBody>
                    <a:bodyPr/>
                    <a:lstStyle/>
                    <a:p>
                      <a:pPr marL="171450" marR="0" lvl="0" indent="-171450" algn="ctr"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lang="fr-FR" sz="1100" kern="1200" dirty="0">
                        <a:solidFill>
                          <a:schemeClr val="tx1"/>
                        </a:solidFill>
                        <a:latin typeface="Work Sans" panose="00000500000000000000" pitchFamily="2" charset="0"/>
                        <a:ea typeface="+mn-ea"/>
                        <a:cs typeface="+mn-cs"/>
                      </a:endParaRPr>
                    </a:p>
                  </a:txBody>
                  <a:tcPr/>
                </a:tc>
                <a:tc hMerge="1">
                  <a:txBody>
                    <a:bodyPr/>
                    <a:lstStyle/>
                    <a:p>
                      <a:endParaRPr lang="fr-FR"/>
                    </a:p>
                  </a:txBody>
                  <a:tcPr/>
                </a:tc>
                <a:extLst>
                  <a:ext uri="{0D108BD9-81ED-4DB2-BD59-A6C34878D82A}">
                    <a16:rowId xmlns:a16="http://schemas.microsoft.com/office/drawing/2014/main" val="246129346"/>
                  </a:ext>
                </a:extLst>
              </a:tr>
              <a:tr h="235665">
                <a:tc gridSpan="2">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lang="fr-FR" sz="1050" kern="1200" dirty="0">
                          <a:solidFill>
                            <a:schemeClr val="tx1"/>
                          </a:solidFill>
                          <a:latin typeface="Work Sans" panose="00000500000000000000" pitchFamily="2" charset="0"/>
                          <a:ea typeface="+mn-ea"/>
                          <a:cs typeface="+mn-cs"/>
                        </a:rPr>
                        <a:t>Si reprise en exploitation, préciser le modèle</a:t>
                      </a:r>
                    </a:p>
                  </a:txBody>
                  <a:tcPr marL="34925" marR="34925" marT="34925" marB="34925"/>
                </a:tc>
                <a:tc hMerge="1">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endParaRPr lang="fr-FR" sz="1100" kern="1200" dirty="0">
                        <a:solidFill>
                          <a:schemeClr val="tx1"/>
                        </a:solidFill>
                        <a:highlight>
                          <a:srgbClr val="FFFF00"/>
                        </a:highlight>
                        <a:latin typeface="Work Sans" panose="00000500000000000000" pitchFamily="2" charset="0"/>
                        <a:ea typeface="+mn-ea"/>
                        <a:cs typeface="+mn-cs"/>
                      </a:endParaRPr>
                    </a:p>
                  </a:txBody>
                  <a:tcPr marL="34925" marR="34925" marT="34925" marB="34925"/>
                </a:tc>
                <a:tc gridSpan="3">
                  <a:txBody>
                    <a:bodyPr/>
                    <a:lstStyle/>
                    <a:p>
                      <a:pPr marL="0" marR="0" lvl="0" indent="0" algn="l" defTabSz="914400" rtl="0" eaLnBrk="1" fontAlgn="auto" latinLnBrk="0" hangingPunct="1">
                        <a:lnSpc>
                          <a:spcPct val="107000"/>
                        </a:lnSpc>
                        <a:spcBef>
                          <a:spcPts val="0"/>
                        </a:spcBef>
                        <a:spcAft>
                          <a:spcPts val="800"/>
                        </a:spcAft>
                        <a:buClrTx/>
                        <a:buSzTx/>
                        <a:buFont typeface="Wingdings" panose="05000000000000000000" pitchFamily="2" charset="2"/>
                        <a:buNone/>
                        <a:tabLst/>
                        <a:defRPr/>
                      </a:pPr>
                      <a:r>
                        <a:rPr lang="fr-FR" sz="1050" b="1" dirty="0">
                          <a:latin typeface="Work Sans" panose="00000500000000000000" pitchFamily="2" charset="0"/>
                        </a:rPr>
                        <a:t>MARQUE - MODÈLE</a:t>
                      </a:r>
                      <a:endParaRPr lang="fr-FR" sz="1050" b="1" kern="1200" dirty="0">
                        <a:solidFill>
                          <a:schemeClr val="tx1"/>
                        </a:solidFill>
                        <a:latin typeface="Work Sans" panose="00000500000000000000" pitchFamily="2" charset="0"/>
                        <a:ea typeface="+mn-ea"/>
                        <a:cs typeface="+mn-cs"/>
                      </a:endParaRPr>
                    </a:p>
                  </a:txBody>
                  <a:tcPr/>
                </a:tc>
                <a:tc hMerge="1">
                  <a:txBody>
                    <a:bodyPr/>
                    <a:lstStyle/>
                    <a:p>
                      <a:endParaRPr lang="fr-FR"/>
                    </a:p>
                  </a:txBody>
                  <a:tcPr/>
                </a:tc>
                <a:tc hMerge="1">
                  <a:txBody>
                    <a:bodyPr/>
                    <a:lstStyle/>
                    <a:p>
                      <a:endParaRPr lang="fr-FR"/>
                    </a:p>
                  </a:txBody>
                  <a:tcPr/>
                </a:tc>
                <a:tc gridSpan="4">
                  <a:txBody>
                    <a:bodyPr/>
                    <a:lstStyle/>
                    <a:p>
                      <a:pPr marL="0" marR="0" lvl="0" indent="0" algn="ctr"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fr-FR" sz="1050" kern="1200" dirty="0">
                        <a:solidFill>
                          <a:schemeClr val="tx1"/>
                        </a:solidFill>
                        <a:latin typeface="Work Sans" panose="00000500000000000000" pitchFamily="2" charset="0"/>
                        <a:ea typeface="+mn-ea"/>
                        <a:cs typeface="+mn-cs"/>
                      </a:endParaRPr>
                    </a:p>
                  </a:txBody>
                  <a:tcPr>
                    <a:solidFill>
                      <a:schemeClr val="accent5">
                        <a:lumMod val="20000"/>
                        <a:lumOff val="80000"/>
                      </a:schemeClr>
                    </a:solidFill>
                  </a:tcPr>
                </a:tc>
                <a:tc hMerge="1">
                  <a:txBody>
                    <a:bodyPr/>
                    <a:lstStyle/>
                    <a:p>
                      <a:endParaRPr lang="fr-FR"/>
                    </a:p>
                  </a:txBody>
                  <a:tcPr/>
                </a:tc>
                <a:tc hMerge="1">
                  <a:txBody>
                    <a:bodyPr/>
                    <a:lstStyle/>
                    <a:p>
                      <a:endParaRPr lang="fr-FR"/>
                    </a:p>
                  </a:txBody>
                  <a:tcPr/>
                </a:tc>
                <a:tc hMerge="1">
                  <a:txBody>
                    <a:bodyPr/>
                    <a:lstStyle/>
                    <a:p>
                      <a:endParaRPr lang="fr-FR" dirty="0"/>
                    </a:p>
                  </a:txBody>
                  <a:tcPr/>
                </a:tc>
                <a:tc gridSpan="4">
                  <a:txBody>
                    <a:bodyPr/>
                    <a:lstStyle/>
                    <a:p>
                      <a:pPr marL="0" marR="0" lvl="0" indent="0" algn="l" defTabSz="914400" rtl="0" eaLnBrk="1" fontAlgn="auto" latinLnBrk="0" hangingPunct="1">
                        <a:lnSpc>
                          <a:spcPct val="107000"/>
                        </a:lnSpc>
                        <a:spcBef>
                          <a:spcPts val="0"/>
                        </a:spcBef>
                        <a:spcAft>
                          <a:spcPts val="800"/>
                        </a:spcAft>
                        <a:buClrTx/>
                        <a:buSzTx/>
                        <a:buFont typeface="Wingdings" panose="05000000000000000000" pitchFamily="2" charset="2"/>
                        <a:buNone/>
                        <a:tabLst/>
                        <a:defRPr/>
                      </a:pPr>
                      <a:r>
                        <a:rPr lang="fr-FR" sz="1050" b="1" kern="1200" dirty="0">
                          <a:solidFill>
                            <a:schemeClr val="tx1"/>
                          </a:solidFill>
                          <a:latin typeface="Work Sans" panose="00000500000000000000" pitchFamily="2" charset="0"/>
                          <a:ea typeface="+mn-ea"/>
                          <a:cs typeface="+mn-cs"/>
                        </a:rPr>
                        <a:t>Quantité</a:t>
                      </a:r>
                    </a:p>
                  </a:txBody>
                  <a:tcPr/>
                </a:tc>
                <a:tc hMerge="1">
                  <a:txBody>
                    <a:bodyPr/>
                    <a:lstStyle/>
                    <a:p>
                      <a:endParaRPr lang="fr-FR"/>
                    </a:p>
                  </a:txBody>
                  <a:tcPr/>
                </a:tc>
                <a:tc hMerge="1">
                  <a:txBody>
                    <a:bodyPr/>
                    <a:lstStyle/>
                    <a:p>
                      <a:endParaRPr lang="fr-FR"/>
                    </a:p>
                  </a:txBody>
                  <a:tcPr/>
                </a:tc>
                <a:tc hMerge="1">
                  <a:txBody>
                    <a:bodyPr/>
                    <a:lstStyle/>
                    <a:p>
                      <a:endParaRPr lang="fr-FR"/>
                    </a:p>
                  </a:txBody>
                  <a:tcPr/>
                </a:tc>
                <a:tc gridSpan="2">
                  <a:txBody>
                    <a:bodyPr/>
                    <a:lstStyle/>
                    <a:p>
                      <a:pPr marL="171450" marR="0" lvl="0" indent="-171450" algn="ctr"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lang="fr-FR" sz="1050" kern="1200" dirty="0">
                        <a:solidFill>
                          <a:schemeClr val="tx1"/>
                        </a:solidFill>
                        <a:latin typeface="Work Sans" panose="00000500000000000000" pitchFamily="2" charset="0"/>
                        <a:ea typeface="+mn-ea"/>
                        <a:cs typeface="+mn-cs"/>
                      </a:endParaRPr>
                    </a:p>
                  </a:txBody>
                  <a:tcPr>
                    <a:solidFill>
                      <a:schemeClr val="accent5">
                        <a:lumMod val="20000"/>
                        <a:lumOff val="80000"/>
                      </a:schemeClr>
                    </a:solidFill>
                  </a:tcPr>
                </a:tc>
                <a:tc hMerge="1">
                  <a:txBody>
                    <a:bodyPr/>
                    <a:lstStyle/>
                    <a:p>
                      <a:endParaRPr lang="fr-FR"/>
                    </a:p>
                  </a:txBody>
                  <a:tcPr/>
                </a:tc>
                <a:extLst>
                  <a:ext uri="{0D108BD9-81ED-4DB2-BD59-A6C34878D82A}">
                    <a16:rowId xmlns:a16="http://schemas.microsoft.com/office/drawing/2014/main" val="554172859"/>
                  </a:ext>
                </a:extLst>
              </a:tr>
              <a:tr h="234172">
                <a:tc gridSpan="15">
                  <a:txBody>
                    <a:bodyPr/>
                    <a:lstStyle/>
                    <a:p>
                      <a:r>
                        <a:rPr lang="fr-FR" sz="1050" b="1" dirty="0">
                          <a:solidFill>
                            <a:schemeClr val="bg1"/>
                          </a:solidFill>
                          <a:latin typeface="Work Sans" panose="00000500000000000000" pitchFamily="2" charset="0"/>
                        </a:rPr>
                        <a:t>INTERLOCUTEURS PROJET</a:t>
                      </a:r>
                    </a:p>
                  </a:txBody>
                  <a:tcPr>
                    <a:solidFill>
                      <a:schemeClr val="accent1"/>
                    </a:solidFill>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sz="1400">
                        <a:latin typeface="Work Sans" panose="00000500000000000000" pitchFamily="2" charset="0"/>
                      </a:endParaRP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sz="1200" b="1" dirty="0">
                        <a:solidFill>
                          <a:schemeClr val="bg1"/>
                        </a:solidFill>
                        <a:latin typeface="Work Sans" panose="00000500000000000000" pitchFamily="2" charset="0"/>
                      </a:endParaRPr>
                    </a:p>
                  </a:txBody>
                  <a:tcPr>
                    <a:solidFill>
                      <a:schemeClr val="accent1"/>
                    </a:solidFill>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324853163"/>
                  </a:ext>
                </a:extLst>
              </a:tr>
              <a:tr h="234172">
                <a:tc>
                  <a:txBody>
                    <a:bodyPr/>
                    <a:lstStyle/>
                    <a:p>
                      <a:pPr marL="0" algn="ctr" defTabSz="914400" rtl="0" eaLnBrk="1" latinLnBrk="0" hangingPunct="1"/>
                      <a:r>
                        <a:rPr lang="fr-FR" sz="1050" b="1" kern="1200" dirty="0">
                          <a:solidFill>
                            <a:schemeClr val="tx1"/>
                          </a:solidFill>
                          <a:latin typeface="Work Sans" panose="00000500000000000000" pitchFamily="2" charset="0"/>
                          <a:ea typeface="+mn-ea"/>
                          <a:cs typeface="+mn-cs"/>
                        </a:rPr>
                        <a:t>Entreprise</a:t>
                      </a:r>
                    </a:p>
                  </a:txBody>
                  <a:tcPr/>
                </a:tc>
                <a:tc gridSpan="2">
                  <a:txBody>
                    <a:bodyPr/>
                    <a:lstStyle/>
                    <a:p>
                      <a:pPr algn="ctr"/>
                      <a:r>
                        <a:rPr lang="fr-FR" sz="1050" b="1" kern="1200" dirty="0">
                          <a:solidFill>
                            <a:schemeClr val="tx1"/>
                          </a:solidFill>
                          <a:latin typeface="Work Sans" panose="00000500000000000000" pitchFamily="2" charset="0"/>
                          <a:ea typeface="+mn-ea"/>
                          <a:cs typeface="+mn-cs"/>
                        </a:rPr>
                        <a:t>Nom/Prénom</a:t>
                      </a:r>
                      <a:endParaRPr lang="fr-FR" sz="1600" dirty="0"/>
                    </a:p>
                  </a:txBody>
                  <a:tcPr/>
                </a:tc>
                <a:tc hMerge="1">
                  <a:txBody>
                    <a:bodyPr/>
                    <a:lstStyle/>
                    <a:p>
                      <a:pPr marL="0" algn="ctr" defTabSz="914400" rtl="0" eaLnBrk="1" latinLnBrk="0" hangingPunct="1"/>
                      <a:endParaRPr lang="fr-FR" sz="1400" b="1" kern="1200" dirty="0">
                        <a:solidFill>
                          <a:schemeClr val="tx1"/>
                        </a:solidFill>
                        <a:latin typeface="Work Sans" panose="00000500000000000000" pitchFamily="2" charset="0"/>
                        <a:ea typeface="+mn-ea"/>
                        <a:cs typeface="+mn-cs"/>
                      </a:endParaRPr>
                    </a:p>
                  </a:txBody>
                  <a:tcPr/>
                </a:tc>
                <a:tc gridSpan="3">
                  <a:txBody>
                    <a:bodyPr/>
                    <a:lstStyle/>
                    <a:p>
                      <a:pPr marL="0" algn="ctr" defTabSz="914400" rtl="0" eaLnBrk="1" latinLnBrk="0" hangingPunct="1"/>
                      <a:r>
                        <a:rPr lang="fr-FR" sz="1050" b="1" kern="1200" dirty="0">
                          <a:solidFill>
                            <a:schemeClr val="tx1"/>
                          </a:solidFill>
                          <a:latin typeface="Work Sans" panose="00000500000000000000" pitchFamily="2" charset="0"/>
                          <a:ea typeface="+mn-ea"/>
                          <a:cs typeface="+mn-cs"/>
                        </a:rPr>
                        <a:t>Fonction</a:t>
                      </a:r>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100" b="1" kern="1200" dirty="0">
                          <a:solidFill>
                            <a:schemeClr val="tx1"/>
                          </a:solidFill>
                          <a:latin typeface="Work Sans" panose="00000500000000000000" pitchFamily="2" charset="0"/>
                          <a:ea typeface="+mn-ea"/>
                          <a:cs typeface="+mn-cs"/>
                        </a:rPr>
                        <a:t>Nom/Prénom</a:t>
                      </a:r>
                    </a:p>
                  </a:txBody>
                  <a:tcPr/>
                </a:tc>
                <a:tc hMerge="1">
                  <a:txBody>
                    <a:bodyPr/>
                    <a:lstStyle/>
                    <a:p>
                      <a:endParaRPr lang="fr-FR"/>
                    </a:p>
                  </a:txBody>
                  <a:tcPr/>
                </a:tc>
                <a:tc gridSpan="4">
                  <a:txBody>
                    <a:bodyPr/>
                    <a:lstStyle/>
                    <a:p>
                      <a:pPr marL="0" algn="ctr" defTabSz="914400" rtl="0" eaLnBrk="1" latinLnBrk="0" hangingPunct="1"/>
                      <a:r>
                        <a:rPr lang="fr-FR" sz="1050" b="1" kern="1200" dirty="0">
                          <a:solidFill>
                            <a:schemeClr val="tx1"/>
                          </a:solidFill>
                          <a:latin typeface="Work Sans" panose="00000500000000000000" pitchFamily="2" charset="0"/>
                          <a:ea typeface="+mn-ea"/>
                          <a:cs typeface="+mn-cs"/>
                        </a:rPr>
                        <a:t>Email</a:t>
                      </a:r>
                    </a:p>
                  </a:txBody>
                  <a:tcPr/>
                </a:tc>
                <a:tc hMerge="1">
                  <a:txBody>
                    <a:bodyPr/>
                    <a:lstStyle/>
                    <a:p>
                      <a:endParaRPr lang="fr-FR"/>
                    </a:p>
                  </a:txBody>
                  <a:tcPr/>
                </a:tc>
                <a:tc hMerge="1">
                  <a:txBody>
                    <a:bodyPr/>
                    <a:lstStyle/>
                    <a:p>
                      <a:endParaRPr lang="fr-FR"/>
                    </a:p>
                  </a:txBody>
                  <a:tcPr/>
                </a:tc>
                <a:tc hMerge="1">
                  <a:txBody>
                    <a:bodyPr/>
                    <a:lstStyle/>
                    <a:p>
                      <a:pPr algn="ctr"/>
                      <a:endParaRPr lang="fr-FR" sz="1400" dirty="0"/>
                    </a:p>
                  </a:txBody>
                  <a:tcPr/>
                </a:tc>
                <a:tc gridSpan="2">
                  <a:txBody>
                    <a:bodyPr/>
                    <a:lstStyle/>
                    <a:p>
                      <a:pPr marL="0" algn="ctr" defTabSz="914400" rtl="0" eaLnBrk="1" latinLnBrk="0" hangingPunct="1"/>
                      <a:r>
                        <a:rPr lang="fr-FR" sz="1050" b="1" kern="1200" dirty="0">
                          <a:solidFill>
                            <a:schemeClr val="tx1"/>
                          </a:solidFill>
                          <a:latin typeface="Work Sans" panose="00000500000000000000" pitchFamily="2" charset="0"/>
                          <a:ea typeface="+mn-ea"/>
                          <a:cs typeface="+mn-cs"/>
                        </a:rPr>
                        <a:t>Tel</a:t>
                      </a:r>
                    </a:p>
                  </a:txBody>
                  <a:tcPr/>
                </a:tc>
                <a:tc hMerge="1">
                  <a:txBody>
                    <a:bodyPr/>
                    <a:lstStyle/>
                    <a:p>
                      <a:endParaRPr lang="fr-FR"/>
                    </a:p>
                  </a:txBody>
                  <a:tcPr/>
                </a:tc>
                <a:tc gridSpan="3">
                  <a:txBody>
                    <a:bodyPr/>
                    <a:lstStyle/>
                    <a:p>
                      <a:pPr marL="0" algn="ctr" defTabSz="914400" rtl="0" eaLnBrk="1" latinLnBrk="0" hangingPunct="1"/>
                      <a:r>
                        <a:rPr lang="fr-FR" sz="1050" b="1" kern="1200" dirty="0">
                          <a:solidFill>
                            <a:schemeClr val="tx1"/>
                          </a:solidFill>
                          <a:latin typeface="Work Sans" panose="00000500000000000000" pitchFamily="2" charset="0"/>
                          <a:ea typeface="+mn-ea"/>
                          <a:cs typeface="+mn-cs"/>
                        </a:rPr>
                        <a:t>Présence lors de la visite</a:t>
                      </a:r>
                    </a:p>
                  </a:txBody>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3054977280"/>
                  </a:ext>
                </a:extLst>
              </a:tr>
              <a:tr h="330596">
                <a:tc>
                  <a:txBody>
                    <a:bodyPr/>
                    <a:lstStyle/>
                    <a:p>
                      <a:pPr algn="ctr"/>
                      <a:r>
                        <a:rPr lang="fr-FR" sz="900" dirty="0">
                          <a:latin typeface="Work Sans" panose="00000500000000000000" pitchFamily="2" charset="0"/>
                        </a:rPr>
                        <a:t>IZIVIA</a:t>
                      </a:r>
                    </a:p>
                  </a:txBody>
                  <a:tcPr anchor="ctr"/>
                </a:tc>
                <a:tc gridSpan="2">
                  <a:txBody>
                    <a:bodyPr/>
                    <a:lstStyle/>
                    <a:p>
                      <a:endParaRPr lang="fr-FR" sz="1600" dirty="0"/>
                    </a:p>
                  </a:txBody>
                  <a:tcPr>
                    <a:solidFill>
                      <a:schemeClr val="accent5">
                        <a:lumMod val="20000"/>
                        <a:lumOff val="80000"/>
                      </a:schemeClr>
                    </a:solidFill>
                  </a:tcPr>
                </a:tc>
                <a:tc hMerge="1">
                  <a:txBody>
                    <a:bodyPr/>
                    <a:lstStyle/>
                    <a:p>
                      <a:endParaRPr lang="fr-FR" sz="1200" dirty="0">
                        <a:latin typeface="Work Sans" panose="00000500000000000000" pitchFamily="2" charset="0"/>
                      </a:endParaRPr>
                    </a:p>
                  </a:txBody>
                  <a:tcPr/>
                </a:tc>
                <a:tc gridSpan="3">
                  <a:txBody>
                    <a:bodyPr/>
                    <a:lstStyle/>
                    <a:p>
                      <a:endParaRPr lang="fr-FR" sz="1600" dirty="0"/>
                    </a:p>
                  </a:txBody>
                  <a:tcPr>
                    <a:solidFill>
                      <a:schemeClr val="accent5">
                        <a:lumMod val="20000"/>
                        <a:lumOff val="80000"/>
                      </a:schemeClr>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sz="900" dirty="0">
                        <a:latin typeface="Work Sans" panose="00000500000000000000" pitchFamily="2" charset="0"/>
                      </a:endParaRPr>
                    </a:p>
                  </a:txBody>
                  <a:tcPr/>
                </a:tc>
                <a:tc hMerge="1">
                  <a:txBody>
                    <a:bodyPr/>
                    <a:lstStyle/>
                    <a:p>
                      <a:endParaRPr lang="fr-FR"/>
                    </a:p>
                  </a:txBody>
                  <a:tcPr/>
                </a:tc>
                <a:tc gridSpan="4">
                  <a:txBody>
                    <a:bodyPr/>
                    <a:lstStyle/>
                    <a:p>
                      <a:pPr algn="ctr"/>
                      <a:endParaRPr lang="fr-FR" sz="900" dirty="0">
                        <a:latin typeface="Work Sans" panose="00000500000000000000" pitchFamily="2" charset="0"/>
                      </a:endParaRPr>
                    </a:p>
                  </a:txBody>
                  <a:tcPr>
                    <a:solidFill>
                      <a:schemeClr val="accent5">
                        <a:lumMod val="20000"/>
                        <a:lumOff val="80000"/>
                      </a:schemeClr>
                    </a:solidFill>
                  </a:tcPr>
                </a:tc>
                <a:tc hMerge="1">
                  <a:txBody>
                    <a:bodyPr/>
                    <a:lstStyle/>
                    <a:p>
                      <a:endParaRPr lang="fr-FR"/>
                    </a:p>
                  </a:txBody>
                  <a:tcPr/>
                </a:tc>
                <a:tc hMerge="1">
                  <a:txBody>
                    <a:bodyPr/>
                    <a:lstStyle/>
                    <a:p>
                      <a:endParaRPr lang="fr-FR"/>
                    </a:p>
                  </a:txBody>
                  <a:tcPr/>
                </a:tc>
                <a:tc hMerge="1">
                  <a:txBody>
                    <a:bodyPr/>
                    <a:lstStyle/>
                    <a:p>
                      <a:pPr algn="ctr"/>
                      <a:endParaRPr lang="fr-FR" sz="900" dirty="0">
                        <a:latin typeface="Work Sans" panose="00000500000000000000" pitchFamily="2" charset="0"/>
                      </a:endParaRPr>
                    </a:p>
                  </a:txBody>
                  <a:tcPr/>
                </a:tc>
                <a:tc gridSpan="2">
                  <a:txBody>
                    <a:bodyPr/>
                    <a:lstStyle/>
                    <a:p>
                      <a:pPr algn="ctr"/>
                      <a:endParaRPr lang="fr-FR" sz="800" dirty="0">
                        <a:latin typeface="Work Sans" panose="00000500000000000000" pitchFamily="2" charset="0"/>
                      </a:endParaRPr>
                    </a:p>
                  </a:txBody>
                  <a:tcPr>
                    <a:solidFill>
                      <a:schemeClr val="accent5">
                        <a:lumMod val="20000"/>
                        <a:lumOff val="80000"/>
                      </a:schemeClr>
                    </a:solidFill>
                  </a:tcPr>
                </a:tc>
                <a:tc hMerge="1">
                  <a:txBody>
                    <a:bodyPr/>
                    <a:lstStyle/>
                    <a:p>
                      <a:endParaRPr lang="fr-FR"/>
                    </a:p>
                  </a:txBody>
                  <a:tcPr/>
                </a:tc>
                <a:tc gridSpan="2">
                  <a:txBody>
                    <a:bodyPr/>
                    <a:lstStyle/>
                    <a:p>
                      <a:pPr marL="171450" marR="0" lvl="0" indent="-171450" algn="ctr"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lang="fr-FR" sz="800" kern="1200" dirty="0">
                          <a:solidFill>
                            <a:schemeClr val="tx1"/>
                          </a:solidFill>
                          <a:latin typeface="Work Sans" panose="00000500000000000000" pitchFamily="2" charset="0"/>
                          <a:ea typeface="+mn-ea"/>
                          <a:cs typeface="+mn-cs"/>
                        </a:rPr>
                        <a:t>Oui</a:t>
                      </a:r>
                      <a:endParaRPr lang="fr-FR" sz="800" dirty="0">
                        <a:latin typeface="Work Sans" panose="00000500000000000000" pitchFamily="2" charset="0"/>
                      </a:endParaRPr>
                    </a:p>
                  </a:txBody>
                  <a:tcPr>
                    <a:solidFill>
                      <a:schemeClr val="accent5">
                        <a:lumMod val="20000"/>
                        <a:lumOff val="80000"/>
                      </a:schemeClr>
                    </a:solidFill>
                  </a:tcPr>
                </a:tc>
                <a:tc hMerge="1">
                  <a:txBody>
                    <a:bodyPr/>
                    <a:lstStyle/>
                    <a:p>
                      <a:endParaRPr lang="fr-FR"/>
                    </a:p>
                  </a:txBody>
                  <a:tcPr/>
                </a:tc>
                <a:tc>
                  <a:txBody>
                    <a:bodyPr/>
                    <a:lstStyle/>
                    <a:p>
                      <a:pPr marL="171450" marR="0" lvl="0" indent="-171450" algn="ctr"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lang="fr-FR" sz="800" dirty="0">
                          <a:latin typeface="Work Sans" panose="00000500000000000000" pitchFamily="2" charset="0"/>
                        </a:rPr>
                        <a:t>Non</a:t>
                      </a:r>
                    </a:p>
                  </a:txBody>
                  <a:tcPr>
                    <a:solidFill>
                      <a:schemeClr val="accent5">
                        <a:lumMod val="20000"/>
                        <a:lumOff val="80000"/>
                      </a:schemeClr>
                    </a:solidFill>
                  </a:tcPr>
                </a:tc>
                <a:extLst>
                  <a:ext uri="{0D108BD9-81ED-4DB2-BD59-A6C34878D82A}">
                    <a16:rowId xmlns:a16="http://schemas.microsoft.com/office/drawing/2014/main" val="2171044594"/>
                  </a:ext>
                </a:extLst>
              </a:tr>
              <a:tr h="330596">
                <a:tc>
                  <a:txBody>
                    <a:bodyPr/>
                    <a:lstStyle/>
                    <a:p>
                      <a:pPr algn="ctr"/>
                      <a:r>
                        <a:rPr lang="fr-FR" sz="900" dirty="0">
                          <a:latin typeface="Work Sans" panose="00000500000000000000" pitchFamily="2" charset="0"/>
                        </a:rPr>
                        <a:t>Installateur</a:t>
                      </a:r>
                    </a:p>
                  </a:txBody>
                  <a:tcPr anchor="ctr"/>
                </a:tc>
                <a:tc gridSpan="2">
                  <a:txBody>
                    <a:bodyPr/>
                    <a:lstStyle/>
                    <a:p>
                      <a:endParaRPr lang="fr-FR" sz="1600" dirty="0"/>
                    </a:p>
                  </a:txBody>
                  <a:tcPr>
                    <a:solidFill>
                      <a:schemeClr val="accent5">
                        <a:lumMod val="20000"/>
                        <a:lumOff val="80000"/>
                      </a:schemeClr>
                    </a:solidFill>
                  </a:tcPr>
                </a:tc>
                <a:tc hMerge="1">
                  <a:txBody>
                    <a:bodyPr/>
                    <a:lstStyle/>
                    <a:p>
                      <a:endParaRPr lang="fr-FR" sz="1200" dirty="0">
                        <a:latin typeface="Work Sans" panose="00000500000000000000" pitchFamily="2" charset="0"/>
                      </a:endParaRPr>
                    </a:p>
                  </a:txBody>
                  <a:tcPr/>
                </a:tc>
                <a:tc gridSpan="3">
                  <a:txBody>
                    <a:bodyPr/>
                    <a:lstStyle/>
                    <a:p>
                      <a:endParaRPr lang="fr-FR" sz="1600" dirty="0"/>
                    </a:p>
                  </a:txBody>
                  <a:tcPr>
                    <a:solidFill>
                      <a:schemeClr val="accent5">
                        <a:lumMod val="20000"/>
                        <a:lumOff val="80000"/>
                      </a:schemeClr>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sz="900" dirty="0">
                        <a:solidFill>
                          <a:schemeClr val="tx1"/>
                        </a:solidFill>
                        <a:latin typeface="Work Sans" panose="00000500000000000000" pitchFamily="2" charset="0"/>
                      </a:endParaRPr>
                    </a:p>
                  </a:txBody>
                  <a:tcPr/>
                </a:tc>
                <a:tc hMerge="1">
                  <a:txBody>
                    <a:bodyPr/>
                    <a:lstStyle/>
                    <a:p>
                      <a:endParaRPr lang="fr-FR"/>
                    </a:p>
                  </a:txBody>
                  <a:tcPr/>
                </a:tc>
                <a:tc gridSpan="4">
                  <a:txBody>
                    <a:bodyPr/>
                    <a:lstStyle/>
                    <a:p>
                      <a:pPr algn="ctr"/>
                      <a:endParaRPr lang="fr-FR" sz="900" dirty="0">
                        <a:latin typeface="Work Sans" panose="00000500000000000000" pitchFamily="2" charset="0"/>
                      </a:endParaRPr>
                    </a:p>
                  </a:txBody>
                  <a:tcPr>
                    <a:solidFill>
                      <a:schemeClr val="accent5">
                        <a:lumMod val="20000"/>
                        <a:lumOff val="80000"/>
                      </a:schemeClr>
                    </a:solidFill>
                  </a:tcPr>
                </a:tc>
                <a:tc hMerge="1">
                  <a:txBody>
                    <a:bodyPr/>
                    <a:lstStyle/>
                    <a:p>
                      <a:endParaRPr lang="fr-FR"/>
                    </a:p>
                  </a:txBody>
                  <a:tcPr/>
                </a:tc>
                <a:tc hMerge="1">
                  <a:txBody>
                    <a:bodyPr/>
                    <a:lstStyle/>
                    <a:p>
                      <a:endParaRPr lang="fr-FR"/>
                    </a:p>
                  </a:txBody>
                  <a:tcPr/>
                </a:tc>
                <a:tc hMerge="1">
                  <a:txBody>
                    <a:bodyPr/>
                    <a:lstStyle/>
                    <a:p>
                      <a:pPr algn="ctr"/>
                      <a:endParaRPr lang="fr-FR" sz="900" dirty="0">
                        <a:solidFill>
                          <a:schemeClr val="tx1"/>
                        </a:solidFill>
                        <a:latin typeface="Work Sans" panose="00000500000000000000" pitchFamily="2" charset="0"/>
                      </a:endParaRPr>
                    </a:p>
                  </a:txBody>
                  <a:tcPr/>
                </a:tc>
                <a:tc gridSpan="2">
                  <a:txBody>
                    <a:bodyPr/>
                    <a:lstStyle/>
                    <a:p>
                      <a:pPr algn="ctr"/>
                      <a:endParaRPr lang="fr-FR" sz="800" kern="1200" dirty="0">
                        <a:solidFill>
                          <a:schemeClr val="tx1"/>
                        </a:solidFill>
                        <a:latin typeface="Work Sans" panose="00000500000000000000" pitchFamily="2" charset="0"/>
                        <a:ea typeface="+mn-ea"/>
                        <a:cs typeface="+mn-cs"/>
                      </a:endParaRPr>
                    </a:p>
                  </a:txBody>
                  <a:tcPr>
                    <a:solidFill>
                      <a:schemeClr val="accent5">
                        <a:lumMod val="20000"/>
                        <a:lumOff val="80000"/>
                      </a:schemeClr>
                    </a:solidFill>
                  </a:tcPr>
                </a:tc>
                <a:tc hMerge="1">
                  <a:txBody>
                    <a:bodyPr/>
                    <a:lstStyle/>
                    <a:p>
                      <a:endParaRPr lang="fr-FR"/>
                    </a:p>
                  </a:txBody>
                  <a:tcPr/>
                </a:tc>
                <a:tc gridSpan="2">
                  <a:txBody>
                    <a:bodyPr/>
                    <a:lstStyle/>
                    <a:p>
                      <a:pPr marL="171450" marR="0" lvl="0" indent="-171450" algn="ctr"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lang="fr-FR" sz="800" kern="1200" dirty="0">
                          <a:solidFill>
                            <a:schemeClr val="tx1"/>
                          </a:solidFill>
                          <a:latin typeface="Work Sans" panose="00000500000000000000" pitchFamily="2" charset="0"/>
                          <a:ea typeface="+mn-ea"/>
                          <a:cs typeface="+mn-cs"/>
                        </a:rPr>
                        <a:t>Oui</a:t>
                      </a:r>
                      <a:endParaRPr lang="fr-FR" sz="800" dirty="0">
                        <a:latin typeface="Work Sans" panose="00000500000000000000" pitchFamily="2" charset="0"/>
                      </a:endParaRPr>
                    </a:p>
                  </a:txBody>
                  <a:tcPr>
                    <a:solidFill>
                      <a:schemeClr val="accent5">
                        <a:lumMod val="20000"/>
                        <a:lumOff val="80000"/>
                      </a:schemeClr>
                    </a:solidFill>
                  </a:tcPr>
                </a:tc>
                <a:tc hMerge="1">
                  <a:txBody>
                    <a:bodyPr/>
                    <a:lstStyle/>
                    <a:p>
                      <a:endParaRPr lang="fr-FR"/>
                    </a:p>
                  </a:txBody>
                  <a:tcPr/>
                </a:tc>
                <a:tc>
                  <a:txBody>
                    <a:bodyPr/>
                    <a:lstStyle/>
                    <a:p>
                      <a:pPr marL="171450" marR="0" lvl="0" indent="-171450" algn="ctr"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lang="fr-FR" sz="800" dirty="0">
                          <a:latin typeface="Work Sans" panose="00000500000000000000" pitchFamily="2" charset="0"/>
                        </a:rPr>
                        <a:t>Non</a:t>
                      </a:r>
                    </a:p>
                  </a:txBody>
                  <a:tcPr>
                    <a:solidFill>
                      <a:schemeClr val="accent5">
                        <a:lumMod val="20000"/>
                        <a:lumOff val="80000"/>
                      </a:schemeClr>
                    </a:solidFill>
                  </a:tcPr>
                </a:tc>
                <a:extLst>
                  <a:ext uri="{0D108BD9-81ED-4DB2-BD59-A6C34878D82A}">
                    <a16:rowId xmlns:a16="http://schemas.microsoft.com/office/drawing/2014/main" val="1333168184"/>
                  </a:ext>
                </a:extLst>
              </a:tr>
              <a:tr h="33059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dirty="0">
                          <a:latin typeface="Work Sans" panose="00000500000000000000" pitchFamily="2" charset="0"/>
                        </a:rPr>
                        <a:t>Client</a:t>
                      </a:r>
                    </a:p>
                  </a:txBody>
                  <a:tcPr anchor="ctr"/>
                </a:tc>
                <a:tc gridSpan="2">
                  <a:txBody>
                    <a:bodyPr/>
                    <a:lstStyle/>
                    <a:p>
                      <a:endParaRPr lang="fr-FR" sz="1600" dirty="0"/>
                    </a:p>
                  </a:txBody>
                  <a:tcPr>
                    <a:solidFill>
                      <a:schemeClr val="accent5">
                        <a:lumMod val="20000"/>
                        <a:lumOff val="80000"/>
                      </a:schemeClr>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1200" dirty="0">
                        <a:latin typeface="Work Sans" panose="00000500000000000000" pitchFamily="2" charset="0"/>
                      </a:endParaRPr>
                    </a:p>
                  </a:txBody>
                  <a:tcPr/>
                </a:tc>
                <a:tc gridSpan="3">
                  <a:txBody>
                    <a:bodyPr/>
                    <a:lstStyle/>
                    <a:p>
                      <a:endParaRPr lang="fr-FR" sz="1600" dirty="0"/>
                    </a:p>
                  </a:txBody>
                  <a:tcPr>
                    <a:solidFill>
                      <a:schemeClr val="accent5">
                        <a:lumMod val="20000"/>
                        <a:lumOff val="80000"/>
                      </a:schemeClr>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sz="900" dirty="0">
                        <a:solidFill>
                          <a:schemeClr val="tx1"/>
                        </a:solidFill>
                        <a:latin typeface="Work Sans" panose="00000500000000000000" pitchFamily="2" charset="0"/>
                      </a:endParaRPr>
                    </a:p>
                  </a:txBody>
                  <a:tcPr/>
                </a:tc>
                <a:tc hMerge="1">
                  <a:txBody>
                    <a:bodyPr/>
                    <a:lstStyle/>
                    <a:p>
                      <a:endParaRPr lang="fr-FR"/>
                    </a:p>
                  </a:txBody>
                  <a:tcPr/>
                </a:tc>
                <a:tc grid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sz="900" dirty="0">
                        <a:latin typeface="Work Sans" panose="00000500000000000000" pitchFamily="2" charset="0"/>
                      </a:endParaRPr>
                    </a:p>
                  </a:txBody>
                  <a:tcPr>
                    <a:solidFill>
                      <a:schemeClr val="accent5">
                        <a:lumMod val="20000"/>
                        <a:lumOff val="80000"/>
                      </a:schemeClr>
                    </a:solidFill>
                  </a:tcPr>
                </a:tc>
                <a:tc hMerge="1">
                  <a:txBody>
                    <a:bodyPr/>
                    <a:lstStyle/>
                    <a:p>
                      <a:endParaRPr lang="fr-FR"/>
                    </a:p>
                  </a:txBody>
                  <a:tcPr/>
                </a:tc>
                <a:tc hMerge="1">
                  <a:txBody>
                    <a:bodyPr/>
                    <a:lstStyle/>
                    <a:p>
                      <a:endParaRPr lang="fr-FR"/>
                    </a:p>
                  </a:txBody>
                  <a:tcPr/>
                </a:tc>
                <a:tc hMerge="1">
                  <a:txBody>
                    <a:bodyPr/>
                    <a:lstStyle/>
                    <a:p>
                      <a:pPr algn="ctr"/>
                      <a:endParaRPr lang="fr-FR" sz="900" dirty="0">
                        <a:solidFill>
                          <a:schemeClr val="tx1"/>
                        </a:solidFill>
                        <a:latin typeface="Work Sans" panose="00000500000000000000" pitchFamily="2" charset="0"/>
                      </a:endParaRPr>
                    </a:p>
                  </a:txBody>
                  <a:tcPr/>
                </a:tc>
                <a:tc gridSpan="2">
                  <a:txBody>
                    <a:bodyPr/>
                    <a:lstStyle/>
                    <a:p>
                      <a:pPr algn="ctr"/>
                      <a:endParaRPr lang="fr-FR" sz="800" kern="1200" dirty="0">
                        <a:solidFill>
                          <a:schemeClr val="tx1"/>
                        </a:solidFill>
                        <a:latin typeface="Work Sans" panose="00000500000000000000" pitchFamily="2" charset="0"/>
                        <a:ea typeface="+mn-ea"/>
                        <a:cs typeface="+mn-cs"/>
                      </a:endParaRPr>
                    </a:p>
                  </a:txBody>
                  <a:tcPr>
                    <a:solidFill>
                      <a:schemeClr val="accent5">
                        <a:lumMod val="20000"/>
                        <a:lumOff val="80000"/>
                      </a:schemeClr>
                    </a:solidFill>
                  </a:tcPr>
                </a:tc>
                <a:tc hMerge="1">
                  <a:txBody>
                    <a:bodyPr/>
                    <a:lstStyle/>
                    <a:p>
                      <a:endParaRPr lang="fr-FR"/>
                    </a:p>
                  </a:txBody>
                  <a:tcPr/>
                </a:tc>
                <a:tc gridSpan="2">
                  <a:txBody>
                    <a:bodyPr/>
                    <a:lstStyle/>
                    <a:p>
                      <a:pPr marL="171450" marR="0" lvl="0" indent="-171450" algn="ctr"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lang="fr-FR" sz="800" kern="1200" dirty="0">
                          <a:solidFill>
                            <a:schemeClr val="tx1"/>
                          </a:solidFill>
                          <a:latin typeface="Work Sans" panose="00000500000000000000" pitchFamily="2" charset="0"/>
                          <a:ea typeface="+mn-ea"/>
                          <a:cs typeface="+mn-cs"/>
                        </a:rPr>
                        <a:t>Oui</a:t>
                      </a:r>
                      <a:endParaRPr lang="fr-FR" sz="800" dirty="0">
                        <a:latin typeface="Work Sans" panose="00000500000000000000" pitchFamily="2" charset="0"/>
                      </a:endParaRPr>
                    </a:p>
                  </a:txBody>
                  <a:tcPr>
                    <a:solidFill>
                      <a:schemeClr val="accent5">
                        <a:lumMod val="20000"/>
                        <a:lumOff val="80000"/>
                      </a:schemeClr>
                    </a:solidFill>
                  </a:tcPr>
                </a:tc>
                <a:tc hMerge="1">
                  <a:txBody>
                    <a:bodyPr/>
                    <a:lstStyle/>
                    <a:p>
                      <a:endParaRPr lang="fr-FR"/>
                    </a:p>
                  </a:txBody>
                  <a:tcPr/>
                </a:tc>
                <a:tc>
                  <a:txBody>
                    <a:bodyPr/>
                    <a:lstStyle/>
                    <a:p>
                      <a:pPr marL="171450" marR="0" lvl="0" indent="-171450" algn="ctr"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lang="fr-FR" sz="800" dirty="0">
                          <a:latin typeface="Work Sans" panose="00000500000000000000" pitchFamily="2" charset="0"/>
                        </a:rPr>
                        <a:t>Non</a:t>
                      </a:r>
                    </a:p>
                  </a:txBody>
                  <a:tcPr>
                    <a:solidFill>
                      <a:schemeClr val="accent5">
                        <a:lumMod val="20000"/>
                        <a:lumOff val="80000"/>
                      </a:schemeClr>
                    </a:solidFill>
                  </a:tcPr>
                </a:tc>
                <a:extLst>
                  <a:ext uri="{0D108BD9-81ED-4DB2-BD59-A6C34878D82A}">
                    <a16:rowId xmlns:a16="http://schemas.microsoft.com/office/drawing/2014/main" val="1536769514"/>
                  </a:ext>
                </a:extLst>
              </a:tr>
            </a:tbl>
          </a:graphicData>
        </a:graphic>
      </p:graphicFrame>
      <p:sp>
        <p:nvSpPr>
          <p:cNvPr id="8" name="Espace réservé du numéro de diapositive 7">
            <a:extLst>
              <a:ext uri="{FF2B5EF4-FFF2-40B4-BE49-F238E27FC236}">
                <a16:creationId xmlns:a16="http://schemas.microsoft.com/office/drawing/2014/main" id="{F1089307-D06E-44B0-AE2D-28996C6ECD7D}"/>
              </a:ext>
            </a:extLst>
          </p:cNvPr>
          <p:cNvSpPr>
            <a:spLocks noGrp="1"/>
          </p:cNvSpPr>
          <p:nvPr>
            <p:ph type="sldNum" sz="quarter" idx="10"/>
          </p:nvPr>
        </p:nvSpPr>
        <p:spPr>
          <a:xfrm>
            <a:off x="11337514" y="6376568"/>
            <a:ext cx="437781" cy="167113"/>
          </a:xfrm>
        </p:spPr>
        <p:txBody>
          <a:bodyPr/>
          <a:lstStyle/>
          <a:p>
            <a:fld id="{B0E65964-A4DF-446E-B0D3-80C6F778AEE2}" type="slidenum">
              <a:rPr lang="fr-FR" smtClean="0"/>
              <a:t>2</a:t>
            </a:fld>
            <a:endParaRPr lang="fr-FR" dirty="0"/>
          </a:p>
        </p:txBody>
      </p:sp>
    </p:spTree>
    <p:extLst>
      <p:ext uri="{BB962C8B-B14F-4D97-AF65-F5344CB8AC3E}">
        <p14:creationId xmlns:p14="http://schemas.microsoft.com/office/powerpoint/2010/main" val="12004759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5BC826-FE93-341D-605C-981A05ED35B0}"/>
              </a:ext>
            </a:extLst>
          </p:cNvPr>
          <p:cNvSpPr>
            <a:spLocks noGrp="1"/>
          </p:cNvSpPr>
          <p:nvPr>
            <p:ph type="title"/>
          </p:nvPr>
        </p:nvSpPr>
        <p:spPr>
          <a:xfrm>
            <a:off x="838200" y="402350"/>
            <a:ext cx="7711440" cy="5795978"/>
          </a:xfrm>
        </p:spPr>
        <p:txBody>
          <a:bodyPr>
            <a:normAutofit/>
          </a:bodyPr>
          <a:lstStyle/>
          <a:p>
            <a:r>
              <a:rPr lang="fr-FR" sz="3000" b="1" dirty="0">
                <a:solidFill>
                  <a:schemeClr val="accent1"/>
                </a:solidFill>
                <a:latin typeface="Work Sans ExtraLight"/>
              </a:rPr>
              <a:t>Insérer le fond de plan d’implantation et le compléter :</a:t>
            </a:r>
            <a:br>
              <a:rPr lang="fr-FR" b="1" dirty="0">
                <a:solidFill>
                  <a:schemeClr val="accent1"/>
                </a:solidFill>
              </a:rPr>
            </a:br>
            <a:br>
              <a:rPr lang="fr-FR" sz="1600" dirty="0"/>
            </a:br>
            <a:br>
              <a:rPr lang="fr-FR" sz="1600" dirty="0"/>
            </a:br>
            <a:r>
              <a:rPr lang="fr-FR" sz="1600" dirty="0"/>
              <a:t>Si l’installation est prévue en extérieur, le fond de plan doit être pris sur </a:t>
            </a:r>
            <a:r>
              <a:rPr lang="fr-FR" sz="1600" dirty="0">
                <a:hlinkClick r:id="rId2"/>
              </a:rPr>
              <a:t>Google </a:t>
            </a:r>
            <a:r>
              <a:rPr lang="fr-FR" sz="1600" dirty="0" err="1">
                <a:hlinkClick r:id="rId2"/>
              </a:rPr>
              <a:t>Maps</a:t>
            </a:r>
            <a:r>
              <a:rPr lang="fr-FR" sz="1600" dirty="0">
                <a:hlinkClick r:id="rId2"/>
              </a:rPr>
              <a:t> </a:t>
            </a:r>
            <a:r>
              <a:rPr lang="fr-FR" sz="1600" dirty="0"/>
              <a:t>en mode satellite, et complété avec les éléments de la légende ci-jointe.</a:t>
            </a:r>
            <a:br>
              <a:rPr lang="fr-FR" sz="1600" dirty="0"/>
            </a:br>
            <a:br>
              <a:rPr lang="fr-FR" sz="1600" dirty="0"/>
            </a:br>
            <a:r>
              <a:rPr lang="fr-FR" sz="1600" dirty="0"/>
              <a:t>Si l’installation est prévue en sous-sol/silo, le plan doit être réalisé sur fond de plan EXE/TQC fourni par le client, et complété avec les éléments de la légende ci-jointe.</a:t>
            </a:r>
            <a:br>
              <a:rPr lang="fr-FR" sz="1600" dirty="0"/>
            </a:br>
            <a:br>
              <a:rPr lang="fr-FR" sz="1600" dirty="0"/>
            </a:br>
            <a:r>
              <a:rPr lang="fr-FR" sz="1600" dirty="0"/>
              <a:t>Dans tous les cas, l’échelle doit être visible sur le fond de plan Google </a:t>
            </a:r>
            <a:r>
              <a:rPr lang="fr-FR" sz="1600" dirty="0" err="1"/>
              <a:t>Maps</a:t>
            </a:r>
            <a:r>
              <a:rPr lang="fr-FR" sz="1600" dirty="0"/>
              <a:t> ou sur le plan client </a:t>
            </a:r>
            <a:br>
              <a:rPr lang="fr-FR" sz="1600" dirty="0"/>
            </a:br>
            <a:br>
              <a:rPr lang="fr-FR" sz="1600" dirty="0"/>
            </a:br>
            <a:r>
              <a:rPr lang="fr-FR" sz="1600" dirty="0"/>
              <a:t>Toute modification prévue de l’installation existante doit être indiquée sur le plan d’implantation</a:t>
            </a:r>
            <a:br>
              <a:rPr lang="fr-FR" dirty="0"/>
            </a:br>
            <a:endParaRPr lang="fr-FR" b="1" dirty="0">
              <a:solidFill>
                <a:schemeClr val="accent1"/>
              </a:solidFill>
            </a:endParaRPr>
          </a:p>
        </p:txBody>
      </p:sp>
      <p:graphicFrame>
        <p:nvGraphicFramePr>
          <p:cNvPr id="4" name="Tableau 3">
            <a:extLst>
              <a:ext uri="{FF2B5EF4-FFF2-40B4-BE49-F238E27FC236}">
                <a16:creationId xmlns:a16="http://schemas.microsoft.com/office/drawing/2014/main" id="{B1509F71-C84A-D84D-0C7A-5DFCF68017EA}"/>
              </a:ext>
            </a:extLst>
          </p:cNvPr>
          <p:cNvGraphicFramePr>
            <a:graphicFrameLocks noGrp="1"/>
          </p:cNvGraphicFramePr>
          <p:nvPr>
            <p:extLst>
              <p:ext uri="{D42A27DB-BD31-4B8C-83A1-F6EECF244321}">
                <p14:modId xmlns:p14="http://schemas.microsoft.com/office/powerpoint/2010/main" val="475699545"/>
              </p:ext>
            </p:extLst>
          </p:nvPr>
        </p:nvGraphicFramePr>
        <p:xfrm>
          <a:off x="9133130" y="715368"/>
          <a:ext cx="2578735" cy="5532120"/>
        </p:xfrm>
        <a:graphic>
          <a:graphicData uri="http://schemas.openxmlformats.org/drawingml/2006/table">
            <a:tbl>
              <a:tblPr firstRow="1" bandRow="1">
                <a:tableStyleId>{5C22544A-7EE6-4342-B048-85BDC9FD1C3A}</a:tableStyleId>
              </a:tblPr>
              <a:tblGrid>
                <a:gridCol w="534807">
                  <a:extLst>
                    <a:ext uri="{9D8B030D-6E8A-4147-A177-3AD203B41FA5}">
                      <a16:colId xmlns:a16="http://schemas.microsoft.com/office/drawing/2014/main" val="4112533767"/>
                    </a:ext>
                  </a:extLst>
                </a:gridCol>
                <a:gridCol w="2043928">
                  <a:extLst>
                    <a:ext uri="{9D8B030D-6E8A-4147-A177-3AD203B41FA5}">
                      <a16:colId xmlns:a16="http://schemas.microsoft.com/office/drawing/2014/main" val="208385739"/>
                    </a:ext>
                  </a:extLst>
                </a:gridCol>
              </a:tblGrid>
              <a:tr h="370840">
                <a:tc gridSpan="2">
                  <a:txBody>
                    <a:bodyPr/>
                    <a:lstStyle/>
                    <a:p>
                      <a:pPr algn="ctr"/>
                      <a:r>
                        <a:rPr lang="fr-FR" dirty="0"/>
                        <a:t>LEGENDE</a:t>
                      </a:r>
                    </a:p>
                  </a:txBody>
                  <a:tcPr/>
                </a:tc>
                <a:tc hMerge="1">
                  <a:txBody>
                    <a:bodyPr/>
                    <a:lstStyle/>
                    <a:p>
                      <a:endParaRPr lang="fr-FR" dirty="0"/>
                    </a:p>
                  </a:txBody>
                  <a:tcPr/>
                </a:tc>
                <a:extLst>
                  <a:ext uri="{0D108BD9-81ED-4DB2-BD59-A6C34878D82A}">
                    <a16:rowId xmlns:a16="http://schemas.microsoft.com/office/drawing/2014/main" val="3535201564"/>
                  </a:ext>
                </a:extLst>
              </a:tr>
              <a:tr h="370840">
                <a:tc>
                  <a:txBody>
                    <a:bodyPr/>
                    <a:lstStyle/>
                    <a:p>
                      <a:endParaRPr lang="fr-FR" dirty="0"/>
                    </a:p>
                  </a:txBody>
                  <a:tcPr/>
                </a:tc>
                <a:tc>
                  <a:txBody>
                    <a:bodyPr/>
                    <a:lstStyle/>
                    <a:p>
                      <a:r>
                        <a:rPr lang="fr-FR" dirty="0"/>
                        <a:t>TGBT / PDL</a:t>
                      </a:r>
                    </a:p>
                  </a:txBody>
                  <a:tcPr/>
                </a:tc>
                <a:extLst>
                  <a:ext uri="{0D108BD9-81ED-4DB2-BD59-A6C34878D82A}">
                    <a16:rowId xmlns:a16="http://schemas.microsoft.com/office/drawing/2014/main" val="2597052460"/>
                  </a:ext>
                </a:extLst>
              </a:tr>
              <a:tr h="370840">
                <a:tc>
                  <a:txBody>
                    <a:bodyPr/>
                    <a:lstStyle/>
                    <a:p>
                      <a:endParaRPr lang="fr-FR" dirty="0"/>
                    </a:p>
                  </a:txBody>
                  <a:tcPr/>
                </a:tc>
                <a:tc>
                  <a:txBody>
                    <a:bodyPr/>
                    <a:lstStyle/>
                    <a:p>
                      <a:r>
                        <a:rPr lang="fr-FR" dirty="0"/>
                        <a:t>TD IRVE</a:t>
                      </a:r>
                    </a:p>
                  </a:txBody>
                  <a:tcPr/>
                </a:tc>
                <a:extLst>
                  <a:ext uri="{0D108BD9-81ED-4DB2-BD59-A6C34878D82A}">
                    <a16:rowId xmlns:a16="http://schemas.microsoft.com/office/drawing/2014/main" val="2779484023"/>
                  </a:ext>
                </a:extLst>
              </a:tr>
              <a:tr h="370840">
                <a:tc>
                  <a:txBody>
                    <a:bodyPr/>
                    <a:lstStyle/>
                    <a:p>
                      <a:endParaRPr lang="fr-FR" dirty="0"/>
                    </a:p>
                  </a:txBody>
                  <a:tcPr/>
                </a:tc>
                <a:tc>
                  <a:txBody>
                    <a:bodyPr/>
                    <a:lstStyle/>
                    <a:p>
                      <a:r>
                        <a:rPr lang="fr-FR" dirty="0"/>
                        <a:t>CFO (fourreau)</a:t>
                      </a:r>
                    </a:p>
                  </a:txBody>
                  <a:tcPr/>
                </a:tc>
                <a:extLst>
                  <a:ext uri="{0D108BD9-81ED-4DB2-BD59-A6C34878D82A}">
                    <a16:rowId xmlns:a16="http://schemas.microsoft.com/office/drawing/2014/main" val="2490381081"/>
                  </a:ext>
                </a:extLst>
              </a:tr>
              <a:tr h="370840">
                <a:tc>
                  <a:txBody>
                    <a:bodyPr/>
                    <a:lstStyle/>
                    <a:p>
                      <a:endParaRPr lang="fr-FR" dirty="0"/>
                    </a:p>
                  </a:txBody>
                  <a:tcPr/>
                </a:tc>
                <a:tc>
                  <a:txBody>
                    <a:bodyPr/>
                    <a:lstStyle/>
                    <a:p>
                      <a:r>
                        <a:rPr lang="fr-FR" dirty="0"/>
                        <a:t>CFO (</a:t>
                      </a:r>
                      <a:r>
                        <a:rPr lang="fr-FR" dirty="0" err="1"/>
                        <a:t>cdc</a:t>
                      </a:r>
                      <a:r>
                        <a:rPr lang="fr-FR" dirty="0"/>
                        <a:t>)</a:t>
                      </a:r>
                    </a:p>
                  </a:txBody>
                  <a:tcPr/>
                </a:tc>
                <a:extLst>
                  <a:ext uri="{0D108BD9-81ED-4DB2-BD59-A6C34878D82A}">
                    <a16:rowId xmlns:a16="http://schemas.microsoft.com/office/drawing/2014/main" val="332826702"/>
                  </a:ext>
                </a:extLst>
              </a:tr>
              <a:tr h="370840">
                <a:tc>
                  <a:txBody>
                    <a:bodyPr/>
                    <a:lstStyle/>
                    <a:p>
                      <a:endParaRPr lang="fr-FR" dirty="0"/>
                    </a:p>
                  </a:txBody>
                  <a:tcPr/>
                </a:tc>
                <a:tc>
                  <a:txBody>
                    <a:bodyPr/>
                    <a:lstStyle/>
                    <a:p>
                      <a:r>
                        <a:rPr lang="fr-FR" dirty="0"/>
                        <a:t>CFA (fourreau)</a:t>
                      </a:r>
                    </a:p>
                  </a:txBody>
                  <a:tcPr/>
                </a:tc>
                <a:extLst>
                  <a:ext uri="{0D108BD9-81ED-4DB2-BD59-A6C34878D82A}">
                    <a16:rowId xmlns:a16="http://schemas.microsoft.com/office/drawing/2014/main" val="1893181485"/>
                  </a:ext>
                </a:extLst>
              </a:tr>
              <a:tr h="370840">
                <a:tc>
                  <a:txBody>
                    <a:bodyPr/>
                    <a:lstStyle/>
                    <a:p>
                      <a:endParaRPr lang="fr-FR" dirty="0"/>
                    </a:p>
                  </a:txBody>
                  <a:tcPr/>
                </a:tc>
                <a:tc>
                  <a:txBody>
                    <a:bodyPr/>
                    <a:lstStyle/>
                    <a:p>
                      <a:r>
                        <a:rPr lang="fr-FR" dirty="0"/>
                        <a:t>CFA (</a:t>
                      </a:r>
                      <a:r>
                        <a:rPr lang="fr-FR" dirty="0" err="1"/>
                        <a:t>cdc</a:t>
                      </a:r>
                      <a:r>
                        <a:rPr lang="fr-FR" dirty="0"/>
                        <a:t>)</a:t>
                      </a:r>
                    </a:p>
                  </a:txBody>
                  <a:tcPr/>
                </a:tc>
                <a:extLst>
                  <a:ext uri="{0D108BD9-81ED-4DB2-BD59-A6C34878D82A}">
                    <a16:rowId xmlns:a16="http://schemas.microsoft.com/office/drawing/2014/main" val="860980336"/>
                  </a:ext>
                </a:extLst>
              </a:tr>
              <a:tr h="370840">
                <a:tc>
                  <a:txBody>
                    <a:bodyPr/>
                    <a:lstStyle/>
                    <a:p>
                      <a:endParaRPr lang="fr-FR" dirty="0"/>
                    </a:p>
                  </a:txBody>
                  <a:tcPr/>
                </a:tc>
                <a:tc>
                  <a:txBody>
                    <a:bodyPr/>
                    <a:lstStyle/>
                    <a:p>
                      <a:r>
                        <a:rPr lang="fr-FR" dirty="0"/>
                        <a:t>Borne 7kW</a:t>
                      </a:r>
                    </a:p>
                  </a:txBody>
                  <a:tcPr/>
                </a:tc>
                <a:extLst>
                  <a:ext uri="{0D108BD9-81ED-4DB2-BD59-A6C34878D82A}">
                    <a16:rowId xmlns:a16="http://schemas.microsoft.com/office/drawing/2014/main" val="1280270984"/>
                  </a:ext>
                </a:extLst>
              </a:tr>
              <a:tr h="370840">
                <a:tc>
                  <a:txBody>
                    <a:bodyPr/>
                    <a:lstStyle/>
                    <a:p>
                      <a:endParaRPr lang="fr-FR" dirty="0"/>
                    </a:p>
                  </a:txBody>
                  <a:tcPr/>
                </a:tc>
                <a:tc>
                  <a:txBody>
                    <a:bodyPr/>
                    <a:lstStyle/>
                    <a:p>
                      <a:r>
                        <a:rPr lang="fr-FR" dirty="0"/>
                        <a:t>Borne 11kW</a:t>
                      </a:r>
                    </a:p>
                  </a:txBody>
                  <a:tcPr/>
                </a:tc>
                <a:extLst>
                  <a:ext uri="{0D108BD9-81ED-4DB2-BD59-A6C34878D82A}">
                    <a16:rowId xmlns:a16="http://schemas.microsoft.com/office/drawing/2014/main" val="1009939797"/>
                  </a:ext>
                </a:extLst>
              </a:tr>
              <a:tr h="185420">
                <a:tc>
                  <a:txBody>
                    <a:bodyPr/>
                    <a:lstStyle/>
                    <a:p>
                      <a:endParaRPr lang="fr-FR" dirty="0"/>
                    </a:p>
                  </a:txBody>
                  <a:tcPr/>
                </a:tc>
                <a:tc>
                  <a:txBody>
                    <a:bodyPr/>
                    <a:lstStyle/>
                    <a:p>
                      <a:r>
                        <a:rPr lang="fr-FR" dirty="0"/>
                        <a:t>Borne 22kW</a:t>
                      </a:r>
                    </a:p>
                  </a:txBody>
                  <a:tcPr/>
                </a:tc>
                <a:extLst>
                  <a:ext uri="{0D108BD9-81ED-4DB2-BD59-A6C34878D82A}">
                    <a16:rowId xmlns:a16="http://schemas.microsoft.com/office/drawing/2014/main" val="3688526721"/>
                  </a:ext>
                </a:extLst>
              </a:tr>
              <a:tr h="185420">
                <a:tc>
                  <a:txBody>
                    <a:bodyPr/>
                    <a:lstStyle/>
                    <a:p>
                      <a:endParaRPr lang="fr-FR" dirty="0"/>
                    </a:p>
                  </a:txBody>
                  <a:tcPr/>
                </a:tc>
                <a:tc>
                  <a:txBody>
                    <a:bodyPr/>
                    <a:lstStyle/>
                    <a:p>
                      <a:r>
                        <a:rPr lang="fr-FR" dirty="0"/>
                        <a:t>Borne DC</a:t>
                      </a:r>
                    </a:p>
                  </a:txBody>
                  <a:tcPr/>
                </a:tc>
                <a:extLst>
                  <a:ext uri="{0D108BD9-81ED-4DB2-BD59-A6C34878D82A}">
                    <a16:rowId xmlns:a16="http://schemas.microsoft.com/office/drawing/2014/main" val="659810252"/>
                  </a:ext>
                </a:extLst>
              </a:tr>
              <a:tr h="185420">
                <a:tc>
                  <a:txBody>
                    <a:bodyPr/>
                    <a:lstStyle/>
                    <a:p>
                      <a:endParaRPr lang="fr-FR" dirty="0"/>
                    </a:p>
                  </a:txBody>
                  <a:tcPr/>
                </a:tc>
                <a:tc>
                  <a:txBody>
                    <a:bodyPr/>
                    <a:lstStyle/>
                    <a:p>
                      <a:r>
                        <a:rPr lang="fr-FR" dirty="0"/>
                        <a:t>Massif béton</a:t>
                      </a:r>
                    </a:p>
                  </a:txBody>
                  <a:tcPr/>
                </a:tc>
                <a:extLst>
                  <a:ext uri="{0D108BD9-81ED-4DB2-BD59-A6C34878D82A}">
                    <a16:rowId xmlns:a16="http://schemas.microsoft.com/office/drawing/2014/main" val="2109682959"/>
                  </a:ext>
                </a:extLst>
              </a:tr>
              <a:tr h="185420">
                <a:tc>
                  <a:txBody>
                    <a:bodyPr/>
                    <a:lstStyle/>
                    <a:p>
                      <a:endParaRPr lang="fr-FR" dirty="0"/>
                    </a:p>
                  </a:txBody>
                  <a:tcPr/>
                </a:tc>
                <a:tc>
                  <a:txBody>
                    <a:bodyPr/>
                    <a:lstStyle/>
                    <a:p>
                      <a:r>
                        <a:rPr lang="fr-FR" dirty="0"/>
                        <a:t>Chambre de tirage</a:t>
                      </a:r>
                    </a:p>
                  </a:txBody>
                  <a:tcPr/>
                </a:tc>
                <a:extLst>
                  <a:ext uri="{0D108BD9-81ED-4DB2-BD59-A6C34878D82A}">
                    <a16:rowId xmlns:a16="http://schemas.microsoft.com/office/drawing/2014/main" val="3652009915"/>
                  </a:ext>
                </a:extLst>
              </a:tr>
              <a:tr h="185420">
                <a:tc>
                  <a:txBody>
                    <a:bodyPr/>
                    <a:lstStyle/>
                    <a:p>
                      <a:endParaRPr lang="fr-FR" dirty="0"/>
                    </a:p>
                  </a:txBody>
                  <a:tcPr/>
                </a:tc>
                <a:tc>
                  <a:txBody>
                    <a:bodyPr/>
                    <a:lstStyle/>
                    <a:p>
                      <a:r>
                        <a:rPr lang="fr-FR" dirty="0"/>
                        <a:t>Modem</a:t>
                      </a:r>
                    </a:p>
                  </a:txBody>
                  <a:tcPr/>
                </a:tc>
                <a:extLst>
                  <a:ext uri="{0D108BD9-81ED-4DB2-BD59-A6C34878D82A}">
                    <a16:rowId xmlns:a16="http://schemas.microsoft.com/office/drawing/2014/main" val="2612807683"/>
                  </a:ext>
                </a:extLst>
              </a:tr>
              <a:tr h="185420">
                <a:tc>
                  <a:txBody>
                    <a:bodyPr/>
                    <a:lstStyle/>
                    <a:p>
                      <a:endParaRPr lang="fr-FR" dirty="0"/>
                    </a:p>
                  </a:txBody>
                  <a:tcPr/>
                </a:tc>
                <a:tc>
                  <a:txBody>
                    <a:bodyPr/>
                    <a:lstStyle/>
                    <a:p>
                      <a:r>
                        <a:rPr lang="fr-FR" dirty="0"/>
                        <a:t>Tranchée</a:t>
                      </a:r>
                    </a:p>
                  </a:txBody>
                  <a:tcPr/>
                </a:tc>
                <a:extLst>
                  <a:ext uri="{0D108BD9-81ED-4DB2-BD59-A6C34878D82A}">
                    <a16:rowId xmlns:a16="http://schemas.microsoft.com/office/drawing/2014/main" val="1077667507"/>
                  </a:ext>
                </a:extLst>
              </a:tr>
            </a:tbl>
          </a:graphicData>
        </a:graphic>
      </p:graphicFrame>
      <p:sp>
        <p:nvSpPr>
          <p:cNvPr id="143" name="Rectangle : coins arrondis 142">
            <a:extLst>
              <a:ext uri="{FF2B5EF4-FFF2-40B4-BE49-F238E27FC236}">
                <a16:creationId xmlns:a16="http://schemas.microsoft.com/office/drawing/2014/main" id="{D50A906C-85A0-9FAB-1858-7DFC0EB989B6}"/>
              </a:ext>
            </a:extLst>
          </p:cNvPr>
          <p:cNvSpPr/>
          <p:nvPr/>
        </p:nvSpPr>
        <p:spPr>
          <a:xfrm>
            <a:off x="9224647" y="1543820"/>
            <a:ext cx="297820" cy="220654"/>
          </a:xfrm>
          <a:prstGeom prst="roundRect">
            <a:avLst/>
          </a:prstGeom>
          <a:solidFill>
            <a:schemeClr val="accent5">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pic>
        <p:nvPicPr>
          <p:cNvPr id="144" name="Image 143">
            <a:extLst>
              <a:ext uri="{FF2B5EF4-FFF2-40B4-BE49-F238E27FC236}">
                <a16:creationId xmlns:a16="http://schemas.microsoft.com/office/drawing/2014/main" id="{3B4DBBC9-0777-A99B-3BA7-475D0B4E23DC}"/>
              </a:ext>
            </a:extLst>
          </p:cNvPr>
          <p:cNvPicPr>
            <a:picLocks noChangeAspect="1"/>
          </p:cNvPicPr>
          <p:nvPr/>
        </p:nvPicPr>
        <p:blipFill>
          <a:blip r:embed="rId3"/>
          <a:stretch>
            <a:fillRect/>
          </a:stretch>
        </p:blipFill>
        <p:spPr>
          <a:xfrm>
            <a:off x="9260400" y="1204355"/>
            <a:ext cx="217147" cy="192421"/>
          </a:xfrm>
          <a:prstGeom prst="rect">
            <a:avLst/>
          </a:prstGeom>
        </p:spPr>
      </p:pic>
      <p:cxnSp>
        <p:nvCxnSpPr>
          <p:cNvPr id="146" name="Connecteur droit 145">
            <a:extLst>
              <a:ext uri="{FF2B5EF4-FFF2-40B4-BE49-F238E27FC236}">
                <a16:creationId xmlns:a16="http://schemas.microsoft.com/office/drawing/2014/main" id="{C3F74D49-28D4-237D-3E5A-1DFFEB978BBC}"/>
              </a:ext>
            </a:extLst>
          </p:cNvPr>
          <p:cNvCxnSpPr>
            <a:cxnSpLocks/>
          </p:cNvCxnSpPr>
          <p:nvPr/>
        </p:nvCxnSpPr>
        <p:spPr>
          <a:xfrm>
            <a:off x="9224674" y="3130721"/>
            <a:ext cx="359571" cy="0"/>
          </a:xfrm>
          <a:prstGeom prst="line">
            <a:avLst/>
          </a:prstGeom>
          <a:ln w="19050" cap="flat" cmpd="sng" algn="ctr">
            <a:solidFill>
              <a:srgbClr val="00E874"/>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47" name="Connecteur droit 146">
            <a:extLst>
              <a:ext uri="{FF2B5EF4-FFF2-40B4-BE49-F238E27FC236}">
                <a16:creationId xmlns:a16="http://schemas.microsoft.com/office/drawing/2014/main" id="{448487E4-3FCA-3173-D9FB-BECE6522BDF9}"/>
              </a:ext>
            </a:extLst>
          </p:cNvPr>
          <p:cNvCxnSpPr>
            <a:cxnSpLocks/>
          </p:cNvCxnSpPr>
          <p:nvPr/>
        </p:nvCxnSpPr>
        <p:spPr>
          <a:xfrm>
            <a:off x="9201921" y="2060951"/>
            <a:ext cx="343893" cy="0"/>
          </a:xfrm>
          <a:prstGeom prst="line">
            <a:avLst/>
          </a:prstGeom>
          <a:ln w="19050" cap="flat" cmpd="sng" algn="ctr">
            <a:solidFill>
              <a:srgbClr val="FF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 name="Rectangle : en biseau 4">
            <a:extLst>
              <a:ext uri="{FF2B5EF4-FFF2-40B4-BE49-F238E27FC236}">
                <a16:creationId xmlns:a16="http://schemas.microsoft.com/office/drawing/2014/main" id="{C2AA029B-CD33-6BCF-6588-0EB5B53E136D}"/>
              </a:ext>
            </a:extLst>
          </p:cNvPr>
          <p:cNvSpPr/>
          <p:nvPr/>
        </p:nvSpPr>
        <p:spPr>
          <a:xfrm rot="16200000">
            <a:off x="9291114" y="5240415"/>
            <a:ext cx="219112" cy="229324"/>
          </a:xfrm>
          <a:prstGeom prst="bevel">
            <a:avLst>
              <a:gd name="adj" fmla="val 50000"/>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 coins arrondis 8">
            <a:extLst>
              <a:ext uri="{FF2B5EF4-FFF2-40B4-BE49-F238E27FC236}">
                <a16:creationId xmlns:a16="http://schemas.microsoft.com/office/drawing/2014/main" id="{A3DC3768-918A-785B-384D-E386987D44F3}"/>
              </a:ext>
            </a:extLst>
          </p:cNvPr>
          <p:cNvSpPr/>
          <p:nvPr/>
        </p:nvSpPr>
        <p:spPr>
          <a:xfrm>
            <a:off x="9242118" y="3757218"/>
            <a:ext cx="288589" cy="192647"/>
          </a:xfrm>
          <a:prstGeom prst="roundRect">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0" name="Rectangle : coins arrondis 9">
            <a:extLst>
              <a:ext uri="{FF2B5EF4-FFF2-40B4-BE49-F238E27FC236}">
                <a16:creationId xmlns:a16="http://schemas.microsoft.com/office/drawing/2014/main" id="{205729F8-0FA5-E890-FDAA-B68E33144EE4}"/>
              </a:ext>
            </a:extLst>
          </p:cNvPr>
          <p:cNvSpPr/>
          <p:nvPr/>
        </p:nvSpPr>
        <p:spPr>
          <a:xfrm>
            <a:off x="9233877" y="3380509"/>
            <a:ext cx="288590" cy="219113"/>
          </a:xfrm>
          <a:prstGeom prst="round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1" name="Rectangle : coins arrondis 10">
            <a:extLst>
              <a:ext uri="{FF2B5EF4-FFF2-40B4-BE49-F238E27FC236}">
                <a16:creationId xmlns:a16="http://schemas.microsoft.com/office/drawing/2014/main" id="{8E41B993-0577-EC8F-C24E-62E939A6CC18}"/>
              </a:ext>
            </a:extLst>
          </p:cNvPr>
          <p:cNvSpPr/>
          <p:nvPr/>
        </p:nvSpPr>
        <p:spPr>
          <a:xfrm>
            <a:off x="9230668" y="4129642"/>
            <a:ext cx="285414" cy="219111"/>
          </a:xfrm>
          <a:prstGeom prst="round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cxnSp>
        <p:nvCxnSpPr>
          <p:cNvPr id="13" name="Connecteur droit 12">
            <a:extLst>
              <a:ext uri="{FF2B5EF4-FFF2-40B4-BE49-F238E27FC236}">
                <a16:creationId xmlns:a16="http://schemas.microsoft.com/office/drawing/2014/main" id="{8EC46D6B-E9B6-CF38-7170-1FA986E0608B}"/>
              </a:ext>
            </a:extLst>
          </p:cNvPr>
          <p:cNvCxnSpPr>
            <a:cxnSpLocks/>
          </p:cNvCxnSpPr>
          <p:nvPr/>
        </p:nvCxnSpPr>
        <p:spPr>
          <a:xfrm>
            <a:off x="9233876" y="2774226"/>
            <a:ext cx="359571" cy="0"/>
          </a:xfrm>
          <a:prstGeom prst="line">
            <a:avLst/>
          </a:prstGeom>
          <a:ln w="19050" cap="flat" cmpd="sng" algn="ctr">
            <a:solidFill>
              <a:srgbClr val="00E87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4" name="Connecteur droit 13">
            <a:extLst>
              <a:ext uri="{FF2B5EF4-FFF2-40B4-BE49-F238E27FC236}">
                <a16:creationId xmlns:a16="http://schemas.microsoft.com/office/drawing/2014/main" id="{463AEE4B-2B42-5192-F21D-87AF9F2C094C}"/>
              </a:ext>
            </a:extLst>
          </p:cNvPr>
          <p:cNvCxnSpPr>
            <a:cxnSpLocks/>
          </p:cNvCxnSpPr>
          <p:nvPr/>
        </p:nvCxnSpPr>
        <p:spPr>
          <a:xfrm>
            <a:off x="9225481" y="2394356"/>
            <a:ext cx="343893" cy="0"/>
          </a:xfrm>
          <a:prstGeom prst="line">
            <a:avLst/>
          </a:prstGeom>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5" name="Rectangle : coins arrondis 14">
            <a:extLst>
              <a:ext uri="{FF2B5EF4-FFF2-40B4-BE49-F238E27FC236}">
                <a16:creationId xmlns:a16="http://schemas.microsoft.com/office/drawing/2014/main" id="{93845771-2228-CCF3-4651-420991449D2F}"/>
              </a:ext>
            </a:extLst>
          </p:cNvPr>
          <p:cNvSpPr/>
          <p:nvPr/>
        </p:nvSpPr>
        <p:spPr>
          <a:xfrm>
            <a:off x="9244888" y="4859684"/>
            <a:ext cx="285414" cy="219111"/>
          </a:xfrm>
          <a:prstGeom prst="roundRect">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8" name="Signe de multiplication 17">
            <a:extLst>
              <a:ext uri="{FF2B5EF4-FFF2-40B4-BE49-F238E27FC236}">
                <a16:creationId xmlns:a16="http://schemas.microsoft.com/office/drawing/2014/main" id="{B9A5ACEE-0151-0D91-3479-E82B3F1C6C81}"/>
              </a:ext>
            </a:extLst>
          </p:cNvPr>
          <p:cNvSpPr/>
          <p:nvPr/>
        </p:nvSpPr>
        <p:spPr>
          <a:xfrm>
            <a:off x="9249504" y="5549980"/>
            <a:ext cx="359571" cy="325625"/>
          </a:xfrm>
          <a:prstGeom prst="mathMultiply">
            <a:avLst/>
          </a:prstGeom>
          <a:noFill/>
          <a:ln w="28575">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Rectangle : coins arrondis 20">
            <a:extLst>
              <a:ext uri="{FF2B5EF4-FFF2-40B4-BE49-F238E27FC236}">
                <a16:creationId xmlns:a16="http://schemas.microsoft.com/office/drawing/2014/main" id="{1253D29B-75AE-828A-C511-824BFA024EC8}"/>
              </a:ext>
            </a:extLst>
          </p:cNvPr>
          <p:cNvSpPr/>
          <p:nvPr/>
        </p:nvSpPr>
        <p:spPr>
          <a:xfrm>
            <a:off x="9243705" y="4516815"/>
            <a:ext cx="285414" cy="219111"/>
          </a:xfrm>
          <a:prstGeom prst="roundRect">
            <a:avLst/>
          </a:prstGeom>
          <a:solidFill>
            <a:srgbClr val="7030A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pic>
        <p:nvPicPr>
          <p:cNvPr id="25" name="Image 24">
            <a:extLst>
              <a:ext uri="{FF2B5EF4-FFF2-40B4-BE49-F238E27FC236}">
                <a16:creationId xmlns:a16="http://schemas.microsoft.com/office/drawing/2014/main" id="{E702DB8B-A063-54F8-6770-6534C65EC20F}"/>
              </a:ext>
            </a:extLst>
          </p:cNvPr>
          <p:cNvPicPr>
            <a:picLocks noChangeAspect="1"/>
          </p:cNvPicPr>
          <p:nvPr/>
        </p:nvPicPr>
        <p:blipFill>
          <a:blip r:embed="rId4"/>
          <a:stretch>
            <a:fillRect/>
          </a:stretch>
        </p:blipFill>
        <p:spPr>
          <a:xfrm>
            <a:off x="2647679" y="5374876"/>
            <a:ext cx="1476581" cy="240546"/>
          </a:xfrm>
          <a:prstGeom prst="rect">
            <a:avLst/>
          </a:prstGeom>
        </p:spPr>
      </p:pic>
      <p:pic>
        <p:nvPicPr>
          <p:cNvPr id="27" name="Image 26">
            <a:extLst>
              <a:ext uri="{FF2B5EF4-FFF2-40B4-BE49-F238E27FC236}">
                <a16:creationId xmlns:a16="http://schemas.microsoft.com/office/drawing/2014/main" id="{A8AAFC8C-164D-AF8F-4CF5-E2426547CB8F}"/>
              </a:ext>
            </a:extLst>
          </p:cNvPr>
          <p:cNvPicPr>
            <a:picLocks noChangeAspect="1"/>
          </p:cNvPicPr>
          <p:nvPr/>
        </p:nvPicPr>
        <p:blipFill>
          <a:blip r:embed="rId5"/>
          <a:stretch>
            <a:fillRect/>
          </a:stretch>
        </p:blipFill>
        <p:spPr>
          <a:xfrm>
            <a:off x="4920737" y="5196649"/>
            <a:ext cx="1200318" cy="571580"/>
          </a:xfrm>
          <a:prstGeom prst="rect">
            <a:avLst/>
          </a:prstGeom>
        </p:spPr>
      </p:pic>
      <p:cxnSp>
        <p:nvCxnSpPr>
          <p:cNvPr id="29" name="Connecteur droit 28">
            <a:extLst>
              <a:ext uri="{FF2B5EF4-FFF2-40B4-BE49-F238E27FC236}">
                <a16:creationId xmlns:a16="http://schemas.microsoft.com/office/drawing/2014/main" id="{5F831650-461F-349C-6041-A394A5D3136C}"/>
              </a:ext>
            </a:extLst>
          </p:cNvPr>
          <p:cNvCxnSpPr/>
          <p:nvPr/>
        </p:nvCxnSpPr>
        <p:spPr>
          <a:xfrm>
            <a:off x="9303903" y="6070508"/>
            <a:ext cx="265471" cy="0"/>
          </a:xfrm>
          <a:prstGeom prst="line">
            <a:avLst/>
          </a:prstGeom>
          <a:ln w="762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240105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au 6">
            <a:extLst>
              <a:ext uri="{FF2B5EF4-FFF2-40B4-BE49-F238E27FC236}">
                <a16:creationId xmlns:a16="http://schemas.microsoft.com/office/drawing/2014/main" id="{C1418DA3-AD69-4918-9A7E-CF1ED3FF4218}"/>
              </a:ext>
            </a:extLst>
          </p:cNvPr>
          <p:cNvGraphicFramePr>
            <a:graphicFrameLocks noGrp="1"/>
          </p:cNvGraphicFramePr>
          <p:nvPr>
            <p:extLst>
              <p:ext uri="{D42A27DB-BD31-4B8C-83A1-F6EECF244321}">
                <p14:modId xmlns:p14="http://schemas.microsoft.com/office/powerpoint/2010/main" val="3706527606"/>
              </p:ext>
            </p:extLst>
          </p:nvPr>
        </p:nvGraphicFramePr>
        <p:xfrm>
          <a:off x="302182" y="309703"/>
          <a:ext cx="11587636" cy="2500961"/>
        </p:xfrm>
        <a:graphic>
          <a:graphicData uri="http://schemas.openxmlformats.org/drawingml/2006/table">
            <a:tbl>
              <a:tblPr firstRow="1" bandRow="1">
                <a:tableStyleId>{5940675A-B579-460E-94D1-54222C63F5DA}</a:tableStyleId>
              </a:tblPr>
              <a:tblGrid>
                <a:gridCol w="5916046">
                  <a:extLst>
                    <a:ext uri="{9D8B030D-6E8A-4147-A177-3AD203B41FA5}">
                      <a16:colId xmlns:a16="http://schemas.microsoft.com/office/drawing/2014/main" val="3627121043"/>
                    </a:ext>
                  </a:extLst>
                </a:gridCol>
                <a:gridCol w="921551">
                  <a:extLst>
                    <a:ext uri="{9D8B030D-6E8A-4147-A177-3AD203B41FA5}">
                      <a16:colId xmlns:a16="http://schemas.microsoft.com/office/drawing/2014/main" val="315986044"/>
                    </a:ext>
                  </a:extLst>
                </a:gridCol>
                <a:gridCol w="805649">
                  <a:extLst>
                    <a:ext uri="{9D8B030D-6E8A-4147-A177-3AD203B41FA5}">
                      <a16:colId xmlns:a16="http://schemas.microsoft.com/office/drawing/2014/main" val="122145865"/>
                    </a:ext>
                  </a:extLst>
                </a:gridCol>
                <a:gridCol w="1284317">
                  <a:extLst>
                    <a:ext uri="{9D8B030D-6E8A-4147-A177-3AD203B41FA5}">
                      <a16:colId xmlns:a16="http://schemas.microsoft.com/office/drawing/2014/main" val="2837498043"/>
                    </a:ext>
                  </a:extLst>
                </a:gridCol>
                <a:gridCol w="1016001">
                  <a:extLst>
                    <a:ext uri="{9D8B030D-6E8A-4147-A177-3AD203B41FA5}">
                      <a16:colId xmlns:a16="http://schemas.microsoft.com/office/drawing/2014/main" val="577620156"/>
                    </a:ext>
                  </a:extLst>
                </a:gridCol>
                <a:gridCol w="1644072">
                  <a:extLst>
                    <a:ext uri="{9D8B030D-6E8A-4147-A177-3AD203B41FA5}">
                      <a16:colId xmlns:a16="http://schemas.microsoft.com/office/drawing/2014/main" val="2533598297"/>
                    </a:ext>
                  </a:extLst>
                </a:gridCol>
              </a:tblGrid>
              <a:tr h="270408">
                <a:tc gridSpan="6">
                  <a:txBody>
                    <a:bodyPr/>
                    <a:lstStyle/>
                    <a:p>
                      <a:r>
                        <a:rPr lang="fr-FR" sz="1200" b="1" dirty="0">
                          <a:solidFill>
                            <a:schemeClr val="bg1"/>
                          </a:solidFill>
                          <a:latin typeface="Work Sans" panose="00000500000000000000" pitchFamily="2" charset="0"/>
                        </a:rPr>
                        <a:t>SPÉCIFICITÉS DU SITE (à remplir selon informations du client)</a:t>
                      </a:r>
                    </a:p>
                  </a:txBody>
                  <a:tcPr>
                    <a:solidFill>
                      <a:schemeClr val="accent6">
                        <a:lumMod val="75000"/>
                      </a:schemeClr>
                    </a:solidFill>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sz="1200" b="1" dirty="0">
                        <a:solidFill>
                          <a:schemeClr val="bg1"/>
                        </a:solidFill>
                        <a:latin typeface="Work Sans" panose="00000500000000000000" pitchFamily="2" charset="0"/>
                      </a:endParaRPr>
                    </a:p>
                  </a:txBody>
                  <a:tcPr>
                    <a:solidFill>
                      <a:schemeClr val="accent1"/>
                    </a:solidFill>
                  </a:tcPr>
                </a:tc>
                <a:tc hMerge="1">
                  <a:txBody>
                    <a:bodyPr/>
                    <a:lstStyle/>
                    <a:p>
                      <a:endParaRPr lang="fr-FR"/>
                    </a:p>
                  </a:txBody>
                  <a:tcPr/>
                </a:tc>
                <a:extLst>
                  <a:ext uri="{0D108BD9-81ED-4DB2-BD59-A6C34878D82A}">
                    <a16:rowId xmlns:a16="http://schemas.microsoft.com/office/drawing/2014/main" val="2459031976"/>
                  </a:ext>
                </a:extLst>
              </a:tr>
              <a:tr h="288000">
                <a:tc gridSpan="2">
                  <a:txBody>
                    <a:bodyPr/>
                    <a:lstStyle/>
                    <a:p>
                      <a:pPr algn="just">
                        <a:lnSpc>
                          <a:spcPct val="100000"/>
                        </a:lnSpc>
                        <a:spcAft>
                          <a:spcPts val="0"/>
                        </a:spcAft>
                      </a:pPr>
                      <a:r>
                        <a:rPr lang="fr-FR" sz="1200" kern="1200" dirty="0">
                          <a:solidFill>
                            <a:schemeClr val="tx1"/>
                          </a:solidFill>
                          <a:latin typeface="Work Sans" panose="00000500000000000000" pitchFamily="2" charset="0"/>
                          <a:ea typeface="+mn-ea"/>
                          <a:cs typeface="+mn-cs"/>
                        </a:rPr>
                        <a:t>Jours et horaires d’ouverture (employés et grand public) du site</a:t>
                      </a:r>
                    </a:p>
                  </a:txBody>
                  <a:tcPr marL="34925" marR="34925" marT="34925" marB="34925" anchor="ctr"/>
                </a:tc>
                <a:tc hMerge="1">
                  <a:txBody>
                    <a:bodyPr/>
                    <a:lstStyle/>
                    <a:p>
                      <a:pPr marL="0" algn="just" defTabSz="914400" rtl="0" eaLnBrk="1" latinLnBrk="0" hangingPunct="1">
                        <a:lnSpc>
                          <a:spcPct val="100000"/>
                        </a:lnSpc>
                        <a:spcAft>
                          <a:spcPts val="0"/>
                        </a:spcAft>
                      </a:pPr>
                      <a:endParaRPr lang="fr-FR" sz="1200" kern="1200" dirty="0">
                        <a:solidFill>
                          <a:schemeClr val="tx1"/>
                        </a:solidFill>
                        <a:latin typeface="Work Sans" panose="00000500000000000000" pitchFamily="2" charset="0"/>
                        <a:ea typeface="+mn-ea"/>
                        <a:cs typeface="+mn-cs"/>
                      </a:endParaRPr>
                    </a:p>
                  </a:txBody>
                  <a:tcPr/>
                </a:tc>
                <a:tc gridSpan="4">
                  <a:txBody>
                    <a:bodyPr/>
                    <a:lstStyle/>
                    <a:p>
                      <a:endParaRPr lang="fr-FR" sz="1200" dirty="0"/>
                    </a:p>
                  </a:txBody>
                  <a:tcPr>
                    <a:solidFill>
                      <a:schemeClr val="accent6">
                        <a:lumMod val="20000"/>
                        <a:lumOff val="80000"/>
                      </a:schemeClr>
                    </a:solidFill>
                  </a:tcPr>
                </a:tc>
                <a:tc hMerge="1">
                  <a:txBody>
                    <a:bodyPr/>
                    <a:lstStyle/>
                    <a:p>
                      <a:endParaRPr lang="fr-FR"/>
                    </a:p>
                  </a:txBody>
                  <a:tcPr/>
                </a:tc>
                <a:tc hMerge="1">
                  <a:txBody>
                    <a:bodyPr/>
                    <a:lstStyle/>
                    <a:p>
                      <a:endParaRPr lang="fr-FR" sz="1200" dirty="0">
                        <a:latin typeface="Work Sans" panose="00000500000000000000" pitchFamily="2" charset="0"/>
                      </a:endParaRPr>
                    </a:p>
                  </a:txBody>
                  <a:tcPr/>
                </a:tc>
                <a:tc hMerge="1">
                  <a:txBody>
                    <a:bodyPr/>
                    <a:lstStyle/>
                    <a:p>
                      <a:endParaRPr lang="fr-FR"/>
                    </a:p>
                  </a:txBody>
                  <a:tcPr/>
                </a:tc>
                <a:extLst>
                  <a:ext uri="{0D108BD9-81ED-4DB2-BD59-A6C34878D82A}">
                    <a16:rowId xmlns:a16="http://schemas.microsoft.com/office/drawing/2014/main" val="3376898892"/>
                  </a:ext>
                </a:extLst>
              </a:tr>
              <a:tr h="288000">
                <a:tc gridSpan="2">
                  <a:txBody>
                    <a:bodyPr/>
                    <a:lstStyle/>
                    <a:p>
                      <a:pPr algn="just">
                        <a:lnSpc>
                          <a:spcPct val="100000"/>
                        </a:lnSpc>
                        <a:spcAft>
                          <a:spcPts val="0"/>
                        </a:spcAft>
                      </a:pPr>
                      <a:r>
                        <a:rPr lang="fr-FR" sz="1200" kern="1200" dirty="0">
                          <a:solidFill>
                            <a:schemeClr val="tx1"/>
                          </a:solidFill>
                          <a:latin typeface="Work Sans" panose="00000500000000000000" pitchFamily="2" charset="0"/>
                          <a:ea typeface="+mn-ea"/>
                          <a:cs typeface="+mn-cs"/>
                        </a:rPr>
                        <a:t>Modalités d’accès pour les équipes travaux (formalités, badges) </a:t>
                      </a:r>
                    </a:p>
                  </a:txBody>
                  <a:tcPr marL="34925" marR="34925" marT="34925" marB="34925" anchor="ctr"/>
                </a:tc>
                <a:tc hMerge="1">
                  <a:txBody>
                    <a:bodyPr/>
                    <a:lstStyle/>
                    <a:p>
                      <a:pPr marL="0" algn="just" defTabSz="914400" rtl="0" eaLnBrk="1" latinLnBrk="0" hangingPunct="1">
                        <a:lnSpc>
                          <a:spcPct val="100000"/>
                        </a:lnSpc>
                        <a:spcAft>
                          <a:spcPts val="0"/>
                        </a:spcAft>
                      </a:pPr>
                      <a:endParaRPr lang="fr-FR" sz="1200" kern="1200" dirty="0">
                        <a:solidFill>
                          <a:schemeClr val="tx1"/>
                        </a:solidFill>
                        <a:latin typeface="Work Sans" panose="00000500000000000000" pitchFamily="2" charset="0"/>
                        <a:ea typeface="+mn-ea"/>
                        <a:cs typeface="+mn-cs"/>
                      </a:endParaRPr>
                    </a:p>
                  </a:txBody>
                  <a:tcPr/>
                </a:tc>
                <a:tc gridSpan="4">
                  <a:txBody>
                    <a:bodyPr/>
                    <a:lstStyle/>
                    <a:p>
                      <a:endParaRPr lang="fr-FR" sz="1200" dirty="0"/>
                    </a:p>
                  </a:txBody>
                  <a:tcPr>
                    <a:solidFill>
                      <a:schemeClr val="accent6">
                        <a:lumMod val="20000"/>
                        <a:lumOff val="80000"/>
                      </a:schemeClr>
                    </a:solidFill>
                  </a:tcPr>
                </a:tc>
                <a:tc hMerge="1">
                  <a:txBody>
                    <a:bodyPr/>
                    <a:lstStyle/>
                    <a:p>
                      <a:endParaRPr lang="fr-FR"/>
                    </a:p>
                  </a:txBody>
                  <a:tcPr/>
                </a:tc>
                <a:tc hMerge="1">
                  <a:txBody>
                    <a:bodyPr/>
                    <a:lstStyle/>
                    <a:p>
                      <a:endParaRPr lang="fr-FR" sz="1200" dirty="0">
                        <a:latin typeface="Work Sans" panose="00000500000000000000" pitchFamily="2" charset="0"/>
                      </a:endParaRPr>
                    </a:p>
                  </a:txBody>
                  <a:tcPr/>
                </a:tc>
                <a:tc hMerge="1">
                  <a:txBody>
                    <a:bodyPr/>
                    <a:lstStyle/>
                    <a:p>
                      <a:endParaRPr lang="fr-FR"/>
                    </a:p>
                  </a:txBody>
                  <a:tcPr/>
                </a:tc>
                <a:extLst>
                  <a:ext uri="{0D108BD9-81ED-4DB2-BD59-A6C34878D82A}">
                    <a16:rowId xmlns:a16="http://schemas.microsoft.com/office/drawing/2014/main" val="2383640335"/>
                  </a:ext>
                </a:extLst>
              </a:tr>
              <a:tr h="288000">
                <a:tc gridSpan="2">
                  <a:txBody>
                    <a:bodyPr/>
                    <a:lstStyle/>
                    <a:p>
                      <a:pPr algn="just">
                        <a:lnSpc>
                          <a:spcPct val="100000"/>
                        </a:lnSpc>
                        <a:spcAft>
                          <a:spcPts val="0"/>
                        </a:spcAft>
                      </a:pPr>
                      <a:r>
                        <a:rPr lang="fr-FR" sz="1200" kern="1200" dirty="0">
                          <a:solidFill>
                            <a:schemeClr val="tx1"/>
                          </a:solidFill>
                          <a:latin typeface="Work Sans" panose="00000500000000000000" pitchFamily="2" charset="0"/>
                          <a:ea typeface="+mn-ea"/>
                          <a:cs typeface="+mn-cs"/>
                        </a:rPr>
                        <a:t>Horaires à respecter en cas de travaux bruyants </a:t>
                      </a:r>
                    </a:p>
                  </a:txBody>
                  <a:tcPr marL="34925" marR="34925" marT="34925" marB="34925" anchor="ctr"/>
                </a:tc>
                <a:tc hMerge="1">
                  <a:txBody>
                    <a:bodyPr/>
                    <a:lstStyle/>
                    <a:p>
                      <a:pPr marL="0" algn="just" defTabSz="914400" rtl="0" eaLnBrk="1" latinLnBrk="0" hangingPunct="1">
                        <a:lnSpc>
                          <a:spcPct val="100000"/>
                        </a:lnSpc>
                        <a:spcAft>
                          <a:spcPts val="0"/>
                        </a:spcAft>
                      </a:pPr>
                      <a:endParaRPr lang="fr-FR" sz="1200" kern="1200" dirty="0">
                        <a:solidFill>
                          <a:schemeClr val="tx1"/>
                        </a:solidFill>
                        <a:latin typeface="Work Sans" panose="00000500000000000000" pitchFamily="2" charset="0"/>
                        <a:ea typeface="+mn-ea"/>
                        <a:cs typeface="+mn-cs"/>
                      </a:endParaRPr>
                    </a:p>
                  </a:txBody>
                  <a:tcPr/>
                </a:tc>
                <a:tc gridSpan="4">
                  <a:txBody>
                    <a:bodyPr/>
                    <a:lstStyle/>
                    <a:p>
                      <a:endParaRPr lang="fr-FR" sz="1200" dirty="0"/>
                    </a:p>
                  </a:txBody>
                  <a:tcPr>
                    <a:solidFill>
                      <a:schemeClr val="accent6">
                        <a:lumMod val="20000"/>
                        <a:lumOff val="80000"/>
                      </a:schemeClr>
                    </a:solidFill>
                  </a:tcPr>
                </a:tc>
                <a:tc hMerge="1">
                  <a:txBody>
                    <a:bodyPr/>
                    <a:lstStyle/>
                    <a:p>
                      <a:endParaRPr lang="fr-FR"/>
                    </a:p>
                  </a:txBody>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44793218"/>
                  </a:ext>
                </a:extLst>
              </a:tr>
              <a:tr h="288000">
                <a:tc gridSpan="2">
                  <a:txBody>
                    <a:bodyPr/>
                    <a:lstStyle/>
                    <a:p>
                      <a:pPr algn="just">
                        <a:lnSpc>
                          <a:spcPct val="100000"/>
                        </a:lnSpc>
                        <a:spcAft>
                          <a:spcPts val="0"/>
                        </a:spcAft>
                      </a:pPr>
                      <a:r>
                        <a:rPr lang="fr-FR" sz="1200" kern="1200" dirty="0">
                          <a:solidFill>
                            <a:schemeClr val="tx1"/>
                          </a:solidFill>
                          <a:latin typeface="Work Sans" panose="00000500000000000000" pitchFamily="2" charset="0"/>
                          <a:ea typeface="+mn-ea"/>
                          <a:cs typeface="+mn-cs"/>
                        </a:rPr>
                        <a:t>Horaires à respecter pour une coupure électrique (si nécessaire pour raccordement)</a:t>
                      </a:r>
                    </a:p>
                  </a:txBody>
                  <a:tcPr marL="34925" marR="34925" marT="34925" marB="34925" anchor="ctr"/>
                </a:tc>
                <a:tc hMerge="1">
                  <a:txBody>
                    <a:bodyPr/>
                    <a:lstStyle/>
                    <a:p>
                      <a:pPr marL="0" algn="just" defTabSz="914400" rtl="0" eaLnBrk="1" latinLnBrk="0" hangingPunct="1">
                        <a:lnSpc>
                          <a:spcPct val="100000"/>
                        </a:lnSpc>
                        <a:spcAft>
                          <a:spcPts val="0"/>
                        </a:spcAft>
                      </a:pPr>
                      <a:endParaRPr lang="fr-FR" sz="1200" kern="1200" dirty="0">
                        <a:solidFill>
                          <a:schemeClr val="tx1"/>
                        </a:solidFill>
                        <a:latin typeface="Work Sans" panose="00000500000000000000" pitchFamily="2" charset="0"/>
                        <a:ea typeface="+mn-ea"/>
                        <a:cs typeface="+mn-cs"/>
                      </a:endParaRPr>
                    </a:p>
                  </a:txBody>
                  <a:tcPr/>
                </a:tc>
                <a:tc gridSpan="4">
                  <a:txBody>
                    <a:bodyPr/>
                    <a:lstStyle/>
                    <a:p>
                      <a:endParaRPr lang="fr-FR" sz="1200" dirty="0"/>
                    </a:p>
                  </a:txBody>
                  <a:tcPr>
                    <a:solidFill>
                      <a:schemeClr val="accent6">
                        <a:lumMod val="20000"/>
                        <a:lumOff val="80000"/>
                      </a:schemeClr>
                    </a:solidFill>
                  </a:tcPr>
                </a:tc>
                <a:tc hMerge="1">
                  <a:txBody>
                    <a:bodyPr/>
                    <a:lstStyle/>
                    <a:p>
                      <a:endParaRPr lang="fr-FR"/>
                    </a:p>
                  </a:txBody>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3961679525"/>
                  </a:ext>
                </a:extLst>
              </a:tr>
              <a:tr h="270408">
                <a:tc gridSpan="6">
                  <a:txBody>
                    <a:bodyPr/>
                    <a:lstStyle/>
                    <a:p>
                      <a:r>
                        <a:rPr lang="fr-CA" sz="1200" b="1" dirty="0">
                          <a:solidFill>
                            <a:schemeClr val="bg1"/>
                          </a:solidFill>
                          <a:latin typeface="Work Sans" panose="00000500000000000000" pitchFamily="2" charset="0"/>
                        </a:rPr>
                        <a:t>TYPOLOGIE DE PARKING </a:t>
                      </a:r>
                      <a:r>
                        <a:rPr lang="fr-FR" sz="1200" b="1" dirty="0">
                          <a:solidFill>
                            <a:schemeClr val="bg1"/>
                          </a:solidFill>
                          <a:latin typeface="Work Sans" panose="00000500000000000000" pitchFamily="2" charset="0"/>
                        </a:rPr>
                        <a:t>(à remplir selon informations du client)</a:t>
                      </a:r>
                    </a:p>
                  </a:txBody>
                  <a:tcPr>
                    <a:lnB w="12700" cap="flat" cmpd="sng" algn="ctr">
                      <a:solidFill>
                        <a:schemeClr val="tx1"/>
                      </a:solidFill>
                      <a:prstDash val="solid"/>
                      <a:round/>
                      <a:headEnd type="none" w="med" len="med"/>
                      <a:tailEnd type="none" w="med" len="med"/>
                    </a:lnB>
                    <a:solidFill>
                      <a:schemeClr val="accent6">
                        <a:lumMod val="75000"/>
                      </a:schemeClr>
                    </a:solidFill>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sz="1200" b="1" dirty="0">
                        <a:solidFill>
                          <a:schemeClr val="bg1"/>
                        </a:solidFill>
                        <a:latin typeface="Work Sans" panose="00000500000000000000" pitchFamily="2" charset="0"/>
                      </a:endParaRPr>
                    </a:p>
                  </a:txBody>
                  <a:tcPr>
                    <a:solidFill>
                      <a:schemeClr val="accent1"/>
                    </a:solidFill>
                  </a:tcPr>
                </a:tc>
                <a:tc hMerge="1">
                  <a:txBody>
                    <a:bodyPr/>
                    <a:lstStyle/>
                    <a:p>
                      <a:endParaRPr lang="fr-FR"/>
                    </a:p>
                  </a:txBody>
                  <a:tcPr/>
                </a:tc>
                <a:extLst>
                  <a:ext uri="{0D108BD9-81ED-4DB2-BD59-A6C34878D82A}">
                    <a16:rowId xmlns:a16="http://schemas.microsoft.com/office/drawing/2014/main" val="2734880234"/>
                  </a:ext>
                </a:extLst>
              </a:tr>
              <a:tr h="213581">
                <a:tc>
                  <a:txBody>
                    <a:bodyPr/>
                    <a:lstStyle/>
                    <a:p>
                      <a:pPr algn="just">
                        <a:lnSpc>
                          <a:spcPct val="107000"/>
                        </a:lnSpc>
                        <a:spcAft>
                          <a:spcPts val="0"/>
                        </a:spcAft>
                      </a:pPr>
                      <a:r>
                        <a:rPr lang="fr-FR" sz="1200" kern="1200" dirty="0">
                          <a:solidFill>
                            <a:schemeClr val="tx1"/>
                          </a:solidFill>
                          <a:latin typeface="Work Sans" panose="00000500000000000000" pitchFamily="2" charset="0"/>
                          <a:ea typeface="+mn-ea"/>
                          <a:cs typeface="+mn-cs"/>
                        </a:rPr>
                        <a:t>Type d’établissement :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gridSpan="2">
                  <a:txBody>
                    <a:bodyPr/>
                    <a:lstStyle/>
                    <a:p>
                      <a:pPr marL="342900" lvl="0" indent="-342900" algn="just">
                        <a:lnSpc>
                          <a:spcPct val="115000"/>
                        </a:lnSpc>
                        <a:spcAft>
                          <a:spcPts val="1000"/>
                        </a:spcAft>
                        <a:buFont typeface="Wingdings" panose="05000000000000000000" pitchFamily="2" charset="2"/>
                        <a:buChar char="q"/>
                      </a:pPr>
                      <a:r>
                        <a:rPr lang="fr-FR" sz="1200" kern="1200" dirty="0">
                          <a:solidFill>
                            <a:schemeClr val="tx1"/>
                          </a:solidFill>
                          <a:latin typeface="Work Sans" panose="00000500000000000000" pitchFamily="2" charset="0"/>
                          <a:ea typeface="+mn-ea"/>
                          <a:cs typeface="+mn-cs"/>
                        </a:rPr>
                        <a:t>Code du travail</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hMerge="1">
                  <a:txBody>
                    <a:bodyPr/>
                    <a:lstStyle/>
                    <a:p>
                      <a:pPr marL="342900" lvl="0" indent="-342900" algn="just">
                        <a:lnSpc>
                          <a:spcPct val="115000"/>
                        </a:lnSpc>
                        <a:spcAft>
                          <a:spcPts val="1000"/>
                        </a:spcAft>
                        <a:buFont typeface="Wingdings" panose="05000000000000000000" pitchFamily="2" charset="2"/>
                        <a:buChar char="q"/>
                      </a:pPr>
                      <a:endParaRPr lang="fr-FR" sz="1200" kern="1200" dirty="0">
                        <a:solidFill>
                          <a:schemeClr val="tx1"/>
                        </a:solidFill>
                        <a:latin typeface="Work Sans" panose="00000500000000000000" pitchFamily="2" charset="0"/>
                        <a:ea typeface="+mn-ea"/>
                        <a:cs typeface="+mn-cs"/>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indent="-171450">
                        <a:buFont typeface="Wingdings" panose="05000000000000000000" pitchFamily="2" charset="2"/>
                        <a:buChar char="q"/>
                      </a:pPr>
                      <a:r>
                        <a:rPr lang="fr-FR" sz="1200" kern="1200" dirty="0">
                          <a:solidFill>
                            <a:schemeClr val="tx1"/>
                          </a:solidFill>
                          <a:latin typeface="Work Sans" panose="00000500000000000000" pitchFamily="2" charset="0"/>
                          <a:ea typeface="+mn-ea"/>
                          <a:cs typeface="+mn-cs"/>
                        </a:rPr>
                        <a:t>ERP</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342900" lvl="0" indent="-342900" algn="just">
                        <a:lnSpc>
                          <a:spcPct val="115000"/>
                        </a:lnSpc>
                        <a:spcAft>
                          <a:spcPts val="1000"/>
                        </a:spcAft>
                        <a:buFont typeface="Wingdings" panose="05000000000000000000" pitchFamily="2" charset="2"/>
                        <a:buChar char="q"/>
                      </a:pPr>
                      <a:r>
                        <a:rPr lang="fr-FR" sz="1200" kern="1200" dirty="0">
                          <a:solidFill>
                            <a:schemeClr val="tx1"/>
                          </a:solidFill>
                          <a:latin typeface="Work Sans" panose="00000500000000000000" pitchFamily="2" charset="0"/>
                          <a:ea typeface="+mn-ea"/>
                          <a:cs typeface="+mn-cs"/>
                        </a:rPr>
                        <a:t>IGH</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342900" lvl="0" indent="-342900" algn="just">
                        <a:lnSpc>
                          <a:spcPct val="115000"/>
                        </a:lnSpc>
                        <a:spcAft>
                          <a:spcPts val="1000"/>
                        </a:spcAft>
                        <a:buFont typeface="Wingdings" panose="05000000000000000000" pitchFamily="2" charset="2"/>
                        <a:buChar char="q"/>
                      </a:pPr>
                      <a:r>
                        <a:rPr lang="fr-FR" sz="1200" kern="1200" dirty="0">
                          <a:solidFill>
                            <a:schemeClr val="tx1"/>
                          </a:solidFill>
                          <a:latin typeface="Work Sans" panose="00000500000000000000" pitchFamily="2" charset="0"/>
                          <a:ea typeface="+mn-ea"/>
                          <a:cs typeface="+mn-cs"/>
                        </a:rPr>
                        <a:t>Voirie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357418824"/>
                  </a:ext>
                </a:extLst>
              </a:tr>
              <a:tr h="184840">
                <a:tc>
                  <a:txBody>
                    <a:bodyPr/>
                    <a:lstStyle/>
                    <a:p>
                      <a:pPr algn="just">
                        <a:lnSpc>
                          <a:spcPct val="107000"/>
                        </a:lnSpc>
                        <a:spcAft>
                          <a:spcPts val="0"/>
                        </a:spcAft>
                      </a:pPr>
                      <a:r>
                        <a:rPr lang="fr-FR" sz="1200" kern="1200" dirty="0">
                          <a:solidFill>
                            <a:schemeClr val="tx1"/>
                          </a:solidFill>
                          <a:latin typeface="Work Sans" panose="00000500000000000000" pitchFamily="2" charset="0"/>
                          <a:ea typeface="+mn-ea"/>
                          <a:cs typeface="+mn-cs"/>
                        </a:rPr>
                        <a:t>Type de bail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gridSpan="2">
                  <a:txBody>
                    <a:bodyPr/>
                    <a:lstStyle/>
                    <a:p>
                      <a:pPr marL="342900" lvl="0" indent="-342900" algn="just">
                        <a:lnSpc>
                          <a:spcPct val="115000"/>
                        </a:lnSpc>
                        <a:spcAft>
                          <a:spcPts val="1000"/>
                        </a:spcAft>
                        <a:buFont typeface="Wingdings" panose="05000000000000000000" pitchFamily="2" charset="2"/>
                        <a:buChar char="q"/>
                      </a:pPr>
                      <a:r>
                        <a:rPr lang="fr-FR" sz="1200" kern="1200" dirty="0">
                          <a:solidFill>
                            <a:schemeClr val="tx1"/>
                          </a:solidFill>
                          <a:latin typeface="Work Sans" panose="00000500000000000000" pitchFamily="2" charset="0"/>
                          <a:ea typeface="+mn-ea"/>
                          <a:cs typeface="+mn-cs"/>
                        </a:rPr>
                        <a:t>Locataire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hMerge="1">
                  <a:txBody>
                    <a:bodyPr/>
                    <a:lstStyle/>
                    <a:p>
                      <a:pPr marL="342900" lvl="0" indent="-342900" algn="just">
                        <a:lnSpc>
                          <a:spcPct val="115000"/>
                        </a:lnSpc>
                        <a:spcAft>
                          <a:spcPts val="1000"/>
                        </a:spcAft>
                        <a:buFont typeface="Wingdings" panose="05000000000000000000" pitchFamily="2" charset="2"/>
                        <a:buChar char="q"/>
                      </a:pPr>
                      <a:endParaRPr lang="fr-FR" sz="1200" kern="1200" dirty="0">
                        <a:solidFill>
                          <a:schemeClr val="tx1"/>
                        </a:solidFill>
                        <a:latin typeface="Work Sans" panose="00000500000000000000" pitchFamily="2" charset="0"/>
                        <a:ea typeface="+mn-ea"/>
                        <a:cs typeface="+mn-cs"/>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indent="-171450">
                        <a:buFont typeface="Wingdings" panose="05000000000000000000" pitchFamily="2" charset="2"/>
                        <a:buChar char="q"/>
                      </a:pPr>
                      <a:r>
                        <a:rPr lang="fr-FR" sz="1200" kern="1200" dirty="0">
                          <a:solidFill>
                            <a:schemeClr val="tx1"/>
                          </a:solidFill>
                          <a:latin typeface="Work Sans" panose="00000500000000000000" pitchFamily="2" charset="0"/>
                          <a:ea typeface="+mn-ea"/>
                          <a:cs typeface="+mn-cs"/>
                        </a:rPr>
                        <a:t>Propriétaire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gridSpan="2">
                  <a:txBody>
                    <a:bodyPr/>
                    <a:lstStyle/>
                    <a:p>
                      <a:pPr marL="0" indent="0" algn="just">
                        <a:lnSpc>
                          <a:spcPct val="107000"/>
                        </a:lnSpc>
                        <a:spcAft>
                          <a:spcPts val="800"/>
                        </a:spcAft>
                        <a:buFont typeface="Wingdings" panose="05000000000000000000" pitchFamily="2" charset="2"/>
                        <a:buNone/>
                      </a:pPr>
                      <a:endParaRPr lang="fr-FR" sz="1200" kern="1200" dirty="0">
                        <a:solidFill>
                          <a:schemeClr val="tx1"/>
                        </a:solidFill>
                        <a:latin typeface="Work Sans" panose="00000500000000000000" pitchFamily="2" charset="0"/>
                        <a:ea typeface="+mn-ea"/>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lang="fr-FR"/>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980837211"/>
                  </a:ext>
                </a:extLst>
              </a:tr>
              <a:tr h="192791">
                <a:tc>
                  <a:txBody>
                    <a:bodyPr/>
                    <a:lstStyle/>
                    <a:p>
                      <a:pPr algn="just">
                        <a:lnSpc>
                          <a:spcPct val="107000"/>
                        </a:lnSpc>
                        <a:spcAft>
                          <a:spcPts val="0"/>
                        </a:spcAft>
                      </a:pPr>
                      <a:r>
                        <a:rPr lang="fr-FR" sz="1200" kern="1200" dirty="0">
                          <a:solidFill>
                            <a:schemeClr val="tx1"/>
                          </a:solidFill>
                          <a:latin typeface="Work Sans" panose="00000500000000000000" pitchFamily="2" charset="0"/>
                          <a:ea typeface="+mn-ea"/>
                          <a:cs typeface="+mn-cs"/>
                        </a:rPr>
                        <a:t>Type d’usage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gridSpan="2">
                  <a:txBody>
                    <a:bodyPr/>
                    <a:lstStyle/>
                    <a:p>
                      <a:pPr marL="342900" lvl="0" indent="-342900" algn="just">
                        <a:lnSpc>
                          <a:spcPct val="115000"/>
                        </a:lnSpc>
                        <a:spcAft>
                          <a:spcPts val="1000"/>
                        </a:spcAft>
                        <a:buFont typeface="Wingdings" panose="05000000000000000000" pitchFamily="2" charset="2"/>
                        <a:buChar char="q"/>
                      </a:pPr>
                      <a:r>
                        <a:rPr lang="fr-FR" sz="1200" kern="1200" dirty="0">
                          <a:solidFill>
                            <a:schemeClr val="tx1"/>
                          </a:solidFill>
                          <a:latin typeface="Work Sans" panose="00000500000000000000" pitchFamily="2" charset="0"/>
                          <a:ea typeface="+mn-ea"/>
                          <a:cs typeface="+mn-cs"/>
                        </a:rPr>
                        <a:t>Employés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hMerge="1">
                  <a:txBody>
                    <a:bodyPr/>
                    <a:lstStyle/>
                    <a:p>
                      <a:pPr marL="342900" lvl="0" indent="-342900" algn="just">
                        <a:lnSpc>
                          <a:spcPct val="115000"/>
                        </a:lnSpc>
                        <a:spcAft>
                          <a:spcPts val="1000"/>
                        </a:spcAft>
                        <a:buFont typeface="Wingdings" panose="05000000000000000000" pitchFamily="2" charset="2"/>
                        <a:buChar char="q"/>
                      </a:pPr>
                      <a:endParaRPr lang="fr-FR" sz="1200" kern="1200" dirty="0">
                        <a:solidFill>
                          <a:schemeClr val="tx1"/>
                        </a:solidFill>
                        <a:latin typeface="Work Sans" panose="00000500000000000000" pitchFamily="2" charset="0"/>
                        <a:ea typeface="+mn-ea"/>
                        <a:cs typeface="+mn-cs"/>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indent="-171450">
                        <a:buFont typeface="Wingdings" panose="05000000000000000000" pitchFamily="2" charset="2"/>
                        <a:buChar char="q"/>
                      </a:pPr>
                      <a:r>
                        <a:rPr lang="fr-FR" sz="1200" kern="1200" dirty="0">
                          <a:solidFill>
                            <a:schemeClr val="tx1"/>
                          </a:solidFill>
                          <a:latin typeface="Work Sans" panose="00000500000000000000" pitchFamily="2" charset="0"/>
                          <a:ea typeface="+mn-ea"/>
                          <a:cs typeface="+mn-cs"/>
                        </a:rPr>
                        <a:t>Flotte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gridSpan="2">
                  <a:txBody>
                    <a:bodyPr/>
                    <a:lstStyle/>
                    <a:p>
                      <a:pPr marL="342900" lvl="0" indent="-342900" algn="just">
                        <a:lnSpc>
                          <a:spcPct val="115000"/>
                        </a:lnSpc>
                        <a:spcAft>
                          <a:spcPts val="1000"/>
                        </a:spcAft>
                        <a:buFont typeface="Wingdings" panose="05000000000000000000" pitchFamily="2" charset="2"/>
                        <a:buChar char="q"/>
                      </a:pPr>
                      <a:r>
                        <a:rPr lang="fr-FR" sz="1200" kern="1200" dirty="0">
                          <a:solidFill>
                            <a:schemeClr val="tx1"/>
                          </a:solidFill>
                          <a:latin typeface="Work Sans" panose="00000500000000000000" pitchFamily="2" charset="0"/>
                          <a:ea typeface="+mn-ea"/>
                          <a:cs typeface="+mn-cs"/>
                        </a:rPr>
                        <a:t>Visiteurs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hMerge="1">
                  <a:txBody>
                    <a:bodyPr/>
                    <a:lstStyle/>
                    <a:p>
                      <a:endParaRPr lang="fr-FR"/>
                    </a:p>
                  </a:txBody>
                  <a:tcPr/>
                </a:tc>
                <a:extLst>
                  <a:ext uri="{0D108BD9-81ED-4DB2-BD59-A6C34878D82A}">
                    <a16:rowId xmlns:a16="http://schemas.microsoft.com/office/drawing/2014/main" val="3836053288"/>
                  </a:ext>
                </a:extLst>
              </a:tr>
              <a:tr h="192791">
                <a:tc>
                  <a:txBody>
                    <a:bodyPr/>
                    <a:lstStyle/>
                    <a:p>
                      <a:pPr algn="just">
                        <a:lnSpc>
                          <a:spcPct val="107000"/>
                        </a:lnSpc>
                        <a:spcAft>
                          <a:spcPts val="0"/>
                        </a:spcAft>
                      </a:pPr>
                      <a:r>
                        <a:rPr lang="fr-FR" sz="1200" kern="1200" dirty="0">
                          <a:solidFill>
                            <a:schemeClr val="tx1"/>
                          </a:solidFill>
                          <a:latin typeface="Work Sans" panose="00000500000000000000" pitchFamily="2" charset="0"/>
                          <a:ea typeface="+mn-ea"/>
                          <a:cs typeface="+mn-cs"/>
                        </a:rPr>
                        <a:t>Type de Parking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gridSpan="2">
                  <a:txBody>
                    <a:bodyPr/>
                    <a:lstStyle/>
                    <a:p>
                      <a:pPr marL="342900" lvl="0" indent="-342900" algn="just">
                        <a:lnSpc>
                          <a:spcPct val="115000"/>
                        </a:lnSpc>
                        <a:spcAft>
                          <a:spcPts val="1000"/>
                        </a:spcAft>
                        <a:buFont typeface="Wingdings" panose="05000000000000000000" pitchFamily="2" charset="2"/>
                        <a:buChar char="q"/>
                      </a:pPr>
                      <a:r>
                        <a:rPr lang="fr-FR" sz="1200" kern="1200" dirty="0">
                          <a:solidFill>
                            <a:schemeClr val="tx1"/>
                          </a:solidFill>
                          <a:latin typeface="Work Sans" panose="00000500000000000000" pitchFamily="2" charset="0"/>
                          <a:ea typeface="+mn-ea"/>
                          <a:cs typeface="+mn-cs"/>
                        </a:rPr>
                        <a:t>Souterrain</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hMerge="1">
                  <a:txBody>
                    <a:bodyPr/>
                    <a:lstStyle/>
                    <a:p>
                      <a:pPr marL="342900" lvl="0" indent="-342900" algn="just">
                        <a:lnSpc>
                          <a:spcPct val="115000"/>
                        </a:lnSpc>
                        <a:spcAft>
                          <a:spcPts val="1000"/>
                        </a:spcAft>
                        <a:buFont typeface="Wingdings" panose="05000000000000000000" pitchFamily="2" charset="2"/>
                        <a:buChar char="q"/>
                      </a:pPr>
                      <a:endParaRPr lang="fr-FR" sz="1200" kern="1200" dirty="0">
                        <a:solidFill>
                          <a:schemeClr val="tx1"/>
                        </a:solidFill>
                        <a:latin typeface="Work Sans" panose="00000500000000000000" pitchFamily="2" charset="0"/>
                        <a:ea typeface="+mn-ea"/>
                        <a:cs typeface="+mn-cs"/>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indent="-171450">
                        <a:buFont typeface="Wingdings" panose="05000000000000000000" pitchFamily="2" charset="2"/>
                        <a:buChar char="q"/>
                      </a:pPr>
                      <a:r>
                        <a:rPr lang="fr-FR" sz="1200" kern="1200" dirty="0">
                          <a:solidFill>
                            <a:schemeClr val="tx1"/>
                          </a:solidFill>
                          <a:latin typeface="Work Sans" panose="00000500000000000000" pitchFamily="2" charset="0"/>
                          <a:ea typeface="+mn-ea"/>
                          <a:cs typeface="+mn-cs"/>
                        </a:rPr>
                        <a:t>Silo</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gridSpan="2">
                  <a:txBody>
                    <a:bodyPr/>
                    <a:lstStyle/>
                    <a:p>
                      <a:pPr marL="342900" lvl="0" indent="-342900" algn="just">
                        <a:lnSpc>
                          <a:spcPct val="115000"/>
                        </a:lnSpc>
                        <a:spcAft>
                          <a:spcPts val="1000"/>
                        </a:spcAft>
                        <a:buFont typeface="Wingdings" panose="05000000000000000000" pitchFamily="2" charset="2"/>
                        <a:buChar char="q"/>
                      </a:pPr>
                      <a:r>
                        <a:rPr lang="fr-FR" sz="1200" kern="1200" dirty="0">
                          <a:solidFill>
                            <a:schemeClr val="tx1"/>
                          </a:solidFill>
                          <a:latin typeface="Work Sans" panose="00000500000000000000" pitchFamily="2" charset="0"/>
                          <a:ea typeface="+mn-ea"/>
                          <a:cs typeface="+mn-cs"/>
                        </a:rPr>
                        <a:t>Extérieur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hMerge="1">
                  <a:txBody>
                    <a:bodyPr/>
                    <a:lstStyle/>
                    <a:p>
                      <a:endParaRPr lang="fr-FR"/>
                    </a:p>
                  </a:txBody>
                  <a:tcPr/>
                </a:tc>
                <a:extLst>
                  <a:ext uri="{0D108BD9-81ED-4DB2-BD59-A6C34878D82A}">
                    <a16:rowId xmlns:a16="http://schemas.microsoft.com/office/drawing/2014/main" val="3937157538"/>
                  </a:ext>
                </a:extLst>
              </a:tr>
            </a:tbl>
          </a:graphicData>
        </a:graphic>
      </p:graphicFrame>
      <p:sp>
        <p:nvSpPr>
          <p:cNvPr id="8" name="Espace réservé du numéro de diapositive 7">
            <a:extLst>
              <a:ext uri="{FF2B5EF4-FFF2-40B4-BE49-F238E27FC236}">
                <a16:creationId xmlns:a16="http://schemas.microsoft.com/office/drawing/2014/main" id="{F1089307-D06E-44B0-AE2D-28996C6ECD7D}"/>
              </a:ext>
            </a:extLst>
          </p:cNvPr>
          <p:cNvSpPr>
            <a:spLocks noGrp="1"/>
          </p:cNvSpPr>
          <p:nvPr>
            <p:ph type="sldNum" sz="quarter" idx="10"/>
          </p:nvPr>
        </p:nvSpPr>
        <p:spPr>
          <a:xfrm>
            <a:off x="11328278" y="5359183"/>
            <a:ext cx="437781" cy="167113"/>
          </a:xfrm>
        </p:spPr>
        <p:txBody>
          <a:bodyPr/>
          <a:lstStyle/>
          <a:p>
            <a:fld id="{B0E65964-A4DF-446E-B0D3-80C6F778AEE2}" type="slidenum">
              <a:rPr lang="fr-FR" smtClean="0"/>
              <a:t>4</a:t>
            </a:fld>
            <a:endParaRPr lang="fr-FR"/>
          </a:p>
        </p:txBody>
      </p:sp>
      <p:graphicFrame>
        <p:nvGraphicFramePr>
          <p:cNvPr id="2" name="Tableau 6">
            <a:extLst>
              <a:ext uri="{FF2B5EF4-FFF2-40B4-BE49-F238E27FC236}">
                <a16:creationId xmlns:a16="http://schemas.microsoft.com/office/drawing/2014/main" id="{4882D95B-090A-57A6-8534-8ED0EE1D0DF5}"/>
              </a:ext>
            </a:extLst>
          </p:cNvPr>
          <p:cNvGraphicFramePr>
            <a:graphicFrameLocks noGrp="1"/>
          </p:cNvGraphicFramePr>
          <p:nvPr>
            <p:extLst>
              <p:ext uri="{D42A27DB-BD31-4B8C-83A1-F6EECF244321}">
                <p14:modId xmlns:p14="http://schemas.microsoft.com/office/powerpoint/2010/main" val="3860945160"/>
              </p:ext>
            </p:extLst>
          </p:nvPr>
        </p:nvGraphicFramePr>
        <p:xfrm>
          <a:off x="302182" y="3279497"/>
          <a:ext cx="11587637" cy="1714320"/>
        </p:xfrm>
        <a:graphic>
          <a:graphicData uri="http://schemas.openxmlformats.org/drawingml/2006/table">
            <a:tbl>
              <a:tblPr firstRow="1" bandRow="1">
                <a:tableStyleId>{5940675A-B579-460E-94D1-54222C63F5DA}</a:tableStyleId>
              </a:tblPr>
              <a:tblGrid>
                <a:gridCol w="6837597">
                  <a:extLst>
                    <a:ext uri="{9D8B030D-6E8A-4147-A177-3AD203B41FA5}">
                      <a16:colId xmlns:a16="http://schemas.microsoft.com/office/drawing/2014/main" val="3627121043"/>
                    </a:ext>
                  </a:extLst>
                </a:gridCol>
                <a:gridCol w="2375020">
                  <a:extLst>
                    <a:ext uri="{9D8B030D-6E8A-4147-A177-3AD203B41FA5}">
                      <a16:colId xmlns:a16="http://schemas.microsoft.com/office/drawing/2014/main" val="122145865"/>
                    </a:ext>
                  </a:extLst>
                </a:gridCol>
                <a:gridCol w="2375020">
                  <a:extLst>
                    <a:ext uri="{9D8B030D-6E8A-4147-A177-3AD203B41FA5}">
                      <a16:colId xmlns:a16="http://schemas.microsoft.com/office/drawing/2014/main" val="3443629831"/>
                    </a:ext>
                  </a:extLst>
                </a:gridCol>
              </a:tblGrid>
              <a:tr h="270408">
                <a:tc gridSpan="3">
                  <a:txBody>
                    <a:bodyPr/>
                    <a:lstStyle/>
                    <a:p>
                      <a:r>
                        <a:rPr lang="fr-FR" sz="1200" b="1" dirty="0">
                          <a:solidFill>
                            <a:schemeClr val="bg1"/>
                          </a:solidFill>
                          <a:latin typeface="Work Sans" panose="00000500000000000000" pitchFamily="2" charset="0"/>
                        </a:rPr>
                        <a:t>INFORMATIONS TECHNIQUES SITE (à remplir selon informations du client)</a:t>
                      </a:r>
                    </a:p>
                  </a:txBody>
                  <a:tcPr>
                    <a:solidFill>
                      <a:schemeClr val="accent6">
                        <a:lumMod val="75000"/>
                      </a:schemeClr>
                    </a:solidFill>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2459031976"/>
                  </a:ext>
                </a:extLst>
              </a:tr>
              <a:tr h="288000">
                <a:tc>
                  <a:txBody>
                    <a:bodyPr/>
                    <a:lstStyle/>
                    <a:p>
                      <a:pPr algn="just">
                        <a:lnSpc>
                          <a:spcPct val="100000"/>
                        </a:lnSpc>
                        <a:spcAft>
                          <a:spcPts val="0"/>
                        </a:spcAft>
                      </a:pPr>
                      <a:r>
                        <a:rPr lang="fr-FR" sz="1200" kern="1200" dirty="0">
                          <a:solidFill>
                            <a:schemeClr val="tx1"/>
                          </a:solidFill>
                          <a:latin typeface="Work Sans" panose="00000500000000000000" pitchFamily="2" charset="0"/>
                          <a:ea typeface="+mn-ea"/>
                          <a:cs typeface="+mn-cs"/>
                        </a:rPr>
                        <a:t>Plan de masse</a:t>
                      </a:r>
                    </a:p>
                  </a:txBody>
                  <a:tcPr marL="34925" marR="34925" marT="34925" marB="34925" anchor="ctr"/>
                </a:tc>
                <a:tc>
                  <a: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lang="fr-FR" sz="1200" kern="1200" dirty="0">
                          <a:solidFill>
                            <a:schemeClr val="tx1"/>
                          </a:solidFill>
                          <a:latin typeface="Work Sans" panose="00000500000000000000" pitchFamily="2" charset="0"/>
                          <a:ea typeface="+mn-ea"/>
                          <a:cs typeface="+mn-cs"/>
                        </a:rPr>
                        <a:t>Disponible</a:t>
                      </a:r>
                    </a:p>
                  </a:txBody>
                  <a:tcPr>
                    <a:solidFill>
                      <a:schemeClr val="accent6">
                        <a:lumMod val="20000"/>
                        <a:lumOff val="80000"/>
                      </a:schemeClr>
                    </a:solidFill>
                  </a:tcPr>
                </a:tc>
                <a:tc>
                  <a:txBody>
                    <a:bodyPr/>
                    <a:lstStyle/>
                    <a:p>
                      <a:pPr marL="171450" indent="-171450">
                        <a:buFont typeface="Wingdings" panose="05000000000000000000" pitchFamily="2" charset="2"/>
                        <a:buChar char="q"/>
                      </a:pPr>
                      <a:r>
                        <a:rPr lang="fr-FR" sz="1200" kern="1200" dirty="0">
                          <a:solidFill>
                            <a:schemeClr val="tx1"/>
                          </a:solidFill>
                          <a:latin typeface="Work Sans" panose="00000500000000000000" pitchFamily="2" charset="0"/>
                          <a:ea typeface="+mn-ea"/>
                          <a:cs typeface="+mn-cs"/>
                        </a:rPr>
                        <a:t>Indisponible</a:t>
                      </a:r>
                    </a:p>
                  </a:txBody>
                  <a:tcPr>
                    <a:solidFill>
                      <a:schemeClr val="accent6">
                        <a:lumMod val="20000"/>
                        <a:lumOff val="80000"/>
                      </a:schemeClr>
                    </a:solidFill>
                  </a:tcPr>
                </a:tc>
                <a:extLst>
                  <a:ext uri="{0D108BD9-81ED-4DB2-BD59-A6C34878D82A}">
                    <a16:rowId xmlns:a16="http://schemas.microsoft.com/office/drawing/2014/main" val="3376898892"/>
                  </a:ext>
                </a:extLst>
              </a:tr>
              <a:tr h="288000">
                <a:tc>
                  <a:txBody>
                    <a:bodyPr/>
                    <a:lstStyle/>
                    <a:p>
                      <a:pPr algn="just">
                        <a:lnSpc>
                          <a:spcPct val="100000"/>
                        </a:lnSpc>
                        <a:spcAft>
                          <a:spcPts val="0"/>
                        </a:spcAft>
                      </a:pPr>
                      <a:r>
                        <a:rPr lang="fr-FR" sz="1200" kern="1200" dirty="0">
                          <a:solidFill>
                            <a:schemeClr val="tx1"/>
                          </a:solidFill>
                          <a:latin typeface="Work Sans" panose="00000500000000000000" pitchFamily="2" charset="0"/>
                          <a:ea typeface="+mn-ea"/>
                          <a:cs typeface="+mn-cs"/>
                        </a:rPr>
                        <a:t>Plan des réseaux enterrés</a:t>
                      </a:r>
                    </a:p>
                  </a:txBody>
                  <a:tcPr marL="34925" marR="34925" marT="34925" marB="34925" anchor="ctr"/>
                </a:tc>
                <a:tc>
                  <a: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lang="fr-FR" sz="1200" kern="1200" dirty="0">
                          <a:solidFill>
                            <a:schemeClr val="tx1"/>
                          </a:solidFill>
                          <a:latin typeface="Work Sans" panose="00000500000000000000" pitchFamily="2" charset="0"/>
                          <a:ea typeface="+mn-ea"/>
                          <a:cs typeface="+mn-cs"/>
                        </a:rPr>
                        <a:t>Disponible</a:t>
                      </a:r>
                    </a:p>
                  </a:txBody>
                  <a:tcPr>
                    <a:solidFill>
                      <a:schemeClr val="accent6">
                        <a:lumMod val="20000"/>
                        <a:lumOff val="80000"/>
                      </a:schemeClr>
                    </a:solidFill>
                  </a:tcPr>
                </a:tc>
                <a:tc>
                  <a:txBody>
                    <a:bodyPr/>
                    <a:lstStyle/>
                    <a:p>
                      <a:pPr marL="171450" indent="-171450">
                        <a:buFont typeface="Wingdings" panose="05000000000000000000" pitchFamily="2" charset="2"/>
                        <a:buChar char="q"/>
                      </a:pPr>
                      <a:r>
                        <a:rPr lang="fr-FR" sz="1200" kern="1200" dirty="0">
                          <a:solidFill>
                            <a:schemeClr val="tx1"/>
                          </a:solidFill>
                          <a:latin typeface="Work Sans" panose="00000500000000000000" pitchFamily="2" charset="0"/>
                          <a:ea typeface="+mn-ea"/>
                          <a:cs typeface="+mn-cs"/>
                        </a:rPr>
                        <a:t>Indisponible</a:t>
                      </a:r>
                    </a:p>
                  </a:txBody>
                  <a:tcPr>
                    <a:solidFill>
                      <a:schemeClr val="accent6">
                        <a:lumMod val="20000"/>
                        <a:lumOff val="80000"/>
                      </a:schemeClr>
                    </a:solidFill>
                  </a:tcPr>
                </a:tc>
                <a:extLst>
                  <a:ext uri="{0D108BD9-81ED-4DB2-BD59-A6C34878D82A}">
                    <a16:rowId xmlns:a16="http://schemas.microsoft.com/office/drawing/2014/main" val="2383640335"/>
                  </a:ext>
                </a:extLst>
              </a:tr>
              <a:tr h="288000">
                <a:tc>
                  <a:txBody>
                    <a:bodyPr/>
                    <a:lstStyle/>
                    <a:p>
                      <a:pPr algn="just">
                        <a:lnSpc>
                          <a:spcPct val="100000"/>
                        </a:lnSpc>
                        <a:spcAft>
                          <a:spcPts val="0"/>
                        </a:spcAft>
                      </a:pPr>
                      <a:r>
                        <a:rPr lang="fr-FR" sz="1200" kern="1200" dirty="0">
                          <a:solidFill>
                            <a:schemeClr val="tx1"/>
                          </a:solidFill>
                          <a:latin typeface="Work Sans" panose="00000500000000000000" pitchFamily="2" charset="0"/>
                          <a:ea typeface="+mn-ea"/>
                          <a:cs typeface="+mn-cs"/>
                        </a:rPr>
                        <a:t>Note de calcul du TGBT</a:t>
                      </a:r>
                    </a:p>
                  </a:txBody>
                  <a:tcPr marL="34925" marR="34925" marT="34925" marB="34925" anchor="ctr"/>
                </a:tc>
                <a:tc>
                  <a: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lang="fr-FR" sz="1200" kern="1200" dirty="0">
                          <a:solidFill>
                            <a:schemeClr val="tx1"/>
                          </a:solidFill>
                          <a:latin typeface="Work Sans" panose="00000500000000000000" pitchFamily="2" charset="0"/>
                          <a:ea typeface="+mn-ea"/>
                          <a:cs typeface="+mn-cs"/>
                        </a:rPr>
                        <a:t>Disponible</a:t>
                      </a:r>
                    </a:p>
                  </a:txBody>
                  <a:tcPr>
                    <a:solidFill>
                      <a:schemeClr val="accent6">
                        <a:lumMod val="20000"/>
                        <a:lumOff val="80000"/>
                      </a:schemeClr>
                    </a:solidFill>
                  </a:tcPr>
                </a:tc>
                <a:tc>
                  <a:txBody>
                    <a:bodyPr/>
                    <a:lstStyle/>
                    <a:p>
                      <a:pPr marL="171450" indent="-171450">
                        <a:buFont typeface="Wingdings" panose="05000000000000000000" pitchFamily="2" charset="2"/>
                        <a:buChar char="q"/>
                      </a:pPr>
                      <a:r>
                        <a:rPr lang="fr-FR" sz="1200" kern="1200" dirty="0">
                          <a:solidFill>
                            <a:schemeClr val="tx1"/>
                          </a:solidFill>
                          <a:latin typeface="Work Sans" panose="00000500000000000000" pitchFamily="2" charset="0"/>
                          <a:ea typeface="+mn-ea"/>
                          <a:cs typeface="+mn-cs"/>
                        </a:rPr>
                        <a:t>Indisponible</a:t>
                      </a:r>
                    </a:p>
                  </a:txBody>
                  <a:tcPr>
                    <a:solidFill>
                      <a:schemeClr val="accent6">
                        <a:lumMod val="20000"/>
                        <a:lumOff val="80000"/>
                      </a:schemeClr>
                    </a:solidFill>
                  </a:tcPr>
                </a:tc>
                <a:extLst>
                  <a:ext uri="{0D108BD9-81ED-4DB2-BD59-A6C34878D82A}">
                    <a16:rowId xmlns:a16="http://schemas.microsoft.com/office/drawing/2014/main" val="144793218"/>
                  </a:ext>
                </a:extLst>
              </a:tr>
              <a:tr h="288000">
                <a:tc>
                  <a:txBody>
                    <a:bodyPr/>
                    <a:lstStyle/>
                    <a:p>
                      <a:pPr algn="just">
                        <a:lnSpc>
                          <a:spcPct val="100000"/>
                        </a:lnSpc>
                        <a:spcAft>
                          <a:spcPts val="0"/>
                        </a:spcAft>
                      </a:pPr>
                      <a:r>
                        <a:rPr lang="fr-FR" sz="1200" kern="1200" dirty="0">
                          <a:solidFill>
                            <a:schemeClr val="tx1"/>
                          </a:solidFill>
                          <a:latin typeface="Work Sans" panose="00000500000000000000" pitchFamily="2" charset="0"/>
                          <a:ea typeface="+mn-ea"/>
                          <a:cs typeface="+mn-cs"/>
                        </a:rPr>
                        <a:t>Schéma du TGBT</a:t>
                      </a:r>
                    </a:p>
                  </a:txBody>
                  <a:tcPr marL="34925" marR="34925" marT="34925" marB="34925" anchor="ctr"/>
                </a:tc>
                <a:tc>
                  <a: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lang="fr-FR" sz="1200" kern="1200" dirty="0">
                          <a:solidFill>
                            <a:schemeClr val="tx1"/>
                          </a:solidFill>
                          <a:latin typeface="Work Sans" panose="00000500000000000000" pitchFamily="2" charset="0"/>
                          <a:ea typeface="+mn-ea"/>
                          <a:cs typeface="+mn-cs"/>
                        </a:rPr>
                        <a:t>Disponible</a:t>
                      </a:r>
                    </a:p>
                  </a:txBody>
                  <a:tcPr>
                    <a:solidFill>
                      <a:schemeClr val="accent6">
                        <a:lumMod val="20000"/>
                        <a:lumOff val="80000"/>
                      </a:schemeClr>
                    </a:solidFill>
                  </a:tcPr>
                </a:tc>
                <a:tc>
                  <a:txBody>
                    <a:bodyPr/>
                    <a:lstStyle/>
                    <a:p>
                      <a:pPr marL="171450" indent="-171450">
                        <a:buFont typeface="Wingdings" panose="05000000000000000000" pitchFamily="2" charset="2"/>
                        <a:buChar char="q"/>
                      </a:pPr>
                      <a:r>
                        <a:rPr lang="fr-FR" sz="1200" kern="1200" dirty="0">
                          <a:solidFill>
                            <a:schemeClr val="tx1"/>
                          </a:solidFill>
                          <a:latin typeface="Work Sans" panose="00000500000000000000" pitchFamily="2" charset="0"/>
                          <a:ea typeface="+mn-ea"/>
                          <a:cs typeface="+mn-cs"/>
                        </a:rPr>
                        <a:t>Indisponible</a:t>
                      </a:r>
                    </a:p>
                  </a:txBody>
                  <a:tcPr>
                    <a:solidFill>
                      <a:schemeClr val="accent6">
                        <a:lumMod val="20000"/>
                        <a:lumOff val="80000"/>
                      </a:schemeClr>
                    </a:solidFill>
                  </a:tcPr>
                </a:tc>
                <a:extLst>
                  <a:ext uri="{0D108BD9-81ED-4DB2-BD59-A6C34878D82A}">
                    <a16:rowId xmlns:a16="http://schemas.microsoft.com/office/drawing/2014/main" val="3961679525"/>
                  </a:ext>
                </a:extLst>
              </a:tr>
              <a:tr h="288000">
                <a:tc>
                  <a:txBody>
                    <a:bodyPr/>
                    <a:lstStyle/>
                    <a:p>
                      <a:pPr algn="just">
                        <a:lnSpc>
                          <a:spcPct val="100000"/>
                        </a:lnSpc>
                        <a:spcAft>
                          <a:spcPts val="0"/>
                        </a:spcAft>
                      </a:pPr>
                      <a:r>
                        <a:rPr lang="fr-FR" sz="1200" kern="1200" dirty="0">
                          <a:solidFill>
                            <a:schemeClr val="tx1"/>
                          </a:solidFill>
                          <a:latin typeface="Work Sans" panose="00000500000000000000" pitchFamily="2" charset="0"/>
                          <a:ea typeface="+mn-ea"/>
                          <a:cs typeface="+mn-cs"/>
                        </a:rPr>
                        <a:t>Diagnostic Amiante (DAT)</a:t>
                      </a:r>
                    </a:p>
                  </a:txBody>
                  <a:tcPr marL="34925" marR="34925" marT="34925" marB="34925" anchor="ctr"/>
                </a:tc>
                <a:tc>
                  <a: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lang="fr-FR" sz="1200" kern="1200" dirty="0">
                          <a:solidFill>
                            <a:schemeClr val="tx1"/>
                          </a:solidFill>
                          <a:latin typeface="Work Sans" panose="00000500000000000000" pitchFamily="2" charset="0"/>
                          <a:ea typeface="+mn-ea"/>
                          <a:cs typeface="+mn-cs"/>
                        </a:rPr>
                        <a:t>Disponible</a:t>
                      </a:r>
                    </a:p>
                  </a:txBody>
                  <a:tcPr>
                    <a:solidFill>
                      <a:schemeClr val="accent6">
                        <a:lumMod val="20000"/>
                        <a:lumOff val="80000"/>
                      </a:schemeClr>
                    </a:solidFill>
                  </a:tcPr>
                </a:tc>
                <a:tc>
                  <a:txBody>
                    <a:bodyPr/>
                    <a:lstStyle/>
                    <a:p>
                      <a:pPr marL="171450" indent="-171450">
                        <a:buFont typeface="Wingdings" panose="05000000000000000000" pitchFamily="2" charset="2"/>
                        <a:buChar char="q"/>
                      </a:pPr>
                      <a:r>
                        <a:rPr lang="fr-FR" sz="1200" kern="1200" dirty="0">
                          <a:solidFill>
                            <a:schemeClr val="tx1"/>
                          </a:solidFill>
                          <a:latin typeface="Work Sans" panose="00000500000000000000" pitchFamily="2" charset="0"/>
                          <a:ea typeface="+mn-ea"/>
                          <a:cs typeface="+mn-cs"/>
                        </a:rPr>
                        <a:t>Indisponible</a:t>
                      </a:r>
                    </a:p>
                  </a:txBody>
                  <a:tcPr>
                    <a:solidFill>
                      <a:schemeClr val="accent6">
                        <a:lumMod val="20000"/>
                        <a:lumOff val="80000"/>
                      </a:schemeClr>
                    </a:solidFill>
                  </a:tcPr>
                </a:tc>
                <a:extLst>
                  <a:ext uri="{0D108BD9-81ED-4DB2-BD59-A6C34878D82A}">
                    <a16:rowId xmlns:a16="http://schemas.microsoft.com/office/drawing/2014/main" val="4017686373"/>
                  </a:ext>
                </a:extLst>
              </a:tr>
            </a:tbl>
          </a:graphicData>
        </a:graphic>
      </p:graphicFrame>
    </p:spTree>
    <p:extLst>
      <p:ext uri="{BB962C8B-B14F-4D97-AF65-F5344CB8AC3E}">
        <p14:creationId xmlns:p14="http://schemas.microsoft.com/office/powerpoint/2010/main" val="18615796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ce réservé du numéro de diapositive 7">
            <a:extLst>
              <a:ext uri="{FF2B5EF4-FFF2-40B4-BE49-F238E27FC236}">
                <a16:creationId xmlns:a16="http://schemas.microsoft.com/office/drawing/2014/main" id="{F1089307-D06E-44B0-AE2D-28996C6ECD7D}"/>
              </a:ext>
            </a:extLst>
          </p:cNvPr>
          <p:cNvSpPr>
            <a:spLocks noGrp="1"/>
          </p:cNvSpPr>
          <p:nvPr>
            <p:ph type="sldNum" sz="quarter" idx="10"/>
          </p:nvPr>
        </p:nvSpPr>
        <p:spPr>
          <a:xfrm>
            <a:off x="11328278" y="4307623"/>
            <a:ext cx="437781" cy="167113"/>
          </a:xfrm>
        </p:spPr>
        <p:txBody>
          <a:bodyPr/>
          <a:lstStyle/>
          <a:p>
            <a:fld id="{B0E65964-A4DF-446E-B0D3-80C6F778AEE2}" type="slidenum">
              <a:rPr lang="fr-FR" smtClean="0"/>
              <a:t>5</a:t>
            </a:fld>
            <a:endParaRPr lang="fr-FR"/>
          </a:p>
        </p:txBody>
      </p:sp>
      <p:sp>
        <p:nvSpPr>
          <p:cNvPr id="3" name="ZoneTexte 2">
            <a:extLst>
              <a:ext uri="{FF2B5EF4-FFF2-40B4-BE49-F238E27FC236}">
                <a16:creationId xmlns:a16="http://schemas.microsoft.com/office/drawing/2014/main" id="{619D7E2C-63A5-BFE0-4354-1472BA98AA17}"/>
              </a:ext>
            </a:extLst>
          </p:cNvPr>
          <p:cNvSpPr txBox="1"/>
          <p:nvPr/>
        </p:nvSpPr>
        <p:spPr>
          <a:xfrm>
            <a:off x="1339273" y="6298544"/>
            <a:ext cx="7370618" cy="276999"/>
          </a:xfrm>
          <a:prstGeom prst="rect">
            <a:avLst/>
          </a:prstGeom>
          <a:noFill/>
        </p:spPr>
        <p:txBody>
          <a:bodyPr wrap="square" rtlCol="0">
            <a:spAutoFit/>
          </a:bodyPr>
          <a:lstStyle/>
          <a:p>
            <a:r>
              <a:rPr lang="fr-FR" sz="1200" dirty="0"/>
              <a:t>* Cette capacité devra être confirmée par une étude détaillée (NDC + Schéma électrique)</a:t>
            </a:r>
          </a:p>
        </p:txBody>
      </p:sp>
      <p:graphicFrame>
        <p:nvGraphicFramePr>
          <p:cNvPr id="9" name="Tableau 8">
            <a:extLst>
              <a:ext uri="{FF2B5EF4-FFF2-40B4-BE49-F238E27FC236}">
                <a16:creationId xmlns:a16="http://schemas.microsoft.com/office/drawing/2014/main" id="{111CA23C-6E76-7AB5-DFD0-1C08ABCEEDBC}"/>
              </a:ext>
            </a:extLst>
          </p:cNvPr>
          <p:cNvGraphicFramePr>
            <a:graphicFrameLocks noGrp="1"/>
          </p:cNvGraphicFramePr>
          <p:nvPr>
            <p:extLst>
              <p:ext uri="{D42A27DB-BD31-4B8C-83A1-F6EECF244321}">
                <p14:modId xmlns:p14="http://schemas.microsoft.com/office/powerpoint/2010/main" val="125477963"/>
              </p:ext>
            </p:extLst>
          </p:nvPr>
        </p:nvGraphicFramePr>
        <p:xfrm>
          <a:off x="256115" y="145297"/>
          <a:ext cx="11679769" cy="5142669"/>
        </p:xfrm>
        <a:graphic>
          <a:graphicData uri="http://schemas.openxmlformats.org/drawingml/2006/table">
            <a:tbl>
              <a:tblPr firstRow="1" bandRow="1">
                <a:tableStyleId>{5940675A-B579-460E-94D1-54222C63F5DA}</a:tableStyleId>
              </a:tblPr>
              <a:tblGrid>
                <a:gridCol w="6199549">
                  <a:extLst>
                    <a:ext uri="{9D8B030D-6E8A-4147-A177-3AD203B41FA5}">
                      <a16:colId xmlns:a16="http://schemas.microsoft.com/office/drawing/2014/main" val="2754210634"/>
                    </a:ext>
                  </a:extLst>
                </a:gridCol>
                <a:gridCol w="1443697">
                  <a:extLst>
                    <a:ext uri="{9D8B030D-6E8A-4147-A177-3AD203B41FA5}">
                      <a16:colId xmlns:a16="http://schemas.microsoft.com/office/drawing/2014/main" val="2264849184"/>
                    </a:ext>
                  </a:extLst>
                </a:gridCol>
                <a:gridCol w="194041">
                  <a:extLst>
                    <a:ext uri="{9D8B030D-6E8A-4147-A177-3AD203B41FA5}">
                      <a16:colId xmlns:a16="http://schemas.microsoft.com/office/drawing/2014/main" val="1494021878"/>
                    </a:ext>
                  </a:extLst>
                </a:gridCol>
                <a:gridCol w="172774">
                  <a:extLst>
                    <a:ext uri="{9D8B030D-6E8A-4147-A177-3AD203B41FA5}">
                      <a16:colId xmlns:a16="http://schemas.microsoft.com/office/drawing/2014/main" val="4243508303"/>
                    </a:ext>
                  </a:extLst>
                </a:gridCol>
                <a:gridCol w="709222">
                  <a:extLst>
                    <a:ext uri="{9D8B030D-6E8A-4147-A177-3AD203B41FA5}">
                      <a16:colId xmlns:a16="http://schemas.microsoft.com/office/drawing/2014/main" val="3604092479"/>
                    </a:ext>
                  </a:extLst>
                </a:gridCol>
                <a:gridCol w="752995">
                  <a:extLst>
                    <a:ext uri="{9D8B030D-6E8A-4147-A177-3AD203B41FA5}">
                      <a16:colId xmlns:a16="http://schemas.microsoft.com/office/drawing/2014/main" val="4288640946"/>
                    </a:ext>
                  </a:extLst>
                </a:gridCol>
                <a:gridCol w="286250">
                  <a:extLst>
                    <a:ext uri="{9D8B030D-6E8A-4147-A177-3AD203B41FA5}">
                      <a16:colId xmlns:a16="http://schemas.microsoft.com/office/drawing/2014/main" val="1513221900"/>
                    </a:ext>
                  </a:extLst>
                </a:gridCol>
                <a:gridCol w="656405">
                  <a:extLst>
                    <a:ext uri="{9D8B030D-6E8A-4147-A177-3AD203B41FA5}">
                      <a16:colId xmlns:a16="http://schemas.microsoft.com/office/drawing/2014/main" val="3076459857"/>
                    </a:ext>
                  </a:extLst>
                </a:gridCol>
                <a:gridCol w="1264836">
                  <a:extLst>
                    <a:ext uri="{9D8B030D-6E8A-4147-A177-3AD203B41FA5}">
                      <a16:colId xmlns:a16="http://schemas.microsoft.com/office/drawing/2014/main" val="2845549372"/>
                    </a:ext>
                  </a:extLst>
                </a:gridCol>
              </a:tblGrid>
              <a:tr h="270408">
                <a:tc gridSpan="9">
                  <a:txBody>
                    <a:bodyPr/>
                    <a:lstStyle/>
                    <a:p>
                      <a:r>
                        <a:rPr lang="fr-FR" sz="1200" b="1" dirty="0">
                          <a:solidFill>
                            <a:schemeClr val="bg1"/>
                          </a:solidFill>
                          <a:latin typeface="Work Sans" panose="00000500000000000000" pitchFamily="2" charset="0"/>
                        </a:rPr>
                        <a:t>POINT DE RACCORDEMENT ELECTRIQUE</a:t>
                      </a:r>
                    </a:p>
                  </a:txBody>
                  <a:tcPr>
                    <a:lnT w="12700" cap="flat" cmpd="sng" algn="ctr">
                      <a:solidFill>
                        <a:schemeClr val="tx1"/>
                      </a:solidFill>
                      <a:prstDash val="solid"/>
                      <a:round/>
                      <a:headEnd type="none" w="med" len="med"/>
                      <a:tailEnd type="none" w="med" len="med"/>
                    </a:lnT>
                    <a:solidFill>
                      <a:schemeClr val="accent1"/>
                    </a:solidFill>
                  </a:tcPr>
                </a:tc>
                <a:tc hMerge="1">
                  <a:txBody>
                    <a:bodyPr/>
                    <a:lstStyle/>
                    <a:p>
                      <a:endParaRPr lang="fr-FR"/>
                    </a:p>
                  </a:txBody>
                  <a:tcPr>
                    <a:lnT w="12700" cap="flat" cmpd="sng" algn="ctr">
                      <a:solidFill>
                        <a:schemeClr val="tx1"/>
                      </a:solidFill>
                      <a:prstDash val="solid"/>
                      <a:round/>
                      <a:headEnd type="none" w="med" len="med"/>
                      <a:tailEnd type="none" w="med" len="med"/>
                    </a:lnT>
                  </a:tcPr>
                </a:tc>
                <a:tc hMerge="1">
                  <a:txBody>
                    <a:bodyPr/>
                    <a:lstStyle/>
                    <a:p>
                      <a:endParaRPr lang="fr-FR"/>
                    </a:p>
                  </a:txBody>
                  <a:tcPr>
                    <a:lnT w="12700" cap="flat" cmpd="sng" algn="ctr">
                      <a:solidFill>
                        <a:schemeClr val="tx1"/>
                      </a:solidFill>
                      <a:prstDash val="solid"/>
                      <a:round/>
                      <a:headEnd type="none" w="med" len="med"/>
                      <a:tailEnd type="none" w="med" len="med"/>
                    </a:lnT>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sz="1200" b="1" dirty="0">
                        <a:solidFill>
                          <a:schemeClr val="bg1"/>
                        </a:solidFill>
                        <a:latin typeface="Work Sans" panose="00000500000000000000" pitchFamily="2" charset="0"/>
                      </a:endParaRPr>
                    </a:p>
                  </a:txBody>
                  <a:tcPr>
                    <a:lnT w="12700" cap="flat" cmpd="sng" algn="ctr">
                      <a:solidFill>
                        <a:schemeClr val="tx1"/>
                      </a:solidFill>
                      <a:prstDash val="solid"/>
                      <a:round/>
                      <a:headEnd type="none" w="med" len="med"/>
                      <a:tailEnd type="none" w="med" len="med"/>
                    </a:lnT>
                    <a:solidFill>
                      <a:schemeClr val="accent1"/>
                    </a:solidFill>
                  </a:tcPr>
                </a:tc>
                <a:extLst>
                  <a:ext uri="{0D108BD9-81ED-4DB2-BD59-A6C34878D82A}">
                    <a16:rowId xmlns:a16="http://schemas.microsoft.com/office/drawing/2014/main" val="782981880"/>
                  </a:ext>
                </a:extLst>
              </a:tr>
              <a:tr h="0">
                <a:tc>
                  <a:txBody>
                    <a:bodyPr/>
                    <a:lstStyle/>
                    <a:p>
                      <a:pPr algn="ctr">
                        <a:lnSpc>
                          <a:spcPct val="107000"/>
                        </a:lnSpc>
                        <a:spcAft>
                          <a:spcPts val="800"/>
                        </a:spcAft>
                      </a:pPr>
                      <a:r>
                        <a:rPr lang="fr-FR" sz="1200" b="1" kern="1200" dirty="0">
                          <a:solidFill>
                            <a:schemeClr val="bg1"/>
                          </a:solidFill>
                          <a:latin typeface="Work Sans" panose="00000500000000000000" pitchFamily="2" charset="0"/>
                          <a:ea typeface="+mn-ea"/>
                          <a:cs typeface="+mn-cs"/>
                        </a:rPr>
                        <a:t>Type de source et puissance </a:t>
                      </a:r>
                    </a:p>
                  </a:txBody>
                  <a:tcPr marL="34925" marR="34925" marT="34925" marB="34925" anchor="ctr">
                    <a:solidFill>
                      <a:srgbClr val="00B0F0"/>
                    </a:solidFill>
                  </a:tcPr>
                </a:tc>
                <a:tc gridSpan="2">
                  <a:txBody>
                    <a:bodyPr/>
                    <a:lstStyle/>
                    <a:p>
                      <a:pPr marL="285750" indent="-285750">
                        <a:buFont typeface="Wingdings" panose="05000000000000000000" pitchFamily="2" charset="2"/>
                        <a:buChar char="q"/>
                      </a:pPr>
                      <a:r>
                        <a:rPr lang="fr-FR" sz="1200" dirty="0"/>
                        <a:t>TGBT</a:t>
                      </a:r>
                    </a:p>
                  </a:txBody>
                  <a:tcPr>
                    <a:solidFill>
                      <a:schemeClr val="accent4">
                        <a:lumMod val="20000"/>
                        <a:lumOff val="80000"/>
                      </a:schemeClr>
                    </a:solidFill>
                  </a:tcPr>
                </a:tc>
                <a:tc hMerge="1">
                  <a:txBody>
                    <a:bodyPr/>
                    <a:lstStyle/>
                    <a:p>
                      <a:endParaRPr lang="fr-FR"/>
                    </a:p>
                  </a:txBody>
                  <a:tcPr/>
                </a:tc>
                <a:tc gridSpan="4">
                  <a:txBody>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lang="fr-FR" sz="1200" dirty="0"/>
                        <a:t>Armoire électrique</a:t>
                      </a:r>
                    </a:p>
                  </a:txBody>
                  <a:tcPr>
                    <a:solidFill>
                      <a:schemeClr val="accent4">
                        <a:lumMod val="20000"/>
                        <a:lumOff val="80000"/>
                      </a:schemeClr>
                    </a:solidFill>
                  </a:tcPr>
                </a:tc>
                <a:tc hMerge="1">
                  <a:txBody>
                    <a:bodyPr/>
                    <a:lstStyle/>
                    <a:p>
                      <a:endParaRPr lang="fr-FR"/>
                    </a:p>
                  </a:txBody>
                  <a:tcPr/>
                </a:tc>
                <a:tc hMerge="1">
                  <a:txBody>
                    <a:bodyPr/>
                    <a:lstStyle/>
                    <a:p>
                      <a:endParaRPr lang="fr-FR"/>
                    </a:p>
                  </a:txBody>
                  <a:tcPr/>
                </a:tc>
                <a:tc hMerge="1">
                  <a:txBody>
                    <a:bodyPr/>
                    <a:lstStyle/>
                    <a:p>
                      <a:endParaRPr lang="fr-FR"/>
                    </a:p>
                  </a:txBody>
                  <a:tcPr/>
                </a:tc>
                <a:tc gridSpan="2">
                  <a:txBody>
                    <a:bodyPr/>
                    <a:lstStyle/>
                    <a:p>
                      <a:pPr marL="285750" indent="-285750">
                        <a:buFont typeface="Wingdings" panose="05000000000000000000" pitchFamily="2" charset="2"/>
                        <a:buChar char="q"/>
                      </a:pPr>
                      <a:r>
                        <a:rPr lang="fr-FR" sz="1200" dirty="0"/>
                        <a:t>Point de livraison </a:t>
                      </a:r>
                    </a:p>
                  </a:txBody>
                  <a:tcPr>
                    <a:solidFill>
                      <a:schemeClr val="accent6">
                        <a:lumMod val="20000"/>
                        <a:lumOff val="80000"/>
                      </a:schemeClr>
                    </a:solidFill>
                  </a:tcPr>
                </a:tc>
                <a:tc hMerge="1">
                  <a:txBody>
                    <a:bodyPr/>
                    <a:lstStyle/>
                    <a:p>
                      <a:pPr marL="285750" indent="-285750">
                        <a:buFont typeface="Wingdings" panose="05000000000000000000" pitchFamily="2" charset="2"/>
                        <a:buChar char="q"/>
                      </a:pPr>
                      <a:endParaRPr lang="fr-FR" sz="1200" dirty="0"/>
                    </a:p>
                  </a:txBody>
                  <a:tcPr>
                    <a:solidFill>
                      <a:schemeClr val="accent6">
                        <a:lumMod val="20000"/>
                        <a:lumOff val="80000"/>
                      </a:schemeClr>
                    </a:solidFill>
                  </a:tcPr>
                </a:tc>
                <a:extLst>
                  <a:ext uri="{0D108BD9-81ED-4DB2-BD59-A6C34878D82A}">
                    <a16:rowId xmlns:a16="http://schemas.microsoft.com/office/drawing/2014/main" val="289870063"/>
                  </a:ext>
                </a:extLst>
              </a:tr>
              <a:tr h="360544">
                <a:tc>
                  <a:txBody>
                    <a:bodyPr/>
                    <a:lstStyle/>
                    <a:p>
                      <a:pPr algn="just">
                        <a:lnSpc>
                          <a:spcPct val="107000"/>
                        </a:lnSpc>
                        <a:spcAft>
                          <a:spcPts val="800"/>
                        </a:spcAft>
                      </a:pPr>
                      <a:r>
                        <a:rPr lang="fr-FR" sz="1200" b="1" kern="1200" dirty="0">
                          <a:solidFill>
                            <a:schemeClr val="tx1"/>
                          </a:solidFill>
                          <a:latin typeface="Work Sans" panose="00000500000000000000" pitchFamily="2" charset="0"/>
                          <a:ea typeface="+mn-ea"/>
                          <a:cs typeface="+mn-cs"/>
                        </a:rPr>
                        <a:t>Option N°1 (TGBT / Armoire électrique) </a:t>
                      </a:r>
                      <a:r>
                        <a:rPr lang="fr-FR" sz="1200" kern="1200" dirty="0">
                          <a:solidFill>
                            <a:schemeClr val="tx1"/>
                          </a:solidFill>
                          <a:latin typeface="Work Sans" panose="00000500000000000000" pitchFamily="2" charset="0"/>
                          <a:ea typeface="+mn-ea"/>
                          <a:cs typeface="+mn-cs"/>
                        </a:rPr>
                        <a:t>: Préciser la puissance de réserve disponible </a:t>
                      </a:r>
                    </a:p>
                  </a:txBody>
                  <a:tcPr marL="34925" marR="34925" marT="34925" marB="34925" anchor="ctr">
                    <a:solidFill>
                      <a:schemeClr val="accent4">
                        <a:lumMod val="20000"/>
                        <a:lumOff val="80000"/>
                      </a:schemeClr>
                    </a:solidFill>
                  </a:tcPr>
                </a:tc>
                <a:tc gridSpan="8">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a:txBody>
                  <a:tcPr>
                    <a:solidFill>
                      <a:schemeClr val="accent4">
                        <a:lumMod val="20000"/>
                        <a:lumOff val="80000"/>
                      </a:schemeClr>
                    </a:solidFill>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a:txBody>
                  <a:tcPr>
                    <a:solidFill>
                      <a:schemeClr val="accent4">
                        <a:lumMod val="20000"/>
                        <a:lumOff val="80000"/>
                      </a:schemeClr>
                    </a:solidFill>
                  </a:tcPr>
                </a:tc>
                <a:extLst>
                  <a:ext uri="{0D108BD9-81ED-4DB2-BD59-A6C34878D82A}">
                    <a16:rowId xmlns:a16="http://schemas.microsoft.com/office/drawing/2014/main" val="2328991457"/>
                  </a:ext>
                </a:extLst>
              </a:tr>
              <a:tr h="360544">
                <a:tc>
                  <a:txBody>
                    <a:bodyPr/>
                    <a:lstStyle/>
                    <a:p>
                      <a:pPr algn="just">
                        <a:lnSpc>
                          <a:spcPct val="107000"/>
                        </a:lnSpc>
                        <a:spcAft>
                          <a:spcPts val="800"/>
                        </a:spcAft>
                      </a:pPr>
                      <a:r>
                        <a:rPr lang="fr-FR" sz="1200" kern="1200" dirty="0">
                          <a:solidFill>
                            <a:schemeClr val="tx1"/>
                          </a:solidFill>
                          <a:latin typeface="Work Sans" panose="00000500000000000000" pitchFamily="2" charset="0"/>
                          <a:ea typeface="+mn-ea"/>
                          <a:cs typeface="+mn-cs"/>
                        </a:rPr>
                        <a:t>Le cas échéant, préciser le PIC de consommation du TGBT (Compteur/Facture)</a:t>
                      </a:r>
                    </a:p>
                  </a:txBody>
                  <a:tcPr marL="34925" marR="34925" marT="34925" marB="34925" anchor="ctr">
                    <a:solidFill>
                      <a:schemeClr val="accent4">
                        <a:lumMod val="20000"/>
                        <a:lumOff val="80000"/>
                      </a:schemeClr>
                    </a:solidFill>
                  </a:tcPr>
                </a:tc>
                <a:tc gridSpan="8">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a:txBody>
                  <a:tcPr>
                    <a:lnB w="12700" cap="flat" cmpd="sng" algn="ctr">
                      <a:solidFill>
                        <a:schemeClr val="tx1"/>
                      </a:solidFill>
                      <a:prstDash val="solid"/>
                      <a:round/>
                      <a:headEnd type="none" w="med" len="med"/>
                      <a:tailEnd type="none" w="med" len="med"/>
                    </a:lnB>
                    <a:solidFill>
                      <a:schemeClr val="accent4">
                        <a:lumMod val="20000"/>
                        <a:lumOff val="80000"/>
                      </a:schemeClr>
                    </a:solidFill>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a:txBody>
                  <a:tcPr>
                    <a:solidFill>
                      <a:schemeClr val="accent4">
                        <a:lumMod val="20000"/>
                        <a:lumOff val="80000"/>
                      </a:schemeClr>
                    </a:solidFill>
                  </a:tcPr>
                </a:tc>
                <a:extLst>
                  <a:ext uri="{0D108BD9-81ED-4DB2-BD59-A6C34878D82A}">
                    <a16:rowId xmlns:a16="http://schemas.microsoft.com/office/drawing/2014/main" val="3970210954"/>
                  </a:ext>
                </a:extLst>
              </a:tr>
              <a:tr h="360544">
                <a:tc>
                  <a:txBody>
                    <a:bodyPr/>
                    <a:lstStyle/>
                    <a:p>
                      <a:pPr algn="just">
                        <a:lnSpc>
                          <a:spcPct val="107000"/>
                        </a:lnSpc>
                        <a:spcAft>
                          <a:spcPts val="800"/>
                        </a:spcAft>
                      </a:pPr>
                      <a:r>
                        <a:rPr lang="fr-FR" sz="1200" kern="1200" dirty="0">
                          <a:solidFill>
                            <a:schemeClr val="tx1"/>
                          </a:solidFill>
                          <a:latin typeface="Work Sans" panose="00000500000000000000" pitchFamily="2" charset="0"/>
                          <a:ea typeface="+mn-ea"/>
                          <a:cs typeface="+mn-cs"/>
                        </a:rPr>
                        <a:t>Si raccordement sur TGBT client, préciser le régime de neutre </a:t>
                      </a:r>
                    </a:p>
                  </a:txBody>
                  <a:tcPr marL="34925" marR="34925" marT="34925" marB="34925" anchor="ctr">
                    <a:solidFill>
                      <a:schemeClr val="accent4">
                        <a:lumMod val="20000"/>
                        <a:lumOff val="80000"/>
                      </a:schemeClr>
                    </a:solidFill>
                  </a:tcPr>
                </a:tc>
                <a:tc>
                  <a:txBody>
                    <a:bodyPr/>
                    <a:lstStyle/>
                    <a:p>
                      <a:pPr marL="342900" lvl="0" indent="-342900" algn="l">
                        <a:lnSpc>
                          <a:spcPct val="115000"/>
                        </a:lnSpc>
                        <a:spcAft>
                          <a:spcPts val="1000"/>
                        </a:spcAft>
                        <a:buFont typeface="Wingdings" panose="05000000000000000000" pitchFamily="2" charset="2"/>
                        <a:buChar char="q"/>
                      </a:pPr>
                      <a:r>
                        <a:rPr lang="fr-FR" sz="1200" kern="1200" dirty="0">
                          <a:solidFill>
                            <a:schemeClr val="tx1"/>
                          </a:solidFill>
                          <a:latin typeface="Work Sans" panose="00000500000000000000" pitchFamily="2" charset="0"/>
                          <a:ea typeface="+mn-ea"/>
                          <a:cs typeface="+mn-cs"/>
                        </a:rPr>
                        <a:t>TT</a:t>
                      </a: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gridSpan="4">
                  <a:txBody>
                    <a:bodyPr/>
                    <a:lstStyle/>
                    <a:p>
                      <a:pPr marL="342900" marR="0" lvl="0" indent="-342900" algn="l" defTabSz="914400" rtl="0" eaLnBrk="1" fontAlgn="auto" latinLnBrk="0" hangingPunct="1">
                        <a:lnSpc>
                          <a:spcPct val="115000"/>
                        </a:lnSpc>
                        <a:spcBef>
                          <a:spcPts val="0"/>
                        </a:spcBef>
                        <a:spcAft>
                          <a:spcPts val="1000"/>
                        </a:spcAft>
                        <a:buClrTx/>
                        <a:buSzTx/>
                        <a:buFont typeface="Wingdings" panose="05000000000000000000" pitchFamily="2" charset="2"/>
                        <a:buChar char="q"/>
                        <a:tabLst/>
                        <a:defRPr/>
                      </a:pPr>
                      <a:r>
                        <a:rPr lang="fr-FR" sz="1200" kern="1200" dirty="0">
                          <a:solidFill>
                            <a:schemeClr val="tx1"/>
                          </a:solidFill>
                          <a:latin typeface="Work Sans" panose="00000500000000000000" pitchFamily="2" charset="0"/>
                          <a:ea typeface="+mn-ea"/>
                          <a:cs typeface="+mn-cs"/>
                        </a:rPr>
                        <a:t>TN</a:t>
                      </a:r>
                    </a:p>
                  </a:txBody>
                  <a:tcPr marL="68580" marR="68580" marT="0" marB="0" anchor="ctr">
                    <a:solidFill>
                      <a:schemeClr val="accent4">
                        <a:lumMod val="20000"/>
                        <a:lumOff val="80000"/>
                      </a:schemeClr>
                    </a:solidFill>
                  </a:tcPr>
                </a:tc>
                <a:tc hMerge="1">
                  <a:txBody>
                    <a:bodyPr/>
                    <a:lstStyle/>
                    <a:p>
                      <a:endParaRPr lang="fr-FR"/>
                    </a:p>
                  </a:txBody>
                  <a:tcPr/>
                </a:tc>
                <a:tc hMerge="1">
                  <a:txBody>
                    <a:bodyPr/>
                    <a:lstStyle/>
                    <a:p>
                      <a:endParaRPr lang="fr-FR"/>
                    </a:p>
                  </a:txBody>
                  <a:tcPr/>
                </a:tc>
                <a:tc hMerge="1">
                  <a:txBody>
                    <a:bodyPr/>
                    <a:lstStyle/>
                    <a:p>
                      <a:endParaRPr lang="fr-FR"/>
                    </a:p>
                  </a:txBody>
                  <a:tcPr/>
                </a:tc>
                <a:tc gridSpan="3">
                  <a:txBody>
                    <a:bodyPr/>
                    <a:lstStyle/>
                    <a:p>
                      <a:pPr marL="171450" indent="-171450">
                        <a:buFont typeface="Wingdings" panose="05000000000000000000" pitchFamily="2" charset="2"/>
                        <a:buChar char="q"/>
                      </a:pPr>
                      <a:r>
                        <a:rPr lang="fr-FR" sz="1200" b="0" kern="1200" dirty="0">
                          <a:solidFill>
                            <a:srgbClr val="FF0000"/>
                          </a:solidFill>
                          <a:latin typeface="Work Sans" panose="00000500000000000000" pitchFamily="2" charset="0"/>
                          <a:ea typeface="+mn-ea"/>
                          <a:cs typeface="+mn-cs"/>
                        </a:rPr>
                        <a:t>IT</a:t>
                      </a:r>
                    </a:p>
                  </a:txBody>
                  <a:tcPr marL="68580" marR="68580" marT="0" marB="0" anchor="ctr">
                    <a:solidFill>
                      <a:schemeClr val="accent4">
                        <a:lumMod val="20000"/>
                        <a:lumOff val="80000"/>
                      </a:schemeClr>
                    </a:solidFill>
                  </a:tcPr>
                </a:tc>
                <a:tc hMerge="1">
                  <a:txBody>
                    <a:bodyPr/>
                    <a:lstStyle/>
                    <a:p>
                      <a:endParaRPr lang="fr-FR"/>
                    </a:p>
                  </a:txBody>
                  <a:tcPr/>
                </a:tc>
                <a:tc hMerge="1">
                  <a:txBody>
                    <a:bodyPr/>
                    <a:lstStyle/>
                    <a:p>
                      <a:pPr marL="171450" indent="-171450">
                        <a:buFont typeface="Wingdings" panose="05000000000000000000" pitchFamily="2" charset="2"/>
                        <a:buChar char="q"/>
                      </a:pPr>
                      <a:endParaRPr lang="fr-FR" sz="1200" b="0" kern="1200" dirty="0">
                        <a:solidFill>
                          <a:srgbClr val="FF0000"/>
                        </a:solidFill>
                        <a:latin typeface="Work Sans" panose="00000500000000000000" pitchFamily="2" charset="0"/>
                        <a:ea typeface="+mn-ea"/>
                        <a:cs typeface="+mn-cs"/>
                      </a:endParaRPr>
                    </a:p>
                  </a:txBody>
                  <a:tcPr marL="68580" marR="68580" marT="0" marB="0" anchor="ctr">
                    <a:solidFill>
                      <a:schemeClr val="accent4">
                        <a:lumMod val="20000"/>
                        <a:lumOff val="80000"/>
                      </a:schemeClr>
                    </a:solidFill>
                  </a:tcPr>
                </a:tc>
                <a:extLst>
                  <a:ext uri="{0D108BD9-81ED-4DB2-BD59-A6C34878D82A}">
                    <a16:rowId xmlns:a16="http://schemas.microsoft.com/office/drawing/2014/main" val="1176488464"/>
                  </a:ext>
                </a:extLst>
              </a:tr>
              <a:tr h="360544">
                <a:tc>
                  <a:txBody>
                    <a:bodyPr/>
                    <a:lstStyle/>
                    <a:p>
                      <a:pPr algn="just">
                        <a:lnSpc>
                          <a:spcPct val="107000"/>
                        </a:lnSpc>
                        <a:spcAft>
                          <a:spcPts val="800"/>
                        </a:spcAft>
                      </a:pPr>
                      <a:r>
                        <a:rPr lang="fr-FR" sz="1200" b="1" kern="1200" dirty="0">
                          <a:solidFill>
                            <a:schemeClr val="tx1"/>
                          </a:solidFill>
                          <a:latin typeface="Work Sans" panose="00000500000000000000" pitchFamily="2" charset="0"/>
                          <a:ea typeface="+mn-ea"/>
                          <a:cs typeface="+mn-cs"/>
                        </a:rPr>
                        <a:t>Option N°2 (Point de livraison) : </a:t>
                      </a:r>
                      <a:r>
                        <a:rPr lang="fr-FR" sz="1200" kern="1200" dirty="0">
                          <a:solidFill>
                            <a:schemeClr val="tx1"/>
                          </a:solidFill>
                          <a:latin typeface="Work Sans" panose="00000500000000000000" pitchFamily="2" charset="0"/>
                          <a:ea typeface="+mn-ea"/>
                          <a:cs typeface="+mn-cs"/>
                        </a:rPr>
                        <a:t>Préciser le besoin </a:t>
                      </a:r>
                    </a:p>
                  </a:txBody>
                  <a:tcPr marL="34925" marR="34925" marT="34925" marB="34925" anchor="ctr">
                    <a:lnR w="12700" cap="flat" cmpd="sng" algn="ctr">
                      <a:solidFill>
                        <a:schemeClr val="tx1"/>
                      </a:solidFill>
                      <a:prstDash val="solid"/>
                      <a:round/>
                      <a:headEnd type="none" w="med" len="med"/>
                      <a:tailEnd type="none" w="med" len="med"/>
                    </a:lnR>
                    <a:solidFill>
                      <a:schemeClr val="accent6">
                        <a:lumMod val="20000"/>
                        <a:lumOff val="80000"/>
                      </a:schemeClr>
                    </a:solidFill>
                  </a:tcPr>
                </a:tc>
                <a:tc gridSpan="2">
                  <a:txBody>
                    <a:bodyPr/>
                    <a:lstStyle/>
                    <a:p>
                      <a:pPr marL="342900" lvl="0" indent="-342900" algn="l">
                        <a:lnSpc>
                          <a:spcPct val="115000"/>
                        </a:lnSpc>
                        <a:spcAft>
                          <a:spcPts val="1000"/>
                        </a:spcAft>
                        <a:buFont typeface="Wingdings" panose="05000000000000000000" pitchFamily="2" charset="2"/>
                        <a:buChar char="q"/>
                      </a:pPr>
                      <a:r>
                        <a:rPr lang="fr-FR" sz="1200" kern="1200" dirty="0">
                          <a:solidFill>
                            <a:schemeClr val="tx1"/>
                          </a:solidFill>
                          <a:latin typeface="Work Sans" panose="00000500000000000000" pitchFamily="2" charset="0"/>
                          <a:ea typeface="+mn-ea"/>
                          <a:cs typeface="+mn-cs"/>
                        </a:rPr>
                        <a:t>Augmentation abonnement sans travaux</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hMerge="1">
                  <a:txBody>
                    <a:bodyPr/>
                    <a:lstStyle/>
                    <a:p>
                      <a:pPr marL="342900" marR="0" lvl="0" indent="-342900" algn="l" defTabSz="914400" rtl="0" eaLnBrk="1" fontAlgn="auto" latinLnBrk="0" hangingPunct="1">
                        <a:lnSpc>
                          <a:spcPct val="115000"/>
                        </a:lnSpc>
                        <a:spcBef>
                          <a:spcPts val="0"/>
                        </a:spcBef>
                        <a:spcAft>
                          <a:spcPts val="1000"/>
                        </a:spcAft>
                        <a:buClrTx/>
                        <a:buSzTx/>
                        <a:buFont typeface="Wingdings" panose="05000000000000000000" pitchFamily="2" charset="2"/>
                        <a:buChar char="q"/>
                        <a:tabLst/>
                        <a:defRPr/>
                      </a:pPr>
                      <a:r>
                        <a:rPr lang="fr-FR" sz="1200" kern="1200" dirty="0">
                          <a:solidFill>
                            <a:schemeClr val="tx1"/>
                          </a:solidFill>
                          <a:latin typeface="Work Sans" panose="00000500000000000000" pitchFamily="2" charset="0"/>
                          <a:ea typeface="+mn-ea"/>
                          <a:cs typeface="+mn-cs"/>
                        </a:rPr>
                        <a:t>Augmentation abonnement avec travaux</a:t>
                      </a:r>
                    </a:p>
                  </a:txBody>
                  <a:tcPr marL="68580" marR="68580" marT="0" marB="0" anchor="ctr"/>
                </a:tc>
                <a:tc gridSpan="3">
                  <a:txBody>
                    <a:bodyPr/>
                    <a:lstStyle/>
                    <a:p>
                      <a:pPr marL="171450" indent="-171450">
                        <a:buFont typeface="Wingdings" panose="05000000000000000000" pitchFamily="2" charset="2"/>
                        <a:buChar char="q"/>
                      </a:pPr>
                      <a:r>
                        <a:rPr lang="fr-FR" sz="1200" kern="1200" dirty="0">
                          <a:solidFill>
                            <a:schemeClr val="tx1"/>
                          </a:solidFill>
                          <a:latin typeface="Work Sans" panose="00000500000000000000" pitchFamily="2" charset="0"/>
                          <a:ea typeface="+mn-ea"/>
                          <a:cs typeface="+mn-cs"/>
                        </a:rPr>
                        <a:t>Augmentation abonnement avec travaux</a:t>
                      </a:r>
                      <a:endParaRPr lang="fr-FR" dirty="0"/>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hMerge="1">
                  <a:txBody>
                    <a:bodyPr/>
                    <a:lstStyle/>
                    <a:p>
                      <a:endParaRPr lang="fr-FR"/>
                    </a:p>
                  </a:txBody>
                  <a:tcPr/>
                </a:tc>
                <a:tc hMerge="1">
                  <a:txBody>
                    <a:bodyPr/>
                    <a:lstStyle/>
                    <a:p>
                      <a:endParaRPr lang="fr-FR"/>
                    </a:p>
                  </a:txBody>
                  <a:tcPr>
                    <a:lnL w="12700" cap="flat" cmpd="sng" algn="ctr">
                      <a:solidFill>
                        <a:schemeClr val="tx1"/>
                      </a:solidFill>
                      <a:prstDash val="solid"/>
                      <a:round/>
                      <a:headEnd type="none" w="med" len="med"/>
                      <a:tailEnd type="none" w="med" len="med"/>
                    </a:lnL>
                  </a:tcPr>
                </a:tc>
                <a:tc gridSpan="3">
                  <a:txBody>
                    <a:bodyPr/>
                    <a:lstStyle/>
                    <a:p>
                      <a:pPr marL="171450" indent="-171450">
                        <a:buFont typeface="Wingdings" panose="05000000000000000000" pitchFamily="2" charset="2"/>
                        <a:buChar char="q"/>
                      </a:pPr>
                      <a:r>
                        <a:rPr lang="fr-FR" sz="1200" kern="1200" dirty="0">
                          <a:solidFill>
                            <a:schemeClr val="tx1"/>
                          </a:solidFill>
                          <a:latin typeface="Work Sans" panose="00000500000000000000" pitchFamily="2" charset="0"/>
                          <a:ea typeface="+mn-ea"/>
                          <a:cs typeface="+mn-cs"/>
                        </a:rPr>
                        <a:t>Création d’un PDL </a:t>
                      </a:r>
                      <a:r>
                        <a:rPr lang="fr-FR" sz="1200" b="0" kern="1200" dirty="0">
                          <a:solidFill>
                            <a:srgbClr val="FF0000"/>
                          </a:solidFill>
                          <a:latin typeface="Work Sans" panose="00000500000000000000" pitchFamily="2" charset="0"/>
                          <a:ea typeface="+mn-ea"/>
                          <a:cs typeface="+mn-cs"/>
                        </a:rPr>
                        <a:t>(Annexes à compléter)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accent6">
                        <a:lumMod val="20000"/>
                        <a:lumOff val="80000"/>
                      </a:schemeClr>
                    </a:solidFill>
                  </a:tcPr>
                </a:tc>
                <a:tc hMerge="1">
                  <a:txBody>
                    <a:bodyPr/>
                    <a:lstStyle/>
                    <a:p>
                      <a:endParaRPr lang="fr-FR"/>
                    </a:p>
                  </a:txBody>
                  <a:tcPr/>
                </a:tc>
                <a:tc hMerge="1">
                  <a:txBody>
                    <a:bodyPr/>
                    <a:lstStyle/>
                    <a:p>
                      <a:pPr marL="171450" indent="-171450">
                        <a:buFont typeface="Wingdings" panose="05000000000000000000" pitchFamily="2" charset="2"/>
                        <a:buChar char="q"/>
                      </a:pPr>
                      <a:endParaRPr lang="fr-FR" sz="1200" b="0" kern="1200" dirty="0">
                        <a:solidFill>
                          <a:srgbClr val="FF0000"/>
                        </a:solidFill>
                        <a:latin typeface="Work Sans" panose="00000500000000000000" pitchFamily="2" charset="0"/>
                        <a:ea typeface="+mn-ea"/>
                        <a:cs typeface="+mn-cs"/>
                      </a:endParaRPr>
                    </a:p>
                  </a:txBody>
                  <a:tcPr marL="68580" marR="68580" marT="0" marB="0" anchor="ctr">
                    <a:lnL w="12700" cap="flat" cmpd="sng" algn="ctr">
                      <a:solidFill>
                        <a:schemeClr val="tx1"/>
                      </a:solidFill>
                      <a:prstDash val="solid"/>
                      <a:round/>
                      <a:headEnd type="none" w="med" len="med"/>
                      <a:tailEnd type="none" w="med" len="med"/>
                    </a:lnL>
                    <a:solidFill>
                      <a:schemeClr val="accent6">
                        <a:lumMod val="20000"/>
                        <a:lumOff val="80000"/>
                      </a:schemeClr>
                    </a:solidFill>
                  </a:tcPr>
                </a:tc>
                <a:extLst>
                  <a:ext uri="{0D108BD9-81ED-4DB2-BD59-A6C34878D82A}">
                    <a16:rowId xmlns:a16="http://schemas.microsoft.com/office/drawing/2014/main" val="3397226437"/>
                  </a:ext>
                </a:extLst>
              </a:tr>
              <a:tr h="360544">
                <a:tc>
                  <a:txBody>
                    <a:bodyPr/>
                    <a:lstStyle/>
                    <a:p>
                      <a:pPr algn="just">
                        <a:lnSpc>
                          <a:spcPct val="107000"/>
                        </a:lnSpc>
                        <a:spcAft>
                          <a:spcPts val="800"/>
                        </a:spcAft>
                      </a:pPr>
                      <a:r>
                        <a:rPr lang="fr-FR" sz="1200" kern="1200" dirty="0">
                          <a:solidFill>
                            <a:schemeClr val="tx1"/>
                          </a:solidFill>
                          <a:latin typeface="Work Sans" panose="00000500000000000000" pitchFamily="2" charset="0"/>
                          <a:ea typeface="+mn-ea"/>
                          <a:cs typeface="+mn-cs"/>
                        </a:rPr>
                        <a:t>Préciser le niveau de puissance nécessaire du point de livraison (Augmentation ou création)</a:t>
                      </a:r>
                    </a:p>
                  </a:txBody>
                  <a:tcPr marL="34925" marR="34925" marT="34925" marB="34925"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6">
                        <a:lumMod val="20000"/>
                        <a:lumOff val="80000"/>
                      </a:schemeClr>
                    </a:solidFill>
                  </a:tcPr>
                </a:tc>
                <a:tc gridSpan="5">
                  <a:txBody>
                    <a:bodyPr/>
                    <a:lstStyle/>
                    <a:p>
                      <a:pPr marL="0" lvl="0" indent="0" algn="ctr">
                        <a:lnSpc>
                          <a:spcPct val="115000"/>
                        </a:lnSpc>
                        <a:spcAft>
                          <a:spcPts val="1000"/>
                        </a:spcAft>
                        <a:buFont typeface="Wingdings" panose="05000000000000000000" pitchFamily="2" charset="2"/>
                        <a:buNone/>
                      </a:pPr>
                      <a:r>
                        <a:rPr lang="fr-FR" sz="1200" kern="1200" dirty="0">
                          <a:solidFill>
                            <a:schemeClr val="tx1"/>
                          </a:solidFill>
                          <a:latin typeface="Work Sans" panose="00000500000000000000" pitchFamily="2" charset="0"/>
                          <a:ea typeface="+mn-ea"/>
                          <a:cs typeface="+mn-cs"/>
                        </a:rPr>
                        <a:t>___ kW existant / ___ kW demandés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hMerge="1">
                  <a:txBody>
                    <a:bodyPr/>
                    <a:lstStyle/>
                    <a:p>
                      <a:endParaRPr lang="fr-FR"/>
                    </a:p>
                  </a:txBody>
                  <a:tcPr/>
                </a:tc>
                <a:tc hMerge="1">
                  <a:txBody>
                    <a:bodyPr/>
                    <a:lstStyle/>
                    <a:p>
                      <a:endParaRPr lang="fr-FR" dirty="0"/>
                    </a:p>
                  </a:txBody>
                  <a:tcPr marL="68580" marR="68580" marT="0" marB="0" anchor="ctr"/>
                </a:tc>
                <a:tc hMerge="1">
                  <a:txBody>
                    <a:bodyPr/>
                    <a:lstStyle/>
                    <a:p>
                      <a:endParaRPr lang="fr-FR"/>
                    </a:p>
                  </a:txBody>
                  <a:tcPr/>
                </a:tc>
                <a:tc hMerge="1">
                  <a:txBody>
                    <a:bodyPr/>
                    <a:lstStyle/>
                    <a:p>
                      <a:endParaRPr lang="fr-FR"/>
                    </a:p>
                  </a:txBody>
                  <a:tcPr>
                    <a:lnL w="12700" cap="flat" cmpd="sng" algn="ctr">
                      <a:solidFill>
                        <a:schemeClr val="tx1"/>
                      </a:solidFill>
                      <a:prstDash val="solid"/>
                      <a:round/>
                      <a:headEnd type="none" w="med" len="med"/>
                      <a:tailEnd type="none" w="med" len="med"/>
                    </a:lnL>
                  </a:tcPr>
                </a:tc>
                <a:tc gridSpan="3">
                  <a:txBody>
                    <a:bodyPr/>
                    <a:lstStyle/>
                    <a:p>
                      <a:pPr marL="0" indent="0">
                        <a:buFont typeface="Wingdings" panose="05000000000000000000" pitchFamily="2" charset="2"/>
                        <a:buNone/>
                      </a:pPr>
                      <a:r>
                        <a:rPr lang="fr-FR" sz="1200" b="0" kern="1200" dirty="0">
                          <a:solidFill>
                            <a:srgbClr val="FF0000"/>
                          </a:solidFill>
                          <a:latin typeface="Work Sans" panose="00000500000000000000" pitchFamily="2" charset="0"/>
                          <a:ea typeface="+mn-ea"/>
                          <a:cs typeface="+mn-cs"/>
                        </a:rPr>
                        <a:t>C5 – C4 – C3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6">
                        <a:lumMod val="20000"/>
                        <a:lumOff val="80000"/>
                      </a:schemeClr>
                    </a:solidFill>
                  </a:tcPr>
                </a:tc>
                <a:tc hMerge="1">
                  <a:txBody>
                    <a:bodyPr/>
                    <a:lstStyle/>
                    <a:p>
                      <a:endParaRPr lang="fr-FR"/>
                    </a:p>
                  </a:txBody>
                  <a:tcPr/>
                </a:tc>
                <a:tc hMerge="1">
                  <a:txBody>
                    <a:bodyPr/>
                    <a:lstStyle/>
                    <a:p>
                      <a:pPr marL="0" indent="0">
                        <a:buFont typeface="Wingdings" panose="05000000000000000000" pitchFamily="2" charset="2"/>
                        <a:buNone/>
                      </a:pPr>
                      <a:endParaRPr lang="fr-FR" sz="1200" b="0" kern="1200" dirty="0">
                        <a:solidFill>
                          <a:srgbClr val="FF0000"/>
                        </a:solidFill>
                        <a:latin typeface="Work Sans" panose="00000500000000000000" pitchFamily="2" charset="0"/>
                        <a:ea typeface="+mn-ea"/>
                        <a:cs typeface="+mn-cs"/>
                      </a:endParaRPr>
                    </a:p>
                  </a:txBody>
                  <a:tcPr marL="68580" marR="68580" marT="0"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253568475"/>
                  </a:ext>
                </a:extLst>
              </a:tr>
              <a:tr h="354956">
                <a:tc gridSpan="9">
                  <a:txBody>
                    <a:bodyPr/>
                    <a:lstStyle/>
                    <a:p>
                      <a:pPr marL="0" marR="0" lvl="0" indent="0" algn="just" defTabSz="914400" rtl="0" eaLnBrk="1" fontAlgn="auto" latinLnBrk="0" hangingPunct="1">
                        <a:lnSpc>
                          <a:spcPct val="107000"/>
                        </a:lnSpc>
                        <a:spcBef>
                          <a:spcPts val="0"/>
                        </a:spcBef>
                        <a:spcAft>
                          <a:spcPts val="800"/>
                        </a:spcAft>
                        <a:buClrTx/>
                        <a:buSzTx/>
                        <a:buFontTx/>
                        <a:buNone/>
                        <a:tabLst/>
                        <a:defRPr/>
                      </a:pPr>
                      <a:r>
                        <a:rPr lang="fr-FR" sz="1200" b="1" dirty="0">
                          <a:solidFill>
                            <a:schemeClr val="bg1"/>
                          </a:solidFill>
                          <a:latin typeface="Work Sans" panose="00000500000000000000" pitchFamily="2" charset="0"/>
                        </a:rPr>
                        <a:t>TRAVAUX ELECTRIQUE</a:t>
                      </a:r>
                    </a:p>
                  </a:txBody>
                  <a:tcPr marL="34925" marR="34925" marT="34925" marB="34925" anchor="ctr">
                    <a:lnT w="12700" cap="flat" cmpd="sng" algn="ctr">
                      <a:solidFill>
                        <a:schemeClr val="tx1"/>
                      </a:solidFill>
                      <a:prstDash val="solid"/>
                      <a:round/>
                      <a:headEnd type="none" w="med" len="med"/>
                      <a:tailEnd type="none" w="med" len="med"/>
                    </a:lnT>
                    <a:solidFill>
                      <a:srgbClr val="4472C4"/>
                    </a:solidFill>
                  </a:tcPr>
                </a:tc>
                <a:tc hMerge="1">
                  <a:txBody>
                    <a:bodyPr/>
                    <a:lstStyle/>
                    <a:p>
                      <a:endParaRPr lang="fr-FR" dirty="0"/>
                    </a:p>
                  </a:txBody>
                  <a:tcP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pPr marL="0" marR="0" lvl="0" indent="0" algn="just" defTabSz="914400" rtl="0" eaLnBrk="1" fontAlgn="auto" latinLnBrk="0" hangingPunct="1">
                        <a:lnSpc>
                          <a:spcPct val="107000"/>
                        </a:lnSpc>
                        <a:spcBef>
                          <a:spcPts val="0"/>
                        </a:spcBef>
                        <a:spcAft>
                          <a:spcPts val="800"/>
                        </a:spcAft>
                        <a:buClrTx/>
                        <a:buSzTx/>
                        <a:buFontTx/>
                        <a:buNone/>
                        <a:tabLst/>
                        <a:defRPr/>
                      </a:pPr>
                      <a:endParaRPr lang="fr-FR" sz="1200" b="1" dirty="0">
                        <a:solidFill>
                          <a:schemeClr val="bg1"/>
                        </a:solidFill>
                        <a:latin typeface="Work Sans" panose="00000500000000000000" pitchFamily="2" charset="0"/>
                      </a:endParaRPr>
                    </a:p>
                  </a:txBody>
                  <a:tcPr marL="34925" marR="34925" marT="34925" marB="349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472C4"/>
                    </a:solidFill>
                  </a:tcPr>
                </a:tc>
                <a:extLst>
                  <a:ext uri="{0D108BD9-81ED-4DB2-BD59-A6C34878D82A}">
                    <a16:rowId xmlns:a16="http://schemas.microsoft.com/office/drawing/2014/main" val="773591184"/>
                  </a:ext>
                </a:extLst>
              </a:tr>
              <a:tr h="352234">
                <a:tc>
                  <a:txBody>
                    <a:bodyPr/>
                    <a:lstStyle/>
                    <a:p>
                      <a:pPr marL="0" marR="0" lvl="0" indent="0" algn="just" defTabSz="914400" rtl="0" eaLnBrk="1" fontAlgn="auto" latinLnBrk="0" hangingPunct="1">
                        <a:lnSpc>
                          <a:spcPct val="107000"/>
                        </a:lnSpc>
                        <a:spcBef>
                          <a:spcPts val="0"/>
                        </a:spcBef>
                        <a:spcAft>
                          <a:spcPts val="800"/>
                        </a:spcAft>
                        <a:buClrTx/>
                        <a:buSzTx/>
                        <a:buFontTx/>
                        <a:buNone/>
                        <a:tabLst/>
                        <a:defRPr/>
                      </a:pPr>
                      <a:r>
                        <a:rPr lang="fr-FR" sz="1200" kern="1200" dirty="0">
                          <a:solidFill>
                            <a:schemeClr val="tx1"/>
                          </a:solidFill>
                          <a:latin typeface="Work Sans" panose="00000500000000000000" pitchFamily="2" charset="0"/>
                          <a:ea typeface="+mn-ea"/>
                          <a:cs typeface="+mn-cs"/>
                        </a:rPr>
                        <a:t>Puissance nécessaire à l’installation IRVE seule, à plein régime, sans foisonnement </a:t>
                      </a:r>
                    </a:p>
                  </a:txBody>
                  <a:tcPr marL="34925" marR="34925" marT="34925" marB="34925" anchor="ctr"/>
                </a:tc>
                <a:tc gridSpan="8">
                  <a:txBody>
                    <a:bodyPr/>
                    <a:lstStyle/>
                    <a:p>
                      <a:endParaRPr lang="fr-FR" dirty="0"/>
                    </a:p>
                  </a:txBody>
                  <a:tcPr>
                    <a:lnT w="12700" cap="flat" cmpd="sng" algn="ctr">
                      <a:solidFill>
                        <a:schemeClr val="tx1"/>
                      </a:solidFill>
                      <a:prstDash val="solid"/>
                      <a:round/>
                      <a:headEnd type="none" w="med" len="med"/>
                      <a:tailEnd type="none" w="med" len="med"/>
                    </a:lnT>
                    <a:solidFill>
                      <a:schemeClr val="accent5">
                        <a:lumMod val="20000"/>
                        <a:lumOff val="80000"/>
                      </a:schemeClr>
                    </a:solidFill>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dirty="0"/>
                    </a:p>
                  </a:txBody>
                  <a:tcPr>
                    <a:lnT w="12700" cap="flat" cmpd="sng" algn="ctr">
                      <a:solidFill>
                        <a:schemeClr val="tx1"/>
                      </a:solidFill>
                      <a:prstDash val="solid"/>
                      <a:round/>
                      <a:headEnd type="none" w="med" len="med"/>
                      <a:tailEnd type="none" w="med" len="med"/>
                    </a:lnT>
                    <a:solidFill>
                      <a:schemeClr val="accent5">
                        <a:lumMod val="20000"/>
                        <a:lumOff val="80000"/>
                      </a:schemeClr>
                    </a:solidFill>
                  </a:tcPr>
                </a:tc>
                <a:extLst>
                  <a:ext uri="{0D108BD9-81ED-4DB2-BD59-A6C34878D82A}">
                    <a16:rowId xmlns:a16="http://schemas.microsoft.com/office/drawing/2014/main" val="4134110953"/>
                  </a:ext>
                </a:extLst>
              </a:tr>
              <a:tr h="400103">
                <a:tc>
                  <a:txBody>
                    <a:bodyPr/>
                    <a:lstStyle/>
                    <a:p>
                      <a:pPr algn="just">
                        <a:lnSpc>
                          <a:spcPct val="107000"/>
                        </a:lnSpc>
                        <a:spcAft>
                          <a:spcPts val="800"/>
                        </a:spcAft>
                      </a:pPr>
                      <a:r>
                        <a:rPr lang="fr-FR" sz="1200" kern="1200" dirty="0">
                          <a:solidFill>
                            <a:schemeClr val="tx1"/>
                          </a:solidFill>
                          <a:latin typeface="Work Sans" panose="00000500000000000000" pitchFamily="2" charset="0"/>
                          <a:ea typeface="+mn-ea"/>
                          <a:cs typeface="+mn-cs"/>
                        </a:rPr>
                        <a:t>Capacité théorique de se raccorder sur le point de raccordement en place ?* </a:t>
                      </a:r>
                    </a:p>
                  </a:txBody>
                  <a:tcPr marL="34925" marR="34925" marT="34925" marB="34925" anchor="ctr"/>
                </a:tc>
                <a:tc gridSpan="3">
                  <a:txBody>
                    <a:bodyPr/>
                    <a:lstStyle/>
                    <a:p>
                      <a:pPr marL="342900" lvl="0" indent="-342900" algn="l">
                        <a:lnSpc>
                          <a:spcPct val="115000"/>
                        </a:lnSpc>
                        <a:spcAft>
                          <a:spcPts val="1000"/>
                        </a:spcAft>
                        <a:buFont typeface="Wingdings" panose="05000000000000000000" pitchFamily="2" charset="2"/>
                        <a:buChar char="q"/>
                      </a:pPr>
                      <a:r>
                        <a:rPr lang="fr-FR" sz="1200" kern="1200" dirty="0">
                          <a:solidFill>
                            <a:schemeClr val="tx1"/>
                          </a:solidFill>
                          <a:latin typeface="Work Sans" panose="00000500000000000000" pitchFamily="2" charset="0"/>
                          <a:ea typeface="+mn-ea"/>
                          <a:cs typeface="+mn-cs"/>
                        </a:rPr>
                        <a:t>Oui sans foisonnement </a:t>
                      </a:r>
                    </a:p>
                  </a:txBody>
                  <a:tcPr marL="68580" marR="68580" marT="0" marB="0" anchor="ctr">
                    <a:solidFill>
                      <a:schemeClr val="accent5">
                        <a:lumMod val="20000"/>
                        <a:lumOff val="80000"/>
                      </a:schemeClr>
                    </a:solidFill>
                  </a:tcPr>
                </a:tc>
                <a:tc hMerge="1">
                  <a:txBody>
                    <a:bodyPr/>
                    <a:lstStyle/>
                    <a:p>
                      <a:pPr marL="342900" lvl="0" indent="-342900" algn="l">
                        <a:lnSpc>
                          <a:spcPct val="115000"/>
                        </a:lnSpc>
                        <a:spcAft>
                          <a:spcPts val="1000"/>
                        </a:spcAft>
                        <a:buFont typeface="Wingdings" panose="05000000000000000000" pitchFamily="2" charset="2"/>
                        <a:buChar char="q"/>
                      </a:pPr>
                      <a:r>
                        <a:rPr lang="fr-FR" sz="1200" kern="1200" dirty="0">
                          <a:solidFill>
                            <a:schemeClr val="tx1"/>
                          </a:solidFill>
                          <a:latin typeface="Work Sans" panose="00000500000000000000" pitchFamily="2" charset="0"/>
                          <a:ea typeface="+mn-ea"/>
                          <a:cs typeface="+mn-cs"/>
                        </a:rPr>
                        <a:t>Oui avec  foisonnement : préciser la valeur</a:t>
                      </a:r>
                    </a:p>
                  </a:txBody>
                  <a:tcPr marL="68580" marR="68580" marT="0" marB="0" anchor="ctr">
                    <a:solidFill>
                      <a:schemeClr val="accent5">
                        <a:lumMod val="20000"/>
                        <a:lumOff val="80000"/>
                      </a:schemeClr>
                    </a:solidFill>
                  </a:tcPr>
                </a:tc>
                <a:tc hMerge="1">
                  <a:txBody>
                    <a:bodyPr/>
                    <a:lstStyle/>
                    <a:p>
                      <a:r>
                        <a:rPr lang="fr-FR" sz="1200" kern="1200" dirty="0">
                          <a:solidFill>
                            <a:schemeClr val="tx1"/>
                          </a:solidFill>
                          <a:latin typeface="Work Sans" panose="00000500000000000000" pitchFamily="2" charset="0"/>
                          <a:ea typeface="+mn-ea"/>
                          <a:cs typeface="+mn-cs"/>
                        </a:rPr>
                        <a:t>Oui Avec foisonnement (Préciser la valeur : …kW)</a:t>
                      </a:r>
                      <a:endParaRPr lang="fr-FR" dirty="0"/>
                    </a:p>
                  </a:txBody>
                  <a:tcPr marL="68580" marR="68580" marT="0" marB="0" anchor="ctr">
                    <a:solidFill>
                      <a:schemeClr val="accent5">
                        <a:lumMod val="20000"/>
                        <a:lumOff val="80000"/>
                      </a:schemeClr>
                    </a:solidFill>
                  </a:tcPr>
                </a:tc>
                <a:tc gridSpan="4">
                  <a:txBody>
                    <a:bodyPr/>
                    <a:lstStyle/>
                    <a:p>
                      <a:r>
                        <a:rPr lang="fr-FR" sz="1200" kern="1200" dirty="0">
                          <a:solidFill>
                            <a:schemeClr val="tx1"/>
                          </a:solidFill>
                          <a:latin typeface="Work Sans" panose="00000500000000000000" pitchFamily="2" charset="0"/>
                          <a:ea typeface="+mn-ea"/>
                          <a:cs typeface="+mn-cs"/>
                        </a:rPr>
                        <a:t>Oui Avec foisonnement (Préciser la valeur : …kW)</a:t>
                      </a:r>
                      <a:endParaRPr lang="fr-FR" dirty="0"/>
                    </a:p>
                  </a:txBody>
                  <a:tcPr marL="68580" marR="68580" marT="0" marB="0" anchor="ctr">
                    <a:solidFill>
                      <a:schemeClr val="accent5">
                        <a:lumMod val="20000"/>
                        <a:lumOff val="80000"/>
                      </a:schemeClr>
                    </a:solidFill>
                  </a:tcPr>
                </a:tc>
                <a:tc hMerge="1">
                  <a:txBody>
                    <a:bodyPr/>
                    <a:lstStyle/>
                    <a:p>
                      <a:endParaRPr lang="fr-FR"/>
                    </a:p>
                  </a:txBody>
                  <a:tcPr/>
                </a:tc>
                <a:tc hMerge="1">
                  <a:txBody>
                    <a:bodyPr/>
                    <a:lstStyle/>
                    <a:p>
                      <a:pPr marL="171450" indent="-171450">
                        <a:buFont typeface="Wingdings" panose="05000000000000000000" pitchFamily="2" charset="2"/>
                        <a:buChar char="q"/>
                      </a:pPr>
                      <a:r>
                        <a:rPr lang="fr-FR" sz="1200" kern="1200" dirty="0">
                          <a:solidFill>
                            <a:schemeClr val="tx1"/>
                          </a:solidFill>
                          <a:latin typeface="Work Sans" panose="00000500000000000000" pitchFamily="2" charset="0"/>
                          <a:ea typeface="+mn-ea"/>
                          <a:cs typeface="+mn-cs"/>
                        </a:rPr>
                        <a:t>Non</a:t>
                      </a:r>
                      <a:endParaRPr lang="fr-FR" dirty="0"/>
                    </a:p>
                  </a:txBody>
                  <a:tcPr marL="68580" marR="68580" marT="0" marB="0" anchor="ctr">
                    <a:solidFill>
                      <a:schemeClr val="accent5">
                        <a:lumMod val="20000"/>
                        <a:lumOff val="80000"/>
                      </a:schemeClr>
                    </a:solidFill>
                  </a:tcPr>
                </a:tc>
                <a:tc hMerge="1">
                  <a:txBody>
                    <a:bodyPr/>
                    <a:lstStyle/>
                    <a:p>
                      <a:endParaRPr lang="fr-FR"/>
                    </a:p>
                  </a:txBody>
                  <a:tcPr/>
                </a:tc>
                <a:tc>
                  <a:txBody>
                    <a:bodyPr/>
                    <a:lstStyle/>
                    <a:p>
                      <a:pPr marL="171450" indent="-171450">
                        <a:buFont typeface="Wingdings" panose="05000000000000000000" pitchFamily="2" charset="2"/>
                        <a:buChar char="q"/>
                      </a:pPr>
                      <a:r>
                        <a:rPr lang="fr-FR" sz="1200" kern="1200" dirty="0">
                          <a:solidFill>
                            <a:schemeClr val="tx1"/>
                          </a:solidFill>
                          <a:latin typeface="Work Sans" panose="00000500000000000000" pitchFamily="2" charset="0"/>
                          <a:ea typeface="+mn-ea"/>
                          <a:cs typeface="+mn-cs"/>
                        </a:rPr>
                        <a:t>Non</a:t>
                      </a:r>
                      <a:endParaRPr lang="fr-FR" dirty="0"/>
                    </a:p>
                  </a:txBody>
                  <a:tcPr marL="68580" marR="68580" marT="0" marB="0" anchor="ctr">
                    <a:solidFill>
                      <a:schemeClr val="accent5">
                        <a:lumMod val="20000"/>
                        <a:lumOff val="80000"/>
                      </a:schemeClr>
                    </a:solidFill>
                  </a:tcPr>
                </a:tc>
                <a:extLst>
                  <a:ext uri="{0D108BD9-81ED-4DB2-BD59-A6C34878D82A}">
                    <a16:rowId xmlns:a16="http://schemas.microsoft.com/office/drawing/2014/main" val="2808961074"/>
                  </a:ext>
                </a:extLst>
              </a:tr>
              <a:tr h="367068">
                <a:tc>
                  <a:txBody>
                    <a:bodyPr/>
                    <a:lstStyle/>
                    <a:p>
                      <a:pPr algn="just">
                        <a:lnSpc>
                          <a:spcPct val="107000"/>
                        </a:lnSpc>
                        <a:spcAft>
                          <a:spcPts val="800"/>
                        </a:spcAft>
                      </a:pPr>
                      <a:r>
                        <a:rPr lang="fr-FR" sz="1200" kern="1200" dirty="0">
                          <a:solidFill>
                            <a:schemeClr val="tx1"/>
                          </a:solidFill>
                          <a:latin typeface="Work Sans" panose="00000500000000000000" pitchFamily="2" charset="0"/>
                          <a:ea typeface="+mn-ea"/>
                          <a:cs typeface="+mn-cs"/>
                        </a:rPr>
                        <a:t>Valeur de terre mesurée et emplacement du point de mesure</a:t>
                      </a:r>
                    </a:p>
                  </a:txBody>
                  <a:tcPr marL="34925" marR="34925" marT="34925" marB="34925" anchor="ctr"/>
                </a:tc>
                <a:tc gridSpan="8">
                  <a:txBody>
                    <a:bodyPr/>
                    <a:lstStyle/>
                    <a:p>
                      <a:pPr marL="0" lvl="0" indent="0" algn="l">
                        <a:lnSpc>
                          <a:spcPct val="115000"/>
                        </a:lnSpc>
                        <a:spcAft>
                          <a:spcPts val="1000"/>
                        </a:spcAft>
                        <a:buFont typeface="Wingdings" panose="05000000000000000000" pitchFamily="2" charset="2"/>
                        <a:buNone/>
                      </a:pPr>
                      <a:endParaRPr lang="fr-FR" sz="1200" kern="1200" dirty="0">
                        <a:solidFill>
                          <a:schemeClr val="tx1"/>
                        </a:solidFill>
                        <a:latin typeface="Work Sans" panose="00000500000000000000" pitchFamily="2" charset="0"/>
                        <a:ea typeface="+mn-ea"/>
                        <a:cs typeface="+mn-cs"/>
                      </a:endParaRPr>
                    </a:p>
                  </a:txBody>
                  <a:tcPr marL="68580" marR="68580" marT="0" marB="0" anchor="ctr">
                    <a:solidFill>
                      <a:schemeClr val="accent5">
                        <a:lumMod val="20000"/>
                        <a:lumOff val="80000"/>
                      </a:schemeClr>
                    </a:solidFill>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pPr marL="342900" lvl="0" indent="-342900" algn="l">
                        <a:lnSpc>
                          <a:spcPct val="115000"/>
                        </a:lnSpc>
                        <a:spcAft>
                          <a:spcPts val="1000"/>
                        </a:spcAft>
                        <a:buFont typeface="Wingdings" panose="05000000000000000000" pitchFamily="2" charset="2"/>
                        <a:buChar char="q"/>
                      </a:pPr>
                      <a:endParaRPr lang="fr-FR" sz="1200" kern="1200" dirty="0">
                        <a:solidFill>
                          <a:schemeClr val="tx1"/>
                        </a:solidFill>
                        <a:latin typeface="Work Sans" panose="00000500000000000000" pitchFamily="2" charset="0"/>
                        <a:ea typeface="+mn-ea"/>
                        <a:cs typeface="+mn-cs"/>
                      </a:endParaRPr>
                    </a:p>
                  </a:txBody>
                  <a:tcPr marL="68580" marR="68580" marT="0" marB="0" anchor="ctr"/>
                </a:tc>
                <a:tc hMerge="1">
                  <a:txBody>
                    <a:bodyPr/>
                    <a:lstStyle/>
                    <a:p>
                      <a:endParaRPr lang="fr-FR"/>
                    </a:p>
                  </a:txBody>
                  <a:tcPr/>
                </a:tc>
                <a:tc hMerge="1">
                  <a:txBody>
                    <a:bodyPr/>
                    <a:lstStyle/>
                    <a:p>
                      <a:endParaRPr lang="fr-FR"/>
                    </a:p>
                  </a:txBody>
                  <a:tcPr/>
                </a:tc>
                <a:tc hMerge="1">
                  <a:txBody>
                    <a:bodyPr/>
                    <a:lstStyle/>
                    <a:p>
                      <a:pPr marL="0" lvl="0" indent="0" algn="l">
                        <a:lnSpc>
                          <a:spcPct val="115000"/>
                        </a:lnSpc>
                        <a:spcAft>
                          <a:spcPts val="1000"/>
                        </a:spcAft>
                        <a:buFont typeface="Wingdings" panose="05000000000000000000" pitchFamily="2" charset="2"/>
                        <a:buNone/>
                      </a:pPr>
                      <a:endParaRPr lang="fr-FR" sz="1200" kern="1200" dirty="0">
                        <a:solidFill>
                          <a:schemeClr val="tx1"/>
                        </a:solidFill>
                        <a:latin typeface="Work Sans" panose="00000500000000000000" pitchFamily="2" charset="0"/>
                        <a:ea typeface="+mn-ea"/>
                        <a:cs typeface="+mn-cs"/>
                      </a:endParaRPr>
                    </a:p>
                  </a:txBody>
                  <a:tcPr marL="68580" marR="68580" marT="0" marB="0" anchor="ctr">
                    <a:solidFill>
                      <a:schemeClr val="accent5">
                        <a:lumMod val="20000"/>
                        <a:lumOff val="80000"/>
                      </a:schemeClr>
                    </a:solidFill>
                  </a:tcPr>
                </a:tc>
                <a:extLst>
                  <a:ext uri="{0D108BD9-81ED-4DB2-BD59-A6C34878D82A}">
                    <a16:rowId xmlns:a16="http://schemas.microsoft.com/office/drawing/2014/main" val="2948683661"/>
                  </a:ext>
                </a:extLst>
              </a:tr>
              <a:tr h="367068">
                <a:tc>
                  <a:txBody>
                    <a:bodyPr/>
                    <a:lstStyle/>
                    <a:p>
                      <a:pPr algn="just">
                        <a:lnSpc>
                          <a:spcPct val="107000"/>
                        </a:lnSpc>
                        <a:spcAft>
                          <a:spcPts val="800"/>
                        </a:spcAft>
                      </a:pPr>
                      <a:r>
                        <a:rPr lang="fr-FR" sz="1200" kern="1200" dirty="0">
                          <a:solidFill>
                            <a:schemeClr val="tx1"/>
                          </a:solidFill>
                          <a:latin typeface="Work Sans" panose="00000500000000000000" pitchFamily="2" charset="0"/>
                          <a:ea typeface="+mn-ea"/>
                          <a:cs typeface="+mn-cs"/>
                        </a:rPr>
                        <a:t>Type de d’armoire de distribution (TD IRVE)</a:t>
                      </a:r>
                    </a:p>
                  </a:txBody>
                  <a:tcPr marL="34925" marR="34925" marT="34925" marB="34925" anchor="ctr"/>
                </a:tc>
                <a:tc gridSpan="4">
                  <a:txBody>
                    <a:bodyPr/>
                    <a:lstStyle/>
                    <a:p>
                      <a:pPr marL="342900" lvl="0" indent="-342900" algn="l">
                        <a:lnSpc>
                          <a:spcPct val="115000"/>
                        </a:lnSpc>
                        <a:spcAft>
                          <a:spcPts val="1000"/>
                        </a:spcAft>
                        <a:buFont typeface="Wingdings" panose="05000000000000000000" pitchFamily="2" charset="2"/>
                        <a:buChar char="q"/>
                      </a:pPr>
                      <a:r>
                        <a:rPr lang="fr-FR" sz="1200" kern="1200" dirty="0">
                          <a:solidFill>
                            <a:schemeClr val="tx1"/>
                          </a:solidFill>
                          <a:latin typeface="Work Sans" panose="00000500000000000000" pitchFamily="2" charset="0"/>
                          <a:ea typeface="+mn-ea"/>
                          <a:cs typeface="+mn-cs"/>
                        </a:rPr>
                        <a:t>Armoire standard fournie </a:t>
                      </a:r>
                      <a:r>
                        <a:rPr lang="fr-FR" sz="1200" kern="1200">
                          <a:solidFill>
                            <a:schemeClr val="tx1"/>
                          </a:solidFill>
                          <a:latin typeface="Work Sans" panose="00000500000000000000" pitchFamily="2" charset="0"/>
                          <a:ea typeface="+mn-ea"/>
                          <a:cs typeface="+mn-cs"/>
                        </a:rPr>
                        <a:t>par IZIVIA </a:t>
                      </a:r>
                      <a:r>
                        <a:rPr lang="fr-FR" sz="1200" kern="1200" dirty="0">
                          <a:solidFill>
                            <a:schemeClr val="tx1"/>
                          </a:solidFill>
                          <a:latin typeface="Work Sans" panose="00000500000000000000" pitchFamily="2" charset="0"/>
                          <a:ea typeface="+mn-ea"/>
                          <a:cs typeface="+mn-cs"/>
                        </a:rPr>
                        <a:t>(TD IRVE)</a:t>
                      </a:r>
                    </a:p>
                  </a:txBody>
                  <a:tcPr marL="68580" marR="68580" marT="0" marB="0" anchor="ctr">
                    <a:solidFill>
                      <a:schemeClr val="accent5">
                        <a:lumMod val="20000"/>
                        <a:lumOff val="80000"/>
                      </a:schemeClr>
                    </a:solidFill>
                  </a:tcPr>
                </a:tc>
                <a:tc hMerge="1">
                  <a:txBody>
                    <a:bodyPr/>
                    <a:lstStyle/>
                    <a:p>
                      <a:pPr marL="342900" marR="0" lvl="0" indent="-342900" algn="l" defTabSz="914400" rtl="0" eaLnBrk="1" fontAlgn="auto" latinLnBrk="0" hangingPunct="1">
                        <a:lnSpc>
                          <a:spcPct val="115000"/>
                        </a:lnSpc>
                        <a:spcBef>
                          <a:spcPts val="0"/>
                        </a:spcBef>
                        <a:spcAft>
                          <a:spcPts val="1000"/>
                        </a:spcAft>
                        <a:buClrTx/>
                        <a:buSzTx/>
                        <a:buFont typeface="Wingdings" panose="05000000000000000000" pitchFamily="2" charset="2"/>
                        <a:buChar char="q"/>
                        <a:tabLst/>
                        <a:defRPr/>
                      </a:pPr>
                      <a:endParaRPr lang="fr-FR" sz="1200" kern="1200" dirty="0">
                        <a:solidFill>
                          <a:schemeClr val="tx1"/>
                        </a:solidFill>
                        <a:latin typeface="Work Sans" panose="00000500000000000000" pitchFamily="2" charset="0"/>
                        <a:ea typeface="+mn-ea"/>
                        <a:cs typeface="+mn-cs"/>
                      </a:endParaRPr>
                    </a:p>
                  </a:txBody>
                  <a:tcPr marL="68580" marR="68580" marT="0" marB="0" anchor="ctr"/>
                </a:tc>
                <a:tc hMerge="1">
                  <a:txBody>
                    <a:bodyPr/>
                    <a:lstStyle/>
                    <a:p>
                      <a:endParaRPr lang="fr-FR"/>
                    </a:p>
                  </a:txBody>
                  <a:tcPr/>
                </a:tc>
                <a:tc hMerge="1">
                  <a:txBody>
                    <a:bodyPr/>
                    <a:lstStyle/>
                    <a:p>
                      <a:pPr marL="342900" lvl="0" indent="-342900" algn="l">
                        <a:lnSpc>
                          <a:spcPct val="115000"/>
                        </a:lnSpc>
                        <a:spcAft>
                          <a:spcPts val="1000"/>
                        </a:spcAft>
                        <a:buFont typeface="Wingdings" panose="05000000000000000000" pitchFamily="2" charset="2"/>
                        <a:buChar char="q"/>
                      </a:pPr>
                      <a:endParaRPr lang="fr-FR" sz="1200" kern="1200" dirty="0">
                        <a:solidFill>
                          <a:schemeClr val="tx1"/>
                        </a:solidFill>
                        <a:latin typeface="Work Sans" panose="00000500000000000000" pitchFamily="2" charset="0"/>
                        <a:ea typeface="+mn-ea"/>
                        <a:cs typeface="+mn-cs"/>
                      </a:endParaRPr>
                    </a:p>
                  </a:txBody>
                  <a:tcPr marL="68580" marR="68580" marT="0" marB="0" anchor="ctr">
                    <a:solidFill>
                      <a:schemeClr val="accent5">
                        <a:lumMod val="20000"/>
                        <a:lumOff val="80000"/>
                      </a:schemeClr>
                    </a:solidFill>
                  </a:tcPr>
                </a:tc>
                <a:tc gridSpan="4">
                  <a:txBody>
                    <a:bodyPr/>
                    <a:lstStyle/>
                    <a:p>
                      <a:pPr marL="342900" lvl="0" indent="-342900" algn="l">
                        <a:lnSpc>
                          <a:spcPct val="115000"/>
                        </a:lnSpc>
                        <a:spcAft>
                          <a:spcPts val="1000"/>
                        </a:spcAft>
                        <a:buFont typeface="Wingdings" panose="05000000000000000000" pitchFamily="2" charset="2"/>
                        <a:buChar char="q"/>
                      </a:pPr>
                      <a:r>
                        <a:rPr lang="fr-FR" sz="1200" kern="1200" dirty="0">
                          <a:solidFill>
                            <a:schemeClr val="tx1"/>
                          </a:solidFill>
                          <a:latin typeface="Work Sans" panose="00000500000000000000" pitchFamily="2" charset="0"/>
                          <a:ea typeface="+mn-ea"/>
                          <a:cs typeface="+mn-cs"/>
                        </a:rPr>
                        <a:t>Armoire sur mesure (TD IRVE)</a:t>
                      </a:r>
                    </a:p>
                  </a:txBody>
                  <a:tcPr marL="68580" marR="68580" marT="0" marB="0" anchor="ctr">
                    <a:solidFill>
                      <a:schemeClr val="accent5">
                        <a:lumMod val="20000"/>
                        <a:lumOff val="80000"/>
                      </a:schemeClr>
                    </a:solidFill>
                  </a:tcPr>
                </a:tc>
                <a:tc hMerge="1">
                  <a:txBody>
                    <a:bodyPr/>
                    <a:lstStyle/>
                    <a:p>
                      <a:pPr marL="171450" indent="-171450">
                        <a:buFont typeface="Wingdings" panose="05000000000000000000" pitchFamily="2" charset="2"/>
                        <a:buChar char="q"/>
                      </a:pPr>
                      <a:endParaRPr lang="fr-FR" sz="1200" b="0" kern="1200" dirty="0">
                        <a:solidFill>
                          <a:srgbClr val="FF0000"/>
                        </a:solidFill>
                        <a:latin typeface="Work Sans" panose="00000500000000000000" pitchFamily="2" charset="0"/>
                        <a:ea typeface="+mn-ea"/>
                        <a:cs typeface="+mn-cs"/>
                      </a:endParaRPr>
                    </a:p>
                  </a:txBody>
                  <a:tcPr marL="68580" marR="68580" marT="0" marB="0" anchor="ctr"/>
                </a:tc>
                <a:tc hMerge="1">
                  <a:txBody>
                    <a:bodyPr/>
                    <a:lstStyle/>
                    <a:p>
                      <a:endParaRPr lang="fr-FR"/>
                    </a:p>
                  </a:txBody>
                  <a:tcPr/>
                </a:tc>
                <a:tc hMerge="1">
                  <a:txBody>
                    <a:bodyPr/>
                    <a:lstStyle/>
                    <a:p>
                      <a:pPr marL="342900" lvl="0" indent="-342900" algn="l">
                        <a:lnSpc>
                          <a:spcPct val="115000"/>
                        </a:lnSpc>
                        <a:spcAft>
                          <a:spcPts val="1000"/>
                        </a:spcAft>
                        <a:buFont typeface="Wingdings" panose="05000000000000000000" pitchFamily="2" charset="2"/>
                        <a:buChar char="q"/>
                      </a:pPr>
                      <a:endParaRPr lang="fr-FR" sz="1200" kern="1200" dirty="0">
                        <a:solidFill>
                          <a:schemeClr val="tx1"/>
                        </a:solidFill>
                        <a:latin typeface="Work Sans" panose="00000500000000000000" pitchFamily="2" charset="0"/>
                        <a:ea typeface="+mn-ea"/>
                        <a:cs typeface="+mn-cs"/>
                      </a:endParaRPr>
                    </a:p>
                  </a:txBody>
                  <a:tcPr marL="68580" marR="68580" marT="0" marB="0" anchor="ctr">
                    <a:solidFill>
                      <a:schemeClr val="accent5">
                        <a:lumMod val="20000"/>
                        <a:lumOff val="80000"/>
                      </a:schemeClr>
                    </a:solidFill>
                  </a:tcPr>
                </a:tc>
                <a:extLst>
                  <a:ext uri="{0D108BD9-81ED-4DB2-BD59-A6C34878D82A}">
                    <a16:rowId xmlns:a16="http://schemas.microsoft.com/office/drawing/2014/main" val="4025413002"/>
                  </a:ext>
                </a:extLst>
              </a:tr>
              <a:tr h="367068">
                <a:tc>
                  <a:txBody>
                    <a:bodyPr/>
                    <a:lstStyle/>
                    <a:p>
                      <a:pPr algn="just">
                        <a:lnSpc>
                          <a:spcPct val="107000"/>
                        </a:lnSpc>
                        <a:spcAft>
                          <a:spcPts val="800"/>
                        </a:spcAft>
                      </a:pPr>
                      <a:r>
                        <a:rPr lang="fr-FR" sz="1200" kern="1200" dirty="0">
                          <a:solidFill>
                            <a:schemeClr val="tx1"/>
                          </a:solidFill>
                          <a:latin typeface="Work Sans" panose="00000500000000000000" pitchFamily="2" charset="0"/>
                          <a:ea typeface="+mn-ea"/>
                          <a:cs typeface="+mn-cs"/>
                        </a:rPr>
                        <a:t>Nombre d’armoire de distribution (TD IRVE)</a:t>
                      </a:r>
                    </a:p>
                  </a:txBody>
                  <a:tcPr marL="34925" marR="34925" marT="34925" marB="34925" anchor="ctr"/>
                </a:tc>
                <a:tc gridSpan="4">
                  <a:txBody>
                    <a:bodyPr/>
                    <a:lstStyle/>
                    <a:p>
                      <a:pPr marL="342900" lvl="0" indent="-342900" algn="l">
                        <a:lnSpc>
                          <a:spcPct val="115000"/>
                        </a:lnSpc>
                        <a:spcAft>
                          <a:spcPts val="1000"/>
                        </a:spcAft>
                        <a:buFont typeface="Wingdings" panose="05000000000000000000" pitchFamily="2" charset="2"/>
                        <a:buChar char="q"/>
                      </a:pPr>
                      <a:endParaRPr lang="fr-FR" sz="1200" kern="1200" dirty="0">
                        <a:solidFill>
                          <a:schemeClr val="tx1"/>
                        </a:solidFill>
                        <a:latin typeface="Work Sans" panose="00000500000000000000" pitchFamily="2" charset="0"/>
                        <a:ea typeface="+mn-ea"/>
                        <a:cs typeface="+mn-cs"/>
                      </a:endParaRPr>
                    </a:p>
                  </a:txBody>
                  <a:tcPr marL="68580" marR="68580" marT="0" marB="0" anchor="ctr">
                    <a:solidFill>
                      <a:schemeClr val="accent5">
                        <a:lumMod val="20000"/>
                        <a:lumOff val="80000"/>
                      </a:schemeClr>
                    </a:solidFill>
                  </a:tcPr>
                </a:tc>
                <a:tc hMerge="1">
                  <a:txBody>
                    <a:bodyPr/>
                    <a:lstStyle/>
                    <a:p>
                      <a:endParaRPr lang="fr-FR"/>
                    </a:p>
                  </a:txBody>
                  <a:tcPr/>
                </a:tc>
                <a:tc hMerge="1">
                  <a:txBody>
                    <a:bodyPr/>
                    <a:lstStyle/>
                    <a:p>
                      <a:endParaRPr lang="fr-FR"/>
                    </a:p>
                  </a:txBody>
                  <a:tcPr/>
                </a:tc>
                <a:tc hMerge="1">
                  <a:txBody>
                    <a:bodyPr/>
                    <a:lstStyle/>
                    <a:p>
                      <a:pPr marL="342900" lvl="0" indent="-342900" algn="l">
                        <a:lnSpc>
                          <a:spcPct val="115000"/>
                        </a:lnSpc>
                        <a:spcAft>
                          <a:spcPts val="1000"/>
                        </a:spcAft>
                        <a:buFont typeface="Wingdings" panose="05000000000000000000" pitchFamily="2" charset="2"/>
                        <a:buChar char="q"/>
                      </a:pPr>
                      <a:endParaRPr lang="fr-FR" sz="1200" kern="1200" dirty="0">
                        <a:solidFill>
                          <a:schemeClr val="tx1"/>
                        </a:solidFill>
                        <a:latin typeface="Work Sans" panose="00000500000000000000" pitchFamily="2" charset="0"/>
                        <a:ea typeface="+mn-ea"/>
                        <a:cs typeface="+mn-cs"/>
                      </a:endParaRPr>
                    </a:p>
                  </a:txBody>
                  <a:tcPr marL="68580" marR="68580" marT="0" marB="0" anchor="ctr">
                    <a:solidFill>
                      <a:schemeClr val="accent5">
                        <a:lumMod val="20000"/>
                        <a:lumOff val="80000"/>
                      </a:schemeClr>
                    </a:solidFill>
                  </a:tcPr>
                </a:tc>
                <a:tc gridSpan="4">
                  <a:txBody>
                    <a:bodyPr/>
                    <a:lstStyle/>
                    <a:p>
                      <a:pPr marL="342900" lvl="0" indent="-342900" algn="l">
                        <a:lnSpc>
                          <a:spcPct val="115000"/>
                        </a:lnSpc>
                        <a:spcAft>
                          <a:spcPts val="1000"/>
                        </a:spcAft>
                        <a:buFont typeface="Wingdings" panose="05000000000000000000" pitchFamily="2" charset="2"/>
                        <a:buChar char="q"/>
                      </a:pPr>
                      <a:endParaRPr lang="fr-FR" sz="1200" kern="1200" dirty="0">
                        <a:solidFill>
                          <a:schemeClr val="tx1"/>
                        </a:solidFill>
                        <a:latin typeface="Work Sans" panose="00000500000000000000" pitchFamily="2" charset="0"/>
                        <a:ea typeface="+mn-ea"/>
                        <a:cs typeface="+mn-cs"/>
                      </a:endParaRPr>
                    </a:p>
                  </a:txBody>
                  <a:tcPr marL="68580" marR="68580" marT="0" marB="0" anchor="ctr">
                    <a:solidFill>
                      <a:schemeClr val="accent5">
                        <a:lumMod val="20000"/>
                        <a:lumOff val="80000"/>
                      </a:schemeClr>
                    </a:solidFill>
                  </a:tcPr>
                </a:tc>
                <a:tc hMerge="1">
                  <a:txBody>
                    <a:bodyPr/>
                    <a:lstStyle/>
                    <a:p>
                      <a:endParaRPr lang="fr-FR"/>
                    </a:p>
                  </a:txBody>
                  <a:tcPr/>
                </a:tc>
                <a:tc hMerge="1">
                  <a:txBody>
                    <a:bodyPr/>
                    <a:lstStyle/>
                    <a:p>
                      <a:endParaRPr lang="fr-FR"/>
                    </a:p>
                  </a:txBody>
                  <a:tcPr/>
                </a:tc>
                <a:tc hMerge="1">
                  <a:txBody>
                    <a:bodyPr/>
                    <a:lstStyle/>
                    <a:p>
                      <a:pPr marL="342900" lvl="0" indent="-342900" algn="l">
                        <a:lnSpc>
                          <a:spcPct val="115000"/>
                        </a:lnSpc>
                        <a:spcAft>
                          <a:spcPts val="1000"/>
                        </a:spcAft>
                        <a:buFont typeface="Wingdings" panose="05000000000000000000" pitchFamily="2" charset="2"/>
                        <a:buChar char="q"/>
                      </a:pPr>
                      <a:endParaRPr lang="fr-FR" sz="1200" kern="1200" dirty="0">
                        <a:solidFill>
                          <a:schemeClr val="tx1"/>
                        </a:solidFill>
                        <a:latin typeface="Work Sans" panose="00000500000000000000" pitchFamily="2" charset="0"/>
                        <a:ea typeface="+mn-ea"/>
                        <a:cs typeface="+mn-cs"/>
                      </a:endParaRPr>
                    </a:p>
                  </a:txBody>
                  <a:tcPr marL="68580" marR="68580" marT="0" marB="0" anchor="ctr">
                    <a:solidFill>
                      <a:schemeClr val="accent5">
                        <a:lumMod val="20000"/>
                        <a:lumOff val="80000"/>
                      </a:schemeClr>
                    </a:solidFill>
                  </a:tcPr>
                </a:tc>
                <a:extLst>
                  <a:ext uri="{0D108BD9-81ED-4DB2-BD59-A6C34878D82A}">
                    <a16:rowId xmlns:a16="http://schemas.microsoft.com/office/drawing/2014/main" val="2798409484"/>
                  </a:ext>
                </a:extLst>
              </a:tr>
            </a:tbl>
          </a:graphicData>
        </a:graphic>
      </p:graphicFrame>
    </p:spTree>
    <p:extLst>
      <p:ext uri="{BB962C8B-B14F-4D97-AF65-F5344CB8AC3E}">
        <p14:creationId xmlns:p14="http://schemas.microsoft.com/office/powerpoint/2010/main" val="8848257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82076A-7978-E1A9-7FB6-1BEB6234E1A9}"/>
            </a:ext>
          </a:extLst>
        </p:cNvPr>
        <p:cNvGrpSpPr/>
        <p:nvPr/>
      </p:nvGrpSpPr>
      <p:grpSpPr>
        <a:xfrm>
          <a:off x="0" y="0"/>
          <a:ext cx="0" cy="0"/>
          <a:chOff x="0" y="0"/>
          <a:chExt cx="0" cy="0"/>
        </a:xfrm>
      </p:grpSpPr>
      <p:graphicFrame>
        <p:nvGraphicFramePr>
          <p:cNvPr id="6" name="Tableau 6">
            <a:extLst>
              <a:ext uri="{FF2B5EF4-FFF2-40B4-BE49-F238E27FC236}">
                <a16:creationId xmlns:a16="http://schemas.microsoft.com/office/drawing/2014/main" id="{F111754A-46D9-62BE-5D35-46BF818D7250}"/>
              </a:ext>
            </a:extLst>
          </p:cNvPr>
          <p:cNvGraphicFramePr>
            <a:graphicFrameLocks noGrp="1"/>
          </p:cNvGraphicFramePr>
          <p:nvPr>
            <p:extLst>
              <p:ext uri="{D42A27DB-BD31-4B8C-83A1-F6EECF244321}">
                <p14:modId xmlns:p14="http://schemas.microsoft.com/office/powerpoint/2010/main" val="2839596678"/>
              </p:ext>
            </p:extLst>
          </p:nvPr>
        </p:nvGraphicFramePr>
        <p:xfrm>
          <a:off x="235273" y="282457"/>
          <a:ext cx="11721453" cy="1959562"/>
        </p:xfrm>
        <a:graphic>
          <a:graphicData uri="http://schemas.openxmlformats.org/drawingml/2006/table">
            <a:tbl>
              <a:tblPr firstRow="1" bandRow="1">
                <a:tableStyleId>{5940675A-B579-460E-94D1-54222C63F5DA}</a:tableStyleId>
              </a:tblPr>
              <a:tblGrid>
                <a:gridCol w="6170082">
                  <a:extLst>
                    <a:ext uri="{9D8B030D-6E8A-4147-A177-3AD203B41FA5}">
                      <a16:colId xmlns:a16="http://schemas.microsoft.com/office/drawing/2014/main" val="3627121043"/>
                    </a:ext>
                  </a:extLst>
                </a:gridCol>
                <a:gridCol w="1798156">
                  <a:extLst>
                    <a:ext uri="{9D8B030D-6E8A-4147-A177-3AD203B41FA5}">
                      <a16:colId xmlns:a16="http://schemas.microsoft.com/office/drawing/2014/main" val="315986044"/>
                    </a:ext>
                  </a:extLst>
                </a:gridCol>
                <a:gridCol w="834178">
                  <a:extLst>
                    <a:ext uri="{9D8B030D-6E8A-4147-A177-3AD203B41FA5}">
                      <a16:colId xmlns:a16="http://schemas.microsoft.com/office/drawing/2014/main" val="1425906673"/>
                    </a:ext>
                  </a:extLst>
                </a:gridCol>
                <a:gridCol w="1120881">
                  <a:extLst>
                    <a:ext uri="{9D8B030D-6E8A-4147-A177-3AD203B41FA5}">
                      <a16:colId xmlns:a16="http://schemas.microsoft.com/office/drawing/2014/main" val="3233932118"/>
                    </a:ext>
                  </a:extLst>
                </a:gridCol>
                <a:gridCol w="1798156">
                  <a:extLst>
                    <a:ext uri="{9D8B030D-6E8A-4147-A177-3AD203B41FA5}">
                      <a16:colId xmlns:a16="http://schemas.microsoft.com/office/drawing/2014/main" val="515814181"/>
                    </a:ext>
                  </a:extLst>
                </a:gridCol>
              </a:tblGrid>
              <a:tr h="366387">
                <a:tc gridSpan="5">
                  <a:txBody>
                    <a:bodyPr/>
                    <a:lstStyle/>
                    <a:p>
                      <a:r>
                        <a:rPr lang="fr-FR" sz="1200" b="1" dirty="0">
                          <a:solidFill>
                            <a:schemeClr val="bg1"/>
                          </a:solidFill>
                          <a:latin typeface="Work Sans" panose="00000500000000000000" pitchFamily="2" charset="0"/>
                        </a:rPr>
                        <a:t>TRAVAUX ELEC - RACCORDEMENT CFA</a:t>
                      </a:r>
                    </a:p>
                  </a:txBody>
                  <a:tcPr>
                    <a:solidFill>
                      <a:schemeClr val="accent1"/>
                    </a:solidFill>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2459031976"/>
                  </a:ext>
                </a:extLst>
              </a:tr>
              <a:tr h="379436">
                <a:tc>
                  <a:txBody>
                    <a:bodyPr/>
                    <a:lstStyle/>
                    <a:p>
                      <a:pPr algn="just">
                        <a:lnSpc>
                          <a:spcPct val="107000"/>
                        </a:lnSpc>
                        <a:spcAft>
                          <a:spcPts val="800"/>
                        </a:spcAft>
                      </a:pPr>
                      <a:r>
                        <a:rPr lang="fr-FR" sz="1200" kern="1200" dirty="0">
                          <a:solidFill>
                            <a:schemeClr val="tx1"/>
                          </a:solidFill>
                          <a:latin typeface="Work Sans" panose="00000500000000000000" pitchFamily="2" charset="0"/>
                          <a:ea typeface="+mn-ea"/>
                          <a:cs typeface="+mn-cs"/>
                        </a:rPr>
                        <a:t>Emplacement du matériel télécom</a:t>
                      </a:r>
                    </a:p>
                  </a:txBody>
                  <a:tcPr marL="34925" marR="34925" marT="34925" marB="34925">
                    <a:lnR w="12700" cap="flat" cmpd="sng" algn="ctr">
                      <a:solidFill>
                        <a:schemeClr val="tx1"/>
                      </a:solidFill>
                      <a:prstDash val="solid"/>
                      <a:round/>
                      <a:headEnd type="none" w="med" len="med"/>
                      <a:tailEnd type="none" w="med" len="med"/>
                    </a:lnR>
                  </a:tcPr>
                </a:tc>
                <a:tc>
                  <a:txBody>
                    <a:bodyPr/>
                    <a:lstStyle/>
                    <a:p>
                      <a:pPr marL="342900" lvl="0" indent="-342900" algn="just">
                        <a:lnSpc>
                          <a:spcPct val="107000"/>
                        </a:lnSpc>
                        <a:spcAft>
                          <a:spcPts val="800"/>
                        </a:spcAft>
                        <a:buFont typeface="Wingdings" panose="05000000000000000000" pitchFamily="2" charset="2"/>
                        <a:buChar char="q"/>
                      </a:pPr>
                      <a:r>
                        <a:rPr lang="fr-FR" sz="1200" kern="1200" dirty="0">
                          <a:solidFill>
                            <a:schemeClr val="tx1"/>
                          </a:solidFill>
                          <a:latin typeface="Work Sans" panose="00000500000000000000" pitchFamily="2" charset="0"/>
                          <a:ea typeface="+mn-ea"/>
                          <a:cs typeface="+mn-cs"/>
                        </a:rPr>
                        <a:t>Dans les bornes</a:t>
                      </a:r>
                    </a:p>
                  </a:txBody>
                  <a:tcPr marL="34925" marR="34925" marT="34925" marB="349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gridSpan="2">
                  <a:txBody>
                    <a:bodyPr/>
                    <a:lstStyle/>
                    <a:p>
                      <a:pPr marL="342900" lvl="0" indent="-342900" algn="just">
                        <a:lnSpc>
                          <a:spcPct val="107000"/>
                        </a:lnSpc>
                        <a:spcAft>
                          <a:spcPts val="800"/>
                        </a:spcAft>
                        <a:buFont typeface="Wingdings" panose="05000000000000000000" pitchFamily="2" charset="2"/>
                        <a:buChar char="q"/>
                      </a:pPr>
                      <a:r>
                        <a:rPr lang="fr-FR" sz="1200" kern="1200" dirty="0">
                          <a:solidFill>
                            <a:schemeClr val="tx1"/>
                          </a:solidFill>
                          <a:latin typeface="Work Sans" panose="00000500000000000000" pitchFamily="2" charset="0"/>
                          <a:ea typeface="+mn-ea"/>
                          <a:cs typeface="+mn-cs"/>
                        </a:rPr>
                        <a:t>Dans la baie info</a:t>
                      </a:r>
                    </a:p>
                  </a:txBody>
                  <a:tcPr marL="34925" marR="34925" marT="34925" marB="34925">
                    <a:lnL w="12700" cap="flat" cmpd="sng" algn="ctr">
                      <a:solidFill>
                        <a:schemeClr val="tx1"/>
                      </a:solidFill>
                      <a:prstDash val="solid"/>
                      <a:round/>
                      <a:headEnd type="none" w="med" len="med"/>
                      <a:tailEnd type="none" w="med" len="med"/>
                    </a:lnL>
                    <a:solidFill>
                      <a:schemeClr val="accent5">
                        <a:lumMod val="20000"/>
                        <a:lumOff val="80000"/>
                      </a:schemeClr>
                    </a:solidFill>
                  </a:tcPr>
                </a:tc>
                <a:tc hMerge="1">
                  <a:txBody>
                    <a:bodyPr/>
                    <a:lstStyle/>
                    <a:p>
                      <a:endParaRPr lang="fr-F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42900" lvl="0" indent="-342900" algn="just">
                        <a:lnSpc>
                          <a:spcPct val="107000"/>
                        </a:lnSpc>
                        <a:spcAft>
                          <a:spcPts val="800"/>
                        </a:spcAft>
                        <a:buFont typeface="Wingdings" panose="05000000000000000000" pitchFamily="2" charset="2"/>
                        <a:buChar char="q"/>
                      </a:pPr>
                      <a:r>
                        <a:rPr lang="fr-FR" sz="1200" kern="1200" dirty="0">
                          <a:solidFill>
                            <a:schemeClr val="tx1"/>
                          </a:solidFill>
                          <a:latin typeface="Work Sans" panose="00000500000000000000" pitchFamily="2" charset="0"/>
                          <a:ea typeface="+mn-ea"/>
                          <a:cs typeface="+mn-cs"/>
                        </a:rPr>
                        <a:t>Dans le TD IRVE</a:t>
                      </a:r>
                    </a:p>
                  </a:txBody>
                  <a:tcPr marL="34925" marR="34925" marT="34925" marB="34925">
                    <a:solidFill>
                      <a:schemeClr val="accent5">
                        <a:lumMod val="20000"/>
                        <a:lumOff val="80000"/>
                      </a:schemeClr>
                    </a:solidFill>
                  </a:tcPr>
                </a:tc>
                <a:extLst>
                  <a:ext uri="{0D108BD9-81ED-4DB2-BD59-A6C34878D82A}">
                    <a16:rowId xmlns:a16="http://schemas.microsoft.com/office/drawing/2014/main" val="2916666013"/>
                  </a:ext>
                </a:extLst>
              </a:tr>
              <a:tr h="105275">
                <a:tc>
                  <a:txBody>
                    <a:bodyPr/>
                    <a:lstStyle/>
                    <a:p>
                      <a:pPr algn="l">
                        <a:lnSpc>
                          <a:spcPct val="107000"/>
                        </a:lnSpc>
                        <a:spcAft>
                          <a:spcPts val="800"/>
                        </a:spcAft>
                      </a:pPr>
                      <a:r>
                        <a:rPr lang="fr-FR" sz="1200" kern="1200" dirty="0">
                          <a:solidFill>
                            <a:schemeClr val="tx1"/>
                          </a:solidFill>
                          <a:latin typeface="Work Sans" panose="00000500000000000000" pitchFamily="2" charset="0"/>
                          <a:ea typeface="+mn-ea"/>
                          <a:cs typeface="+mn-cs"/>
                        </a:rPr>
                        <a:t>Les rapports SNYPER ont-ils été réalisés et joint à l’APD pour chaque emplacement de modem envisagé ?</a:t>
                      </a:r>
                    </a:p>
                  </a:txBody>
                  <a:tcPr marL="34925" marR="34925" marT="34925" marB="34925" anchor="ctr">
                    <a:lnR w="12700" cap="flat" cmpd="sng" algn="ctr">
                      <a:solidFill>
                        <a:schemeClr val="tx1"/>
                      </a:solidFill>
                      <a:prstDash val="solid"/>
                      <a:round/>
                      <a:headEnd type="none" w="med" len="med"/>
                      <a:tailEnd type="none" w="med" len="med"/>
                    </a:lnR>
                  </a:tcPr>
                </a:tc>
                <a:tc gridSpan="2">
                  <a:txBody>
                    <a:bodyPr/>
                    <a:lstStyle/>
                    <a:p>
                      <a:pPr marL="342900" lvl="0" indent="-342900" algn="just">
                        <a:lnSpc>
                          <a:spcPct val="107000"/>
                        </a:lnSpc>
                        <a:spcAft>
                          <a:spcPts val="800"/>
                        </a:spcAft>
                        <a:buFont typeface="Wingdings" panose="05000000000000000000" pitchFamily="2" charset="2"/>
                        <a:buChar char="q"/>
                      </a:pPr>
                      <a:r>
                        <a:rPr lang="fr-FR" sz="1200" kern="1200" dirty="0">
                          <a:solidFill>
                            <a:schemeClr val="tx1"/>
                          </a:solidFill>
                          <a:latin typeface="Work Sans" panose="00000500000000000000" pitchFamily="2" charset="0"/>
                          <a:ea typeface="+mn-ea"/>
                          <a:cs typeface="+mn-cs"/>
                        </a:rPr>
                        <a:t>Oui</a:t>
                      </a:r>
                    </a:p>
                  </a:txBody>
                  <a:tcPr marL="34925" marR="34925" marT="34925" marB="349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hMerge="1">
                  <a:txBody>
                    <a:bodyPr/>
                    <a:lstStyle/>
                    <a:p>
                      <a:endParaRPr lang="fr-FR"/>
                    </a:p>
                  </a:txBody>
                  <a:tcPr/>
                </a:tc>
                <a:tc gridSpan="2">
                  <a:txBody>
                    <a:bodyPr/>
                    <a:lstStyle/>
                    <a:p>
                      <a:pPr marL="342900" lvl="0" indent="-342900" algn="just">
                        <a:lnSpc>
                          <a:spcPct val="107000"/>
                        </a:lnSpc>
                        <a:spcAft>
                          <a:spcPts val="800"/>
                        </a:spcAft>
                        <a:buFont typeface="Wingdings" panose="05000000000000000000" pitchFamily="2" charset="2"/>
                        <a:buChar char="q"/>
                      </a:pPr>
                      <a:r>
                        <a:rPr lang="fr-FR" sz="1200" kern="1200">
                          <a:solidFill>
                            <a:schemeClr val="tx1"/>
                          </a:solidFill>
                          <a:latin typeface="Work Sans" panose="00000500000000000000" pitchFamily="2" charset="0"/>
                          <a:ea typeface="+mn-ea"/>
                          <a:cs typeface="+mn-cs"/>
                        </a:rPr>
                        <a:t>Non</a:t>
                      </a:r>
                      <a:endParaRPr lang="fr-FR" sz="1200" kern="1200" dirty="0">
                        <a:solidFill>
                          <a:schemeClr val="tx1"/>
                        </a:solidFill>
                        <a:latin typeface="Work Sans" panose="00000500000000000000" pitchFamily="2" charset="0"/>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hMerge="1">
                  <a:txBody>
                    <a:bodyPr/>
                    <a:lstStyle/>
                    <a:p>
                      <a:endParaRPr lang="fr-F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489246471"/>
                  </a:ext>
                </a:extLst>
              </a:tr>
              <a:tr h="105275">
                <a:tc>
                  <a:txBody>
                    <a:bodyPr/>
                    <a:lstStyle/>
                    <a:p>
                      <a:pPr algn="just">
                        <a:lnSpc>
                          <a:spcPct val="107000"/>
                        </a:lnSpc>
                        <a:spcAft>
                          <a:spcPts val="800"/>
                        </a:spcAft>
                      </a:pPr>
                      <a:r>
                        <a:rPr lang="fr-FR" sz="1200" kern="1200" dirty="0">
                          <a:solidFill>
                            <a:schemeClr val="tx1"/>
                          </a:solidFill>
                          <a:latin typeface="Work Sans" panose="00000500000000000000" pitchFamily="2" charset="0"/>
                          <a:ea typeface="+mn-ea"/>
                          <a:cs typeface="+mn-cs"/>
                        </a:rPr>
                        <a:t>Distance entre le point de raccordement et la station supérieure à 90mètres ?</a:t>
                      </a:r>
                    </a:p>
                  </a:txBody>
                  <a:tcPr marL="34925" marR="34925" marT="34925" marB="34925">
                    <a:lnR w="12700" cap="flat" cmpd="sng" algn="ctr">
                      <a:solidFill>
                        <a:schemeClr val="tx1"/>
                      </a:solidFill>
                      <a:prstDash val="solid"/>
                      <a:round/>
                      <a:headEnd type="none" w="med" len="med"/>
                      <a:tailEnd type="none" w="med" len="med"/>
                    </a:lnR>
                  </a:tcPr>
                </a:tc>
                <a:tc gridSpan="2">
                  <a:txBody>
                    <a:bodyPr/>
                    <a:lstStyle/>
                    <a:p>
                      <a:pPr marL="342900" lvl="0" indent="-342900" algn="just">
                        <a:lnSpc>
                          <a:spcPct val="107000"/>
                        </a:lnSpc>
                        <a:spcAft>
                          <a:spcPts val="800"/>
                        </a:spcAft>
                        <a:buFont typeface="Wingdings" panose="05000000000000000000" pitchFamily="2" charset="2"/>
                        <a:buChar char="q"/>
                      </a:pPr>
                      <a:r>
                        <a:rPr lang="fr-FR" sz="1200" kern="1200" dirty="0">
                          <a:solidFill>
                            <a:schemeClr val="tx1"/>
                          </a:solidFill>
                          <a:latin typeface="Work Sans" panose="00000500000000000000" pitchFamily="2" charset="0"/>
                          <a:ea typeface="+mn-ea"/>
                          <a:cs typeface="+mn-cs"/>
                        </a:rPr>
                        <a:t>Oui</a:t>
                      </a:r>
                    </a:p>
                  </a:txBody>
                  <a:tcPr marL="34925" marR="34925" marT="34925" marB="349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hMerge="1">
                  <a:txBody>
                    <a:bodyPr/>
                    <a:lstStyle/>
                    <a:p>
                      <a:endParaRPr lang="fr-FR"/>
                    </a:p>
                  </a:txBody>
                  <a:tcPr/>
                </a:tc>
                <a:tc gridSpan="2">
                  <a:txBody>
                    <a:bodyPr/>
                    <a:lstStyle/>
                    <a:p>
                      <a:pPr marL="342900" lvl="0" indent="-342900" algn="just">
                        <a:lnSpc>
                          <a:spcPct val="107000"/>
                        </a:lnSpc>
                        <a:spcAft>
                          <a:spcPts val="800"/>
                        </a:spcAft>
                        <a:buFont typeface="Wingdings" panose="05000000000000000000" pitchFamily="2" charset="2"/>
                        <a:buChar char="q"/>
                      </a:pPr>
                      <a:r>
                        <a:rPr lang="fr-FR" sz="1200" kern="1200" dirty="0">
                          <a:solidFill>
                            <a:schemeClr val="tx1"/>
                          </a:solidFill>
                          <a:latin typeface="Work Sans" panose="00000500000000000000" pitchFamily="2" charset="0"/>
                          <a:ea typeface="+mn-ea"/>
                          <a:cs typeface="+mn-cs"/>
                        </a:rPr>
                        <a:t>Non</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hMerge="1">
                  <a:txBody>
                    <a:bodyPr/>
                    <a:lstStyle/>
                    <a:p>
                      <a:endParaRPr lang="fr-F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997086573"/>
                  </a:ext>
                </a:extLst>
              </a:tr>
              <a:tr h="105275">
                <a:tc>
                  <a:txBody>
                    <a:bodyPr/>
                    <a:lstStyle/>
                    <a:p>
                      <a:pPr algn="just">
                        <a:lnSpc>
                          <a:spcPct val="107000"/>
                        </a:lnSpc>
                        <a:spcAft>
                          <a:spcPts val="800"/>
                        </a:spcAft>
                      </a:pPr>
                      <a:r>
                        <a:rPr lang="fr-FR" sz="1200" kern="1200" dirty="0">
                          <a:solidFill>
                            <a:schemeClr val="tx1"/>
                          </a:solidFill>
                          <a:latin typeface="Work Sans" panose="00000500000000000000" pitchFamily="2" charset="0"/>
                          <a:ea typeface="+mn-ea"/>
                          <a:cs typeface="+mn-cs"/>
                        </a:rPr>
                        <a:t>Nécessité de déporter une antenne du modem</a:t>
                      </a:r>
                    </a:p>
                  </a:txBody>
                  <a:tcPr marL="34925" marR="34925" marT="34925" marB="34925">
                    <a:lnR w="12700" cap="flat" cmpd="sng" algn="ctr">
                      <a:solidFill>
                        <a:schemeClr val="tx1"/>
                      </a:solidFill>
                      <a:prstDash val="solid"/>
                      <a:round/>
                      <a:headEnd type="none" w="med" len="med"/>
                      <a:tailEnd type="none" w="med" len="med"/>
                    </a:lnR>
                  </a:tcPr>
                </a:tc>
                <a:tc gridSpan="2">
                  <a:txBody>
                    <a:bodyPr/>
                    <a:lstStyle/>
                    <a:p>
                      <a:pPr marL="342900" lvl="0" indent="-342900" algn="just">
                        <a:lnSpc>
                          <a:spcPct val="107000"/>
                        </a:lnSpc>
                        <a:spcAft>
                          <a:spcPts val="800"/>
                        </a:spcAft>
                        <a:buFont typeface="Wingdings" panose="05000000000000000000" pitchFamily="2" charset="2"/>
                        <a:buChar char="q"/>
                      </a:pPr>
                      <a:r>
                        <a:rPr lang="fr-FR" sz="1200" kern="1200" dirty="0">
                          <a:solidFill>
                            <a:schemeClr val="tx1"/>
                          </a:solidFill>
                          <a:latin typeface="Work Sans" panose="00000500000000000000" pitchFamily="2" charset="0"/>
                          <a:ea typeface="+mn-ea"/>
                          <a:cs typeface="+mn-cs"/>
                        </a:rPr>
                        <a:t>Oui</a:t>
                      </a:r>
                    </a:p>
                  </a:txBody>
                  <a:tcPr marL="34925" marR="34925" marT="34925" marB="349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hMerge="1">
                  <a:txBody>
                    <a:bodyPr/>
                    <a:lstStyle/>
                    <a:p>
                      <a:endParaRPr lang="fr-F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gridSpan="2">
                  <a:txBody>
                    <a:bodyPr/>
                    <a:lstStyle/>
                    <a:p>
                      <a:pPr marL="342900" lvl="0" indent="-342900" algn="just">
                        <a:lnSpc>
                          <a:spcPct val="107000"/>
                        </a:lnSpc>
                        <a:spcAft>
                          <a:spcPts val="800"/>
                        </a:spcAft>
                        <a:buFont typeface="Wingdings" panose="05000000000000000000" pitchFamily="2" charset="2"/>
                        <a:buChar char="q"/>
                      </a:pPr>
                      <a:r>
                        <a:rPr lang="fr-FR" sz="1200" kern="1200" dirty="0">
                          <a:solidFill>
                            <a:schemeClr val="tx1"/>
                          </a:solidFill>
                          <a:latin typeface="Work Sans" panose="00000500000000000000" pitchFamily="2" charset="0"/>
                          <a:ea typeface="+mn-ea"/>
                          <a:cs typeface="+mn-cs"/>
                        </a:rPr>
                        <a:t>Non</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hMerge="1">
                  <a:txBody>
                    <a:bodyPr/>
                    <a:lstStyle/>
                    <a:p>
                      <a:endParaRPr lang="fr-F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8236750"/>
                  </a:ext>
                </a:extLst>
              </a:tr>
              <a:tr h="105275">
                <a:tc>
                  <a:txBody>
                    <a:bodyPr/>
                    <a:lstStyle/>
                    <a:p>
                      <a:pPr algn="just">
                        <a:lnSpc>
                          <a:spcPct val="107000"/>
                        </a:lnSpc>
                        <a:spcAft>
                          <a:spcPts val="800"/>
                        </a:spcAft>
                      </a:pPr>
                      <a:r>
                        <a:rPr lang="fr-FR" sz="1200" kern="1200" dirty="0">
                          <a:solidFill>
                            <a:schemeClr val="tx1"/>
                          </a:solidFill>
                          <a:latin typeface="Work Sans" panose="00000500000000000000" pitchFamily="2" charset="0"/>
                          <a:ea typeface="+mn-ea"/>
                          <a:cs typeface="+mn-cs"/>
                        </a:rPr>
                        <a:t>Nécessité de déporter le modem avec alimentation par injecteur POE</a:t>
                      </a:r>
                    </a:p>
                  </a:txBody>
                  <a:tcPr marL="34925" marR="34925" marT="34925" marB="34925">
                    <a:lnR w="12700" cap="flat" cmpd="sng" algn="ctr">
                      <a:solidFill>
                        <a:schemeClr val="tx1"/>
                      </a:solidFill>
                      <a:prstDash val="solid"/>
                      <a:round/>
                      <a:headEnd type="none" w="med" len="med"/>
                      <a:tailEnd type="none" w="med" len="med"/>
                    </a:lnR>
                  </a:tcPr>
                </a:tc>
                <a:tc gridSpan="2">
                  <a:txBody>
                    <a:bodyPr/>
                    <a:lstStyle/>
                    <a:p>
                      <a:pPr marL="342900" lvl="0" indent="-342900" algn="just">
                        <a:lnSpc>
                          <a:spcPct val="107000"/>
                        </a:lnSpc>
                        <a:spcAft>
                          <a:spcPts val="800"/>
                        </a:spcAft>
                        <a:buFont typeface="Wingdings" panose="05000000000000000000" pitchFamily="2" charset="2"/>
                        <a:buChar char="q"/>
                      </a:pPr>
                      <a:r>
                        <a:rPr lang="fr-FR" sz="1200" kern="1200" dirty="0">
                          <a:solidFill>
                            <a:schemeClr val="tx1"/>
                          </a:solidFill>
                          <a:latin typeface="Work Sans" panose="00000500000000000000" pitchFamily="2" charset="0"/>
                          <a:ea typeface="+mn-ea"/>
                          <a:cs typeface="+mn-cs"/>
                        </a:rPr>
                        <a:t>Oui</a:t>
                      </a:r>
                    </a:p>
                  </a:txBody>
                  <a:tcPr marL="34925" marR="34925" marT="34925" marB="349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hMerge="1">
                  <a:txBody>
                    <a:bodyPr/>
                    <a:lstStyle/>
                    <a:p>
                      <a:endParaRPr lang="fr-F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gridSpan="2">
                  <a:txBody>
                    <a:bodyPr/>
                    <a:lstStyle/>
                    <a:p>
                      <a:pPr marL="342900" lvl="0" indent="-342900" algn="just">
                        <a:lnSpc>
                          <a:spcPct val="107000"/>
                        </a:lnSpc>
                        <a:spcAft>
                          <a:spcPts val="800"/>
                        </a:spcAft>
                        <a:buFont typeface="Wingdings" panose="05000000000000000000" pitchFamily="2" charset="2"/>
                        <a:buChar char="q"/>
                      </a:pPr>
                      <a:r>
                        <a:rPr lang="fr-FR" sz="1200" kern="1200" dirty="0">
                          <a:solidFill>
                            <a:schemeClr val="tx1"/>
                          </a:solidFill>
                          <a:latin typeface="Work Sans" panose="00000500000000000000" pitchFamily="2" charset="0"/>
                          <a:ea typeface="+mn-ea"/>
                          <a:cs typeface="+mn-cs"/>
                        </a:rPr>
                        <a:t>Non</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hMerge="1">
                  <a:txBody>
                    <a:bodyPr/>
                    <a:lstStyle/>
                    <a:p>
                      <a:endParaRPr lang="fr-F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58198895"/>
                  </a:ext>
                </a:extLst>
              </a:tr>
            </a:tbl>
          </a:graphicData>
        </a:graphic>
      </p:graphicFrame>
      <p:sp>
        <p:nvSpPr>
          <p:cNvPr id="3" name="ZoneTexte 2">
            <a:extLst>
              <a:ext uri="{FF2B5EF4-FFF2-40B4-BE49-F238E27FC236}">
                <a16:creationId xmlns:a16="http://schemas.microsoft.com/office/drawing/2014/main" id="{AC1D0C90-B827-EA2F-43A5-F492172604A6}"/>
              </a:ext>
            </a:extLst>
          </p:cNvPr>
          <p:cNvSpPr txBox="1"/>
          <p:nvPr/>
        </p:nvSpPr>
        <p:spPr>
          <a:xfrm>
            <a:off x="1339273" y="6298544"/>
            <a:ext cx="7370618" cy="276999"/>
          </a:xfrm>
          <a:prstGeom prst="rect">
            <a:avLst/>
          </a:prstGeom>
          <a:noFill/>
        </p:spPr>
        <p:txBody>
          <a:bodyPr wrap="square" rtlCol="0">
            <a:spAutoFit/>
          </a:bodyPr>
          <a:lstStyle/>
          <a:p>
            <a:r>
              <a:rPr lang="fr-FR" sz="1200" dirty="0"/>
              <a:t>* Cette capacité devra être confirmée par une étude détaillée</a:t>
            </a:r>
          </a:p>
        </p:txBody>
      </p:sp>
      <p:sp>
        <p:nvSpPr>
          <p:cNvPr id="2" name="Titre 1">
            <a:extLst>
              <a:ext uri="{FF2B5EF4-FFF2-40B4-BE49-F238E27FC236}">
                <a16:creationId xmlns:a16="http://schemas.microsoft.com/office/drawing/2014/main" id="{88D4675A-A4AC-54DC-3DBB-732C82C55DE9}"/>
              </a:ext>
            </a:extLst>
          </p:cNvPr>
          <p:cNvSpPr txBox="1">
            <a:spLocks/>
          </p:cNvSpPr>
          <p:nvPr/>
        </p:nvSpPr>
        <p:spPr>
          <a:xfrm>
            <a:off x="2647078" y="3619286"/>
            <a:ext cx="6688946" cy="996696"/>
          </a:xfrm>
          <a:prstGeom prst="rect">
            <a:avLst/>
          </a:prstGeom>
        </p:spPr>
        <p:txBody>
          <a:bodyPr vert="horz" lIns="360000" tIns="45720" rIns="540000" bIns="45720" rtlCol="0" anchor="ctr">
            <a:normAutofit/>
          </a:bodyPr>
          <a:lstStyle>
            <a:lvl1pPr marL="365125" indent="-365125" algn="l" defTabSz="914400" rtl="0" eaLnBrk="1" latinLnBrk="0" hangingPunct="1">
              <a:lnSpc>
                <a:spcPct val="90000"/>
              </a:lnSpc>
              <a:spcBef>
                <a:spcPct val="0"/>
              </a:spcBef>
              <a:buFont typeface="+mj-lt"/>
              <a:buAutoNum type="arabicPeriod"/>
              <a:tabLst/>
              <a:defRPr sz="3000" b="0" i="0" kern="1200">
                <a:solidFill>
                  <a:srgbClr val="1089FF"/>
                </a:solidFill>
                <a:latin typeface="Work Sans ExtraLight"/>
                <a:ea typeface="+mj-ea"/>
                <a:cs typeface="Work Sans ExtraLight"/>
              </a:defRPr>
            </a:lvl1pPr>
          </a:lstStyle>
          <a:p>
            <a:pPr marL="0" indent="0" algn="ctr">
              <a:buNone/>
            </a:pPr>
            <a:r>
              <a:rPr lang="fr-FR" b="1" dirty="0">
                <a:solidFill>
                  <a:schemeClr val="accent1"/>
                </a:solidFill>
              </a:rPr>
              <a:t> Insérer synoptique courant faible</a:t>
            </a:r>
          </a:p>
        </p:txBody>
      </p:sp>
    </p:spTree>
    <p:extLst>
      <p:ext uri="{BB962C8B-B14F-4D97-AF65-F5344CB8AC3E}">
        <p14:creationId xmlns:p14="http://schemas.microsoft.com/office/powerpoint/2010/main" val="23105892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au 6">
            <a:extLst>
              <a:ext uri="{FF2B5EF4-FFF2-40B4-BE49-F238E27FC236}">
                <a16:creationId xmlns:a16="http://schemas.microsoft.com/office/drawing/2014/main" id="{C1418DA3-AD69-4918-9A7E-CF1ED3FF4218}"/>
              </a:ext>
            </a:extLst>
          </p:cNvPr>
          <p:cNvGraphicFramePr>
            <a:graphicFrameLocks noGrp="1"/>
          </p:cNvGraphicFramePr>
          <p:nvPr>
            <p:extLst>
              <p:ext uri="{D42A27DB-BD31-4B8C-83A1-F6EECF244321}">
                <p14:modId xmlns:p14="http://schemas.microsoft.com/office/powerpoint/2010/main" val="2032861477"/>
              </p:ext>
            </p:extLst>
          </p:nvPr>
        </p:nvGraphicFramePr>
        <p:xfrm>
          <a:off x="313722" y="4225531"/>
          <a:ext cx="11564549" cy="1737360"/>
        </p:xfrm>
        <a:graphic>
          <a:graphicData uri="http://schemas.openxmlformats.org/drawingml/2006/table">
            <a:tbl>
              <a:tblPr firstRow="1" bandRow="1">
                <a:tableStyleId>{5940675A-B579-460E-94D1-54222C63F5DA}</a:tableStyleId>
              </a:tblPr>
              <a:tblGrid>
                <a:gridCol w="2665454">
                  <a:extLst>
                    <a:ext uri="{9D8B030D-6E8A-4147-A177-3AD203B41FA5}">
                      <a16:colId xmlns:a16="http://schemas.microsoft.com/office/drawing/2014/main" val="3627121043"/>
                    </a:ext>
                  </a:extLst>
                </a:gridCol>
                <a:gridCol w="8899095">
                  <a:extLst>
                    <a:ext uri="{9D8B030D-6E8A-4147-A177-3AD203B41FA5}">
                      <a16:colId xmlns:a16="http://schemas.microsoft.com/office/drawing/2014/main" val="483153839"/>
                    </a:ext>
                  </a:extLst>
                </a:gridCol>
              </a:tblGrid>
              <a:tr h="197547">
                <a:tc gridSpan="2">
                  <a:txBody>
                    <a:bodyPr/>
                    <a:lstStyle/>
                    <a:p>
                      <a:r>
                        <a:rPr lang="fr-FR" sz="1200" b="1" dirty="0">
                          <a:solidFill>
                            <a:schemeClr val="bg1"/>
                          </a:solidFill>
                          <a:latin typeface="Work Sans" panose="00000500000000000000" pitchFamily="2" charset="0"/>
                        </a:rPr>
                        <a:t>LIMITES DE PRESTATION</a:t>
                      </a:r>
                    </a:p>
                  </a:txBody>
                  <a:tcPr>
                    <a:solidFill>
                      <a:schemeClr val="accent1"/>
                    </a:solidFill>
                  </a:tcPr>
                </a:tc>
                <a:tc hMerge="1">
                  <a:txBody>
                    <a:bodyPr/>
                    <a:lstStyle/>
                    <a:p>
                      <a:endParaRPr lang="fr-FR"/>
                    </a:p>
                  </a:txBody>
                  <a:tcPr/>
                </a:tc>
                <a:extLst>
                  <a:ext uri="{0D108BD9-81ED-4DB2-BD59-A6C34878D82A}">
                    <a16:rowId xmlns:a16="http://schemas.microsoft.com/office/drawing/2014/main" val="2459031976"/>
                  </a:ext>
                </a:extLst>
              </a:tr>
              <a:tr h="485442">
                <a:tc>
                  <a:txBody>
                    <a:bodyPr/>
                    <a:lstStyle/>
                    <a:p>
                      <a:pPr marL="0" algn="l" defTabSz="914400" rtl="0" eaLnBrk="1" latinLnBrk="0" hangingPunct="1">
                        <a:lnSpc>
                          <a:spcPct val="107000"/>
                        </a:lnSpc>
                        <a:spcAft>
                          <a:spcPts val="800"/>
                        </a:spcAft>
                      </a:pPr>
                      <a:r>
                        <a:rPr lang="fr-FR" sz="1200" kern="1200" dirty="0">
                          <a:solidFill>
                            <a:schemeClr val="tx1"/>
                          </a:solidFill>
                          <a:latin typeface="Work Sans" panose="00000500000000000000" pitchFamily="2" charset="0"/>
                          <a:ea typeface="+mn-ea"/>
                          <a:cs typeface="+mn-cs"/>
                        </a:rPr>
                        <a:t>Prestations IZIVIA </a:t>
                      </a:r>
                    </a:p>
                  </a:txBody>
                  <a:tcPr marL="34925" marR="34925" marT="34925" marB="34925" anchor="ctr"/>
                </a:tc>
                <a:tc>
                  <a:txBody>
                    <a:bodyPr/>
                    <a:lstStyle/>
                    <a:p>
                      <a:r>
                        <a:rPr lang="fr-FR" sz="1200" i="1" dirty="0">
                          <a:latin typeface="Work Sans" panose="00000500000000000000" pitchFamily="2" charset="0"/>
                        </a:rPr>
                        <a:t>Par défaut, Izivia propose de réaliser l’ensemble des prestations nécessaires au bon fonctionnement de l’installation : GC, GE, Aménagement des places, Contrôles de conformité, Mise en service et tests de fonctionnement, remise en état de la zone chantier. Préciser ici si une des prestations ci-dessus n’est pas à réaliser car prise en charge par le client, ou si une prestation spécifique est demandée.</a:t>
                      </a:r>
                    </a:p>
                  </a:txBody>
                  <a:tcPr/>
                </a:tc>
                <a:extLst>
                  <a:ext uri="{0D108BD9-81ED-4DB2-BD59-A6C34878D82A}">
                    <a16:rowId xmlns:a16="http://schemas.microsoft.com/office/drawing/2014/main" val="1236273046"/>
                  </a:ext>
                </a:extLst>
              </a:tr>
              <a:tr h="485442">
                <a:tc>
                  <a:txBody>
                    <a:bodyPr/>
                    <a:lstStyle/>
                    <a:p>
                      <a:pPr marL="0" algn="l" defTabSz="914400" rtl="0" eaLnBrk="1" latinLnBrk="0" hangingPunct="1">
                        <a:lnSpc>
                          <a:spcPct val="107000"/>
                        </a:lnSpc>
                        <a:spcAft>
                          <a:spcPts val="800"/>
                        </a:spcAft>
                      </a:pPr>
                      <a:r>
                        <a:rPr lang="fr-FR" sz="1200" kern="1200" dirty="0">
                          <a:solidFill>
                            <a:schemeClr val="tx1"/>
                          </a:solidFill>
                          <a:latin typeface="Work Sans" panose="00000500000000000000" pitchFamily="2" charset="0"/>
                          <a:ea typeface="+mn-ea"/>
                          <a:cs typeface="+mn-cs"/>
                        </a:rPr>
                        <a:t>Prestations réalisées par le Client</a:t>
                      </a:r>
                    </a:p>
                  </a:txBody>
                  <a:tcPr marL="34925" marR="34925" marT="34925" marB="34925" anchor="ctr"/>
                </a:tc>
                <a:tc>
                  <a:txBody>
                    <a:bodyPr/>
                    <a:lstStyle/>
                    <a:p>
                      <a:r>
                        <a:rPr lang="fr-FR" sz="1200" i="1" dirty="0">
                          <a:latin typeface="Work Sans" panose="00000500000000000000" pitchFamily="2" charset="0"/>
                        </a:rPr>
                        <a:t>Par exemple : GC réalisé en amont par une entreprise en contrat avec le client / menuiserie d’un plafond déposé et reposé par un entreprise en contrat avec le client.</a:t>
                      </a:r>
                    </a:p>
                    <a:p>
                      <a:r>
                        <a:rPr lang="fr-FR" sz="1200" i="1" dirty="0">
                          <a:latin typeface="Work Sans" panose="00000500000000000000" pitchFamily="2" charset="0"/>
                        </a:rPr>
                        <a:t>Dans ce cas, les plans EXE sont à fournir pour qu’Izivia réalise une offre adaptée à la situation</a:t>
                      </a:r>
                    </a:p>
                  </a:txBody>
                  <a:tcPr/>
                </a:tc>
                <a:extLst>
                  <a:ext uri="{0D108BD9-81ED-4DB2-BD59-A6C34878D82A}">
                    <a16:rowId xmlns:a16="http://schemas.microsoft.com/office/drawing/2014/main" val="3376898892"/>
                  </a:ext>
                </a:extLst>
              </a:tr>
            </a:tbl>
          </a:graphicData>
        </a:graphic>
      </p:graphicFrame>
      <p:sp>
        <p:nvSpPr>
          <p:cNvPr id="8" name="Espace réservé du numéro de diapositive 7">
            <a:extLst>
              <a:ext uri="{FF2B5EF4-FFF2-40B4-BE49-F238E27FC236}">
                <a16:creationId xmlns:a16="http://schemas.microsoft.com/office/drawing/2014/main" id="{F1089307-D06E-44B0-AE2D-28996C6ECD7D}"/>
              </a:ext>
            </a:extLst>
          </p:cNvPr>
          <p:cNvSpPr>
            <a:spLocks noGrp="1"/>
          </p:cNvSpPr>
          <p:nvPr>
            <p:ph type="sldNum" sz="quarter" idx="10"/>
          </p:nvPr>
        </p:nvSpPr>
        <p:spPr>
          <a:xfrm>
            <a:off x="11328278" y="6136423"/>
            <a:ext cx="437781" cy="167113"/>
          </a:xfrm>
        </p:spPr>
        <p:txBody>
          <a:bodyPr/>
          <a:lstStyle/>
          <a:p>
            <a:fld id="{B0E65964-A4DF-446E-B0D3-80C6F778AEE2}" type="slidenum">
              <a:rPr lang="fr-FR" smtClean="0"/>
              <a:t>7</a:t>
            </a:fld>
            <a:endParaRPr lang="fr-FR" dirty="0"/>
          </a:p>
        </p:txBody>
      </p:sp>
      <p:graphicFrame>
        <p:nvGraphicFramePr>
          <p:cNvPr id="3" name="Tableau 6">
            <a:extLst>
              <a:ext uri="{FF2B5EF4-FFF2-40B4-BE49-F238E27FC236}">
                <a16:creationId xmlns:a16="http://schemas.microsoft.com/office/drawing/2014/main" id="{8DA44ACA-24E3-650E-5A0C-B5AFA0DA82D3}"/>
              </a:ext>
            </a:extLst>
          </p:cNvPr>
          <p:cNvGraphicFramePr>
            <a:graphicFrameLocks noGrp="1"/>
          </p:cNvGraphicFramePr>
          <p:nvPr>
            <p:extLst>
              <p:ext uri="{D42A27DB-BD31-4B8C-83A1-F6EECF244321}">
                <p14:modId xmlns:p14="http://schemas.microsoft.com/office/powerpoint/2010/main" val="3569026448"/>
              </p:ext>
            </p:extLst>
          </p:nvPr>
        </p:nvGraphicFramePr>
        <p:xfrm>
          <a:off x="313725" y="469143"/>
          <a:ext cx="11564550" cy="2178091"/>
        </p:xfrm>
        <a:graphic>
          <a:graphicData uri="http://schemas.openxmlformats.org/drawingml/2006/table">
            <a:tbl>
              <a:tblPr firstRow="1" bandRow="1">
                <a:tableStyleId>{5940675A-B579-460E-94D1-54222C63F5DA}</a:tableStyleId>
              </a:tblPr>
              <a:tblGrid>
                <a:gridCol w="3383592">
                  <a:extLst>
                    <a:ext uri="{9D8B030D-6E8A-4147-A177-3AD203B41FA5}">
                      <a16:colId xmlns:a16="http://schemas.microsoft.com/office/drawing/2014/main" val="3627121043"/>
                    </a:ext>
                  </a:extLst>
                </a:gridCol>
                <a:gridCol w="1984596">
                  <a:extLst>
                    <a:ext uri="{9D8B030D-6E8A-4147-A177-3AD203B41FA5}">
                      <a16:colId xmlns:a16="http://schemas.microsoft.com/office/drawing/2014/main" val="483153839"/>
                    </a:ext>
                  </a:extLst>
                </a:gridCol>
                <a:gridCol w="1984596">
                  <a:extLst>
                    <a:ext uri="{9D8B030D-6E8A-4147-A177-3AD203B41FA5}">
                      <a16:colId xmlns:a16="http://schemas.microsoft.com/office/drawing/2014/main" val="1800554739"/>
                    </a:ext>
                  </a:extLst>
                </a:gridCol>
                <a:gridCol w="2090644">
                  <a:extLst>
                    <a:ext uri="{9D8B030D-6E8A-4147-A177-3AD203B41FA5}">
                      <a16:colId xmlns:a16="http://schemas.microsoft.com/office/drawing/2014/main" val="4155024607"/>
                    </a:ext>
                  </a:extLst>
                </a:gridCol>
                <a:gridCol w="2121122">
                  <a:extLst>
                    <a:ext uri="{9D8B030D-6E8A-4147-A177-3AD203B41FA5}">
                      <a16:colId xmlns:a16="http://schemas.microsoft.com/office/drawing/2014/main" val="3900013462"/>
                    </a:ext>
                  </a:extLst>
                </a:gridCol>
              </a:tblGrid>
              <a:tr h="343448">
                <a:tc gridSpan="5">
                  <a:txBody>
                    <a:bodyPr/>
                    <a:lstStyle/>
                    <a:p>
                      <a:r>
                        <a:rPr lang="fr-FR" sz="1200" b="1" dirty="0">
                          <a:solidFill>
                            <a:schemeClr val="bg1"/>
                          </a:solidFill>
                          <a:latin typeface="Work Sans" panose="00000500000000000000" pitchFamily="2" charset="0"/>
                        </a:rPr>
                        <a:t>TRAVAUX DE GENIE CIVIL</a:t>
                      </a:r>
                    </a:p>
                  </a:txBody>
                  <a:tcPr>
                    <a:solidFill>
                      <a:schemeClr val="accent1"/>
                    </a:solidFill>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2459031976"/>
                  </a:ext>
                </a:extLst>
              </a:tr>
              <a:tr h="318644">
                <a:tc>
                  <a:txBody>
                    <a:bodyPr/>
                    <a:lstStyle/>
                    <a:p>
                      <a:pPr marL="0" algn="l" defTabSz="914400" rtl="0" eaLnBrk="1" latinLnBrk="0" hangingPunct="1">
                        <a:lnSpc>
                          <a:spcPct val="107000"/>
                        </a:lnSpc>
                        <a:spcAft>
                          <a:spcPts val="800"/>
                        </a:spcAft>
                      </a:pPr>
                      <a:r>
                        <a:rPr lang="fr-FR" sz="1200" kern="1200" dirty="0">
                          <a:solidFill>
                            <a:schemeClr val="tx1"/>
                          </a:solidFill>
                          <a:latin typeface="Work Sans" panose="00000500000000000000" pitchFamily="2" charset="0"/>
                          <a:ea typeface="+mn-ea"/>
                          <a:cs typeface="+mn-cs"/>
                        </a:rPr>
                        <a:t>Tranchée(s) à prévoir ?</a:t>
                      </a:r>
                    </a:p>
                  </a:txBody>
                  <a:tcPr marL="34925" marR="34925" marT="34925" marB="34925" anchor="ctr"/>
                </a:tc>
                <a:tc gridSpan="2">
                  <a:txBody>
                    <a:bodyPr/>
                    <a:lstStyle/>
                    <a:p>
                      <a:pPr marL="342900" lvl="0" indent="-342900" algn="l">
                        <a:lnSpc>
                          <a:spcPct val="115000"/>
                        </a:lnSpc>
                        <a:spcAft>
                          <a:spcPts val="1000"/>
                        </a:spcAft>
                        <a:buFont typeface="Wingdings" panose="05000000000000000000" pitchFamily="2" charset="2"/>
                        <a:buChar char="q"/>
                      </a:pPr>
                      <a:r>
                        <a:rPr lang="fr-FR" sz="1200" kern="1200" dirty="0">
                          <a:solidFill>
                            <a:schemeClr val="tx1"/>
                          </a:solidFill>
                          <a:latin typeface="Work Sans" panose="00000500000000000000" pitchFamily="2" charset="0"/>
                          <a:ea typeface="+mn-ea"/>
                          <a:cs typeface="+mn-cs"/>
                        </a:rPr>
                        <a:t>Oui</a:t>
                      </a:r>
                    </a:p>
                  </a:txBody>
                  <a:tcPr marL="68580" marR="68580" marT="0" marB="0" anchor="ctr">
                    <a:solidFill>
                      <a:schemeClr val="accent5">
                        <a:lumMod val="20000"/>
                        <a:lumOff val="80000"/>
                      </a:schemeClr>
                    </a:solidFill>
                  </a:tcPr>
                </a:tc>
                <a:tc hMerge="1">
                  <a:txBody>
                    <a:bodyPr/>
                    <a:lstStyle/>
                    <a:p>
                      <a:endParaRPr lang="fr-FR"/>
                    </a:p>
                  </a:txBody>
                  <a:tcPr/>
                </a:tc>
                <a:tc gridSpan="2">
                  <a:txBody>
                    <a:bodyPr/>
                    <a:lstStyle/>
                    <a:p>
                      <a:pPr marL="342900" marR="0" lvl="0" indent="-342900" algn="l" defTabSz="914400" rtl="0" eaLnBrk="1" fontAlgn="auto" latinLnBrk="0" hangingPunct="1">
                        <a:lnSpc>
                          <a:spcPct val="115000"/>
                        </a:lnSpc>
                        <a:spcBef>
                          <a:spcPts val="0"/>
                        </a:spcBef>
                        <a:spcAft>
                          <a:spcPts val="1000"/>
                        </a:spcAft>
                        <a:buClrTx/>
                        <a:buSzTx/>
                        <a:buFont typeface="Wingdings" panose="05000000000000000000" pitchFamily="2" charset="2"/>
                        <a:buChar char="q"/>
                        <a:tabLst/>
                        <a:defRPr/>
                      </a:pPr>
                      <a:r>
                        <a:rPr lang="fr-FR" sz="1200" kern="1200" dirty="0">
                          <a:solidFill>
                            <a:schemeClr val="tx1"/>
                          </a:solidFill>
                          <a:latin typeface="Work Sans" panose="00000500000000000000" pitchFamily="2" charset="0"/>
                          <a:ea typeface="+mn-ea"/>
                          <a:cs typeface="+mn-cs"/>
                        </a:rPr>
                        <a:t>Non</a:t>
                      </a:r>
                    </a:p>
                  </a:txBody>
                  <a:tcPr marL="68580" marR="68580" marT="0" marB="0" anchor="ctr">
                    <a:solidFill>
                      <a:schemeClr val="accent5">
                        <a:lumMod val="20000"/>
                        <a:lumOff val="80000"/>
                      </a:schemeClr>
                    </a:solidFill>
                  </a:tcPr>
                </a:tc>
                <a:tc hMerge="1">
                  <a:txBody>
                    <a:bodyPr/>
                    <a:lstStyle/>
                    <a:p>
                      <a:endParaRPr lang="fr-FR"/>
                    </a:p>
                  </a:txBody>
                  <a:tcPr/>
                </a:tc>
                <a:extLst>
                  <a:ext uri="{0D108BD9-81ED-4DB2-BD59-A6C34878D82A}">
                    <a16:rowId xmlns:a16="http://schemas.microsoft.com/office/drawing/2014/main" val="3376898892"/>
                  </a:ext>
                </a:extLst>
              </a:tr>
              <a:tr h="360000">
                <a:tc>
                  <a:txBody>
                    <a:bodyPr/>
                    <a:lstStyle/>
                    <a:p>
                      <a:pPr marL="0" algn="l" defTabSz="914400" rtl="0" eaLnBrk="1" latinLnBrk="0" hangingPunct="1">
                        <a:lnSpc>
                          <a:spcPct val="107000"/>
                        </a:lnSpc>
                        <a:spcAft>
                          <a:spcPts val="800"/>
                        </a:spcAft>
                      </a:pPr>
                      <a:r>
                        <a:rPr lang="fr-FR" sz="1200" kern="1200" dirty="0">
                          <a:solidFill>
                            <a:schemeClr val="tx1"/>
                          </a:solidFill>
                          <a:latin typeface="Work Sans" panose="00000500000000000000" pitchFamily="2" charset="0"/>
                          <a:ea typeface="+mn-ea"/>
                          <a:cs typeface="+mn-cs"/>
                        </a:rPr>
                        <a:t>Si oui, type de tranchées et remise en état à réaliser</a:t>
                      </a:r>
                    </a:p>
                  </a:txBody>
                  <a:tcPr marL="34925" marR="34925" marT="34925" marB="34925" anchor="ctr"/>
                </a:tc>
                <a:tc>
                  <a:txBody>
                    <a:bodyPr/>
                    <a:lstStyle/>
                    <a:p>
                      <a:pPr marL="342900" lvl="0" indent="-342900" algn="l">
                        <a:lnSpc>
                          <a:spcPct val="115000"/>
                        </a:lnSpc>
                        <a:spcAft>
                          <a:spcPts val="1000"/>
                        </a:spcAft>
                        <a:buFont typeface="Wingdings" panose="05000000000000000000" pitchFamily="2" charset="2"/>
                        <a:buChar char="q"/>
                      </a:pPr>
                      <a:r>
                        <a:rPr lang="fr-FR" sz="1200" kern="1200" dirty="0">
                          <a:solidFill>
                            <a:schemeClr val="tx1"/>
                          </a:solidFill>
                          <a:latin typeface="Work Sans" panose="00000500000000000000" pitchFamily="2" charset="0"/>
                          <a:ea typeface="+mn-ea"/>
                          <a:cs typeface="+mn-cs"/>
                        </a:rPr>
                        <a:t>Enrobé à froid</a:t>
                      </a:r>
                    </a:p>
                  </a:txBody>
                  <a:tcPr marL="68580" marR="68580" marT="0" marB="0" anchor="ctr">
                    <a:solidFill>
                      <a:schemeClr val="accent5">
                        <a:lumMod val="20000"/>
                        <a:lumOff val="80000"/>
                      </a:schemeClr>
                    </a:solidFill>
                  </a:tcPr>
                </a:tc>
                <a:tc>
                  <a:txBody>
                    <a:bodyPr/>
                    <a:lstStyle/>
                    <a:p>
                      <a:pPr marL="342900" marR="0" lvl="0" indent="-342900" algn="l" defTabSz="914400" rtl="0" eaLnBrk="1" fontAlgn="auto" latinLnBrk="0" hangingPunct="1">
                        <a:lnSpc>
                          <a:spcPct val="115000"/>
                        </a:lnSpc>
                        <a:spcBef>
                          <a:spcPts val="0"/>
                        </a:spcBef>
                        <a:spcAft>
                          <a:spcPts val="1000"/>
                        </a:spcAft>
                        <a:buClrTx/>
                        <a:buSzTx/>
                        <a:buFont typeface="Wingdings" panose="05000000000000000000" pitchFamily="2" charset="2"/>
                        <a:buChar char="q"/>
                        <a:tabLst/>
                        <a:defRPr/>
                      </a:pPr>
                      <a:r>
                        <a:rPr lang="fr-FR" sz="1200" kern="1200" dirty="0">
                          <a:solidFill>
                            <a:schemeClr val="tx1"/>
                          </a:solidFill>
                          <a:latin typeface="Work Sans" panose="00000500000000000000" pitchFamily="2" charset="0"/>
                          <a:ea typeface="+mn-ea"/>
                          <a:cs typeface="+mn-cs"/>
                        </a:rPr>
                        <a:t>Enrobé à chaud</a:t>
                      </a:r>
                    </a:p>
                  </a:txBody>
                  <a:tcPr marL="68580" marR="68580" marT="0" marB="0" anchor="ctr">
                    <a:solidFill>
                      <a:schemeClr val="accent5">
                        <a:lumMod val="20000"/>
                        <a:lumOff val="80000"/>
                      </a:schemeClr>
                    </a:solidFill>
                  </a:tcPr>
                </a:tc>
                <a:tc>
                  <a:txBody>
                    <a:bodyPr/>
                    <a:lstStyle/>
                    <a:p>
                      <a:pPr marL="342900" lvl="0" indent="-342900" algn="l">
                        <a:lnSpc>
                          <a:spcPct val="115000"/>
                        </a:lnSpc>
                        <a:spcAft>
                          <a:spcPts val="1000"/>
                        </a:spcAft>
                        <a:buFont typeface="Wingdings" panose="05000000000000000000" pitchFamily="2" charset="2"/>
                        <a:buChar char="q"/>
                      </a:pPr>
                      <a:r>
                        <a:rPr lang="fr-FR" sz="1200" kern="1200" dirty="0">
                          <a:solidFill>
                            <a:schemeClr val="tx1"/>
                          </a:solidFill>
                          <a:latin typeface="Work Sans" panose="00000500000000000000" pitchFamily="2" charset="0"/>
                          <a:ea typeface="+mn-ea"/>
                          <a:cs typeface="+mn-cs"/>
                        </a:rPr>
                        <a:t>Espace engazonné</a:t>
                      </a:r>
                    </a:p>
                  </a:txBody>
                  <a:tcPr marL="68580" marR="68580" marT="0" marB="0" anchor="ctr">
                    <a:solidFill>
                      <a:schemeClr val="accent5">
                        <a:lumMod val="20000"/>
                        <a:lumOff val="80000"/>
                      </a:schemeClr>
                    </a:solidFill>
                  </a:tcPr>
                </a:tc>
                <a:tc>
                  <a:txBody>
                    <a:bodyPr/>
                    <a:lstStyle/>
                    <a:p>
                      <a:pPr marL="171450" indent="-171450">
                        <a:buFont typeface="Wingdings" panose="05000000000000000000" pitchFamily="2" charset="2"/>
                        <a:buChar char="q"/>
                      </a:pPr>
                      <a:r>
                        <a:rPr lang="fr-FR" sz="1200" kern="1200" dirty="0">
                          <a:solidFill>
                            <a:schemeClr val="tx1"/>
                          </a:solidFill>
                          <a:latin typeface="Work Sans" panose="00000500000000000000" pitchFamily="2" charset="0"/>
                          <a:ea typeface="+mn-ea"/>
                          <a:cs typeface="+mn-cs"/>
                        </a:rPr>
                        <a:t>Autre (préciser)</a:t>
                      </a:r>
                    </a:p>
                  </a:txBody>
                  <a:tcPr marL="68580" marR="68580" marT="0" marB="0" anchor="ctr">
                    <a:solidFill>
                      <a:schemeClr val="accent5">
                        <a:lumMod val="20000"/>
                        <a:lumOff val="80000"/>
                      </a:schemeClr>
                    </a:solidFill>
                  </a:tcPr>
                </a:tc>
                <a:extLst>
                  <a:ext uri="{0D108BD9-81ED-4DB2-BD59-A6C34878D82A}">
                    <a16:rowId xmlns:a16="http://schemas.microsoft.com/office/drawing/2014/main" val="2383640335"/>
                  </a:ext>
                </a:extLst>
              </a:tr>
              <a:tr h="421930">
                <a:tc>
                  <a:txBody>
                    <a:bodyPr/>
                    <a:lstStyle/>
                    <a:p>
                      <a:pPr marL="0" algn="l" defTabSz="914400" rtl="0" eaLnBrk="1" latinLnBrk="0" hangingPunct="1">
                        <a:lnSpc>
                          <a:spcPct val="107000"/>
                        </a:lnSpc>
                        <a:spcAft>
                          <a:spcPts val="800"/>
                        </a:spcAft>
                      </a:pPr>
                      <a:r>
                        <a:rPr lang="fr-FR" sz="1200" kern="1200" dirty="0">
                          <a:solidFill>
                            <a:schemeClr val="tx1"/>
                          </a:solidFill>
                          <a:latin typeface="Work Sans" panose="00000500000000000000" pitchFamily="2" charset="0"/>
                          <a:ea typeface="+mn-ea"/>
                          <a:cs typeface="+mn-cs"/>
                        </a:rPr>
                        <a:t>Si parking souterrain, création de mur coupe feu ?</a:t>
                      </a:r>
                    </a:p>
                  </a:txBody>
                  <a:tcPr marL="34925" marR="34925" marT="34925" marB="34925" anchor="ctr"/>
                </a:tc>
                <a:tc gridSpan="2">
                  <a:txBody>
                    <a:bodyPr/>
                    <a:lstStyle/>
                    <a:p>
                      <a:pPr marL="342900" lvl="0" indent="-342900" algn="l">
                        <a:lnSpc>
                          <a:spcPct val="115000"/>
                        </a:lnSpc>
                        <a:spcAft>
                          <a:spcPts val="1000"/>
                        </a:spcAft>
                        <a:buFont typeface="Wingdings" panose="05000000000000000000" pitchFamily="2" charset="2"/>
                        <a:buChar char="q"/>
                      </a:pPr>
                      <a:r>
                        <a:rPr lang="fr-FR" sz="1200" kern="1200" dirty="0">
                          <a:solidFill>
                            <a:schemeClr val="tx1"/>
                          </a:solidFill>
                          <a:latin typeface="Work Sans" panose="00000500000000000000" pitchFamily="2" charset="0"/>
                          <a:ea typeface="+mn-ea"/>
                          <a:cs typeface="+mn-cs"/>
                        </a:rPr>
                        <a:t>Oui </a:t>
                      </a:r>
                    </a:p>
                    <a:p>
                      <a:pPr marL="0" lvl="0" indent="0" algn="l">
                        <a:lnSpc>
                          <a:spcPct val="115000"/>
                        </a:lnSpc>
                        <a:spcAft>
                          <a:spcPts val="1000"/>
                        </a:spcAft>
                        <a:buFont typeface="Wingdings" panose="05000000000000000000" pitchFamily="2" charset="2"/>
                        <a:buNone/>
                      </a:pPr>
                      <a:r>
                        <a:rPr lang="fr-FR" sz="1200" kern="1200" dirty="0">
                          <a:solidFill>
                            <a:schemeClr val="tx1"/>
                          </a:solidFill>
                          <a:latin typeface="Work Sans" panose="00000500000000000000" pitchFamily="2" charset="0"/>
                          <a:ea typeface="+mn-ea"/>
                          <a:cs typeface="+mn-cs"/>
                        </a:rPr>
                        <a:t>Longueur  dimension  m /  Hauteur  dimension  m      </a:t>
                      </a:r>
                    </a:p>
                  </a:txBody>
                  <a:tcPr marL="68580" marR="68580" marT="0" marB="0" anchor="ctr">
                    <a:solidFill>
                      <a:schemeClr val="accent5">
                        <a:lumMod val="20000"/>
                        <a:lumOff val="80000"/>
                      </a:schemeClr>
                    </a:solidFill>
                  </a:tcPr>
                </a:tc>
                <a:tc hMerge="1">
                  <a:txBody>
                    <a:bodyPr/>
                    <a:lstStyle/>
                    <a:p>
                      <a:endParaRPr lang="fr-FR"/>
                    </a:p>
                  </a:txBody>
                  <a:tcPr/>
                </a:tc>
                <a:tc gridSpan="2">
                  <a:txBody>
                    <a:bodyPr/>
                    <a:lstStyle/>
                    <a:p>
                      <a:pPr marL="342900" marR="0" lvl="0" indent="-342900" algn="l" defTabSz="914400" rtl="0" eaLnBrk="1" fontAlgn="auto" latinLnBrk="0" hangingPunct="1">
                        <a:lnSpc>
                          <a:spcPct val="115000"/>
                        </a:lnSpc>
                        <a:spcBef>
                          <a:spcPts val="0"/>
                        </a:spcBef>
                        <a:spcAft>
                          <a:spcPts val="1000"/>
                        </a:spcAft>
                        <a:buClrTx/>
                        <a:buSzTx/>
                        <a:buFont typeface="Wingdings" panose="05000000000000000000" pitchFamily="2" charset="2"/>
                        <a:buChar char="q"/>
                        <a:tabLst/>
                        <a:defRPr/>
                      </a:pPr>
                      <a:r>
                        <a:rPr lang="fr-FR" sz="1200" kern="1200" dirty="0">
                          <a:solidFill>
                            <a:schemeClr val="tx1"/>
                          </a:solidFill>
                          <a:latin typeface="Work Sans" panose="00000500000000000000" pitchFamily="2" charset="0"/>
                          <a:ea typeface="+mn-ea"/>
                          <a:cs typeface="+mn-cs"/>
                        </a:rPr>
                        <a:t>Non</a:t>
                      </a:r>
                    </a:p>
                  </a:txBody>
                  <a:tcPr marL="68580" marR="68580" marT="0" marB="0" anchor="ctr">
                    <a:solidFill>
                      <a:schemeClr val="accent5">
                        <a:lumMod val="20000"/>
                        <a:lumOff val="80000"/>
                      </a:schemeClr>
                    </a:solidFill>
                  </a:tcPr>
                </a:tc>
                <a:tc hMerge="1">
                  <a:txBody>
                    <a:bodyPr/>
                    <a:lstStyle/>
                    <a:p>
                      <a:endParaRPr lang="fr-FR"/>
                    </a:p>
                  </a:txBody>
                  <a:tcPr/>
                </a:tc>
                <a:extLst>
                  <a:ext uri="{0D108BD9-81ED-4DB2-BD59-A6C34878D82A}">
                    <a16:rowId xmlns:a16="http://schemas.microsoft.com/office/drawing/2014/main" val="3573147536"/>
                  </a:ext>
                </a:extLst>
              </a:tr>
              <a:tr h="360000">
                <a:tc>
                  <a:txBody>
                    <a:bodyPr/>
                    <a:lstStyle/>
                    <a:p>
                      <a:pPr marL="0" algn="l" defTabSz="914400" rtl="0" eaLnBrk="1" latinLnBrk="0" hangingPunct="1">
                        <a:lnSpc>
                          <a:spcPct val="107000"/>
                        </a:lnSpc>
                        <a:spcAft>
                          <a:spcPts val="800"/>
                        </a:spcAft>
                      </a:pPr>
                      <a:r>
                        <a:rPr lang="fr-FR" sz="1200" kern="1200" dirty="0">
                          <a:solidFill>
                            <a:schemeClr val="tx1"/>
                          </a:solidFill>
                          <a:latin typeface="Work Sans" panose="00000500000000000000" pitchFamily="2" charset="0"/>
                          <a:ea typeface="+mn-ea"/>
                          <a:cs typeface="+mn-cs"/>
                        </a:rPr>
                        <a:t>Dimension des massifs si requis</a:t>
                      </a:r>
                    </a:p>
                  </a:txBody>
                  <a:tcPr marL="34925" marR="34925" marT="34925" marB="34925" anchor="ctr"/>
                </a:tc>
                <a:tc gridSpan="2">
                  <a:txBody>
                    <a:bodyPr/>
                    <a:lstStyle/>
                    <a:p>
                      <a:pPr marL="342900" lvl="0" indent="-342900" algn="l">
                        <a:lnSpc>
                          <a:spcPct val="115000"/>
                        </a:lnSpc>
                        <a:spcAft>
                          <a:spcPts val="1000"/>
                        </a:spcAft>
                        <a:buFont typeface="Wingdings" panose="05000000000000000000" pitchFamily="2" charset="2"/>
                        <a:buChar char="q"/>
                      </a:pPr>
                      <a:r>
                        <a:rPr lang="fr-FR" sz="1200" kern="1200" dirty="0">
                          <a:solidFill>
                            <a:schemeClr val="tx1"/>
                          </a:solidFill>
                          <a:latin typeface="Work Sans" panose="00000500000000000000" pitchFamily="2" charset="0"/>
                          <a:ea typeface="+mn-ea"/>
                          <a:cs typeface="+mn-cs"/>
                        </a:rPr>
                        <a:t>Massif bornes </a:t>
                      </a:r>
                      <a:r>
                        <a:rPr lang="fr-FR" sz="1200" i="1" kern="1200" dirty="0">
                          <a:solidFill>
                            <a:schemeClr val="tx1"/>
                          </a:solidFill>
                          <a:latin typeface="Work Sans" panose="00000500000000000000" pitchFamily="2" charset="0"/>
                          <a:ea typeface="+mn-ea"/>
                          <a:cs typeface="+mn-cs"/>
                        </a:rPr>
                        <a:t>(Préciser si hors standard)</a:t>
                      </a:r>
                    </a:p>
                    <a:p>
                      <a:pPr marL="342900" lvl="0" indent="-342900" algn="l">
                        <a:lnSpc>
                          <a:spcPct val="115000"/>
                        </a:lnSpc>
                        <a:spcAft>
                          <a:spcPts val="1000"/>
                        </a:spcAft>
                        <a:buFont typeface="Wingdings" panose="05000000000000000000" pitchFamily="2" charset="2"/>
                        <a:buChar char="q"/>
                      </a:pPr>
                      <a:r>
                        <a:rPr lang="fr-FR" sz="1200" kern="1200" dirty="0">
                          <a:solidFill>
                            <a:schemeClr val="tx1"/>
                          </a:solidFill>
                          <a:latin typeface="Work Sans" panose="00000500000000000000" pitchFamily="2" charset="0"/>
                          <a:ea typeface="+mn-ea"/>
                          <a:cs typeface="+mn-cs"/>
                        </a:rPr>
                        <a:t>Pose murale</a:t>
                      </a:r>
                    </a:p>
                  </a:txBody>
                  <a:tcPr marL="68580" marR="68580" marT="0" marB="0" anchor="ctr">
                    <a:solidFill>
                      <a:schemeClr val="accent5">
                        <a:lumMod val="20000"/>
                        <a:lumOff val="80000"/>
                      </a:schemeClr>
                    </a:solidFill>
                  </a:tcPr>
                </a:tc>
                <a:tc hMerge="1">
                  <a:txBody>
                    <a:bodyPr/>
                    <a:lstStyle/>
                    <a:p>
                      <a:endParaRPr lang="fr-FR"/>
                    </a:p>
                  </a:txBody>
                  <a:tcPr/>
                </a:tc>
                <a:tc gridSpan="2">
                  <a:txBody>
                    <a:bodyPr/>
                    <a:lstStyle/>
                    <a:p>
                      <a:pPr marL="342900" lvl="0" indent="-342900" algn="l">
                        <a:lnSpc>
                          <a:spcPct val="115000"/>
                        </a:lnSpc>
                        <a:spcAft>
                          <a:spcPts val="1000"/>
                        </a:spcAft>
                        <a:buFont typeface="Wingdings" panose="05000000000000000000" pitchFamily="2" charset="2"/>
                        <a:buChar char="q"/>
                      </a:pPr>
                      <a:r>
                        <a:rPr lang="fr-FR" sz="1200" kern="1200" dirty="0">
                          <a:solidFill>
                            <a:schemeClr val="tx1"/>
                          </a:solidFill>
                          <a:latin typeface="Work Sans" panose="00000500000000000000" pitchFamily="2" charset="0"/>
                          <a:ea typeface="+mn-ea"/>
                          <a:cs typeface="+mn-cs"/>
                        </a:rPr>
                        <a:t>Massif TD </a:t>
                      </a:r>
                      <a:endParaRPr lang="fr-FR" sz="1200" kern="1200" dirty="0">
                        <a:solidFill>
                          <a:schemeClr val="tx1"/>
                        </a:solidFill>
                        <a:highlight>
                          <a:srgbClr val="FFFF00"/>
                        </a:highlight>
                        <a:latin typeface="Work Sans" panose="00000500000000000000" pitchFamily="2" charset="0"/>
                        <a:ea typeface="+mn-ea"/>
                        <a:cs typeface="+mn-cs"/>
                      </a:endParaRPr>
                    </a:p>
                    <a:p>
                      <a:pPr marL="342900" lvl="0" indent="-342900" algn="l">
                        <a:lnSpc>
                          <a:spcPct val="115000"/>
                        </a:lnSpc>
                        <a:spcAft>
                          <a:spcPts val="1000"/>
                        </a:spcAft>
                        <a:buFont typeface="Wingdings" panose="05000000000000000000" pitchFamily="2" charset="2"/>
                        <a:buChar char="q"/>
                      </a:pPr>
                      <a:r>
                        <a:rPr lang="fr-FR" sz="1200" kern="1200" dirty="0">
                          <a:solidFill>
                            <a:schemeClr val="tx1"/>
                          </a:solidFill>
                          <a:latin typeface="Work Sans" panose="00000500000000000000" pitchFamily="2" charset="0"/>
                          <a:ea typeface="+mn-ea"/>
                          <a:cs typeface="+mn-cs"/>
                        </a:rPr>
                        <a:t>Pas de TD ou pose murale</a:t>
                      </a:r>
                    </a:p>
                  </a:txBody>
                  <a:tcPr marL="68580" marR="68580" marT="0" marB="0" anchor="ctr">
                    <a:solidFill>
                      <a:schemeClr val="accent5">
                        <a:lumMod val="20000"/>
                        <a:lumOff val="80000"/>
                      </a:schemeClr>
                    </a:solidFill>
                  </a:tcPr>
                </a:tc>
                <a:tc hMerge="1">
                  <a:txBody>
                    <a:bodyPr/>
                    <a:lstStyle/>
                    <a:p>
                      <a:endParaRPr lang="fr-FR"/>
                    </a:p>
                  </a:txBody>
                  <a:tcPr/>
                </a:tc>
                <a:extLst>
                  <a:ext uri="{0D108BD9-81ED-4DB2-BD59-A6C34878D82A}">
                    <a16:rowId xmlns:a16="http://schemas.microsoft.com/office/drawing/2014/main" val="233703708"/>
                  </a:ext>
                </a:extLst>
              </a:tr>
            </a:tbl>
          </a:graphicData>
        </a:graphic>
      </p:graphicFrame>
      <p:graphicFrame>
        <p:nvGraphicFramePr>
          <p:cNvPr id="4" name="Tableau 6">
            <a:extLst>
              <a:ext uri="{FF2B5EF4-FFF2-40B4-BE49-F238E27FC236}">
                <a16:creationId xmlns:a16="http://schemas.microsoft.com/office/drawing/2014/main" id="{F4592D91-2D3B-1356-D0F3-BBFB4EB09C7F}"/>
              </a:ext>
            </a:extLst>
          </p:cNvPr>
          <p:cNvGraphicFramePr>
            <a:graphicFrameLocks noGrp="1"/>
          </p:cNvGraphicFramePr>
          <p:nvPr>
            <p:extLst>
              <p:ext uri="{D42A27DB-BD31-4B8C-83A1-F6EECF244321}">
                <p14:modId xmlns:p14="http://schemas.microsoft.com/office/powerpoint/2010/main" val="372471564"/>
              </p:ext>
            </p:extLst>
          </p:nvPr>
        </p:nvGraphicFramePr>
        <p:xfrm>
          <a:off x="313722" y="2791534"/>
          <a:ext cx="11564551" cy="1312325"/>
        </p:xfrm>
        <a:graphic>
          <a:graphicData uri="http://schemas.openxmlformats.org/drawingml/2006/table">
            <a:tbl>
              <a:tblPr firstRow="1" bandRow="1">
                <a:tableStyleId>{5940675A-B579-460E-94D1-54222C63F5DA}</a:tableStyleId>
              </a:tblPr>
              <a:tblGrid>
                <a:gridCol w="4084541">
                  <a:extLst>
                    <a:ext uri="{9D8B030D-6E8A-4147-A177-3AD203B41FA5}">
                      <a16:colId xmlns:a16="http://schemas.microsoft.com/office/drawing/2014/main" val="3627121043"/>
                    </a:ext>
                  </a:extLst>
                </a:gridCol>
                <a:gridCol w="2395728">
                  <a:extLst>
                    <a:ext uri="{9D8B030D-6E8A-4147-A177-3AD203B41FA5}">
                      <a16:colId xmlns:a16="http://schemas.microsoft.com/office/drawing/2014/main" val="483153839"/>
                    </a:ext>
                  </a:extLst>
                </a:gridCol>
                <a:gridCol w="1143000">
                  <a:extLst>
                    <a:ext uri="{9D8B030D-6E8A-4147-A177-3AD203B41FA5}">
                      <a16:colId xmlns:a16="http://schemas.microsoft.com/office/drawing/2014/main" val="4155024607"/>
                    </a:ext>
                  </a:extLst>
                </a:gridCol>
                <a:gridCol w="1380745">
                  <a:extLst>
                    <a:ext uri="{9D8B030D-6E8A-4147-A177-3AD203B41FA5}">
                      <a16:colId xmlns:a16="http://schemas.microsoft.com/office/drawing/2014/main" val="3092726822"/>
                    </a:ext>
                  </a:extLst>
                </a:gridCol>
                <a:gridCol w="2560537">
                  <a:extLst>
                    <a:ext uri="{9D8B030D-6E8A-4147-A177-3AD203B41FA5}">
                      <a16:colId xmlns:a16="http://schemas.microsoft.com/office/drawing/2014/main" val="3900013462"/>
                    </a:ext>
                  </a:extLst>
                </a:gridCol>
              </a:tblGrid>
              <a:tr h="228994">
                <a:tc gridSpan="5">
                  <a:txBody>
                    <a:bodyPr/>
                    <a:lstStyle/>
                    <a:p>
                      <a:r>
                        <a:rPr lang="fr-FR" sz="1200" b="1" dirty="0">
                          <a:solidFill>
                            <a:schemeClr val="bg1"/>
                          </a:solidFill>
                          <a:latin typeface="Work Sans" panose="00000500000000000000" pitchFamily="2" charset="0"/>
                        </a:rPr>
                        <a:t>TRAVAUX D’AMENAGEMENT DES PLACES</a:t>
                      </a:r>
                    </a:p>
                  </a:txBody>
                  <a:tcPr>
                    <a:solidFill>
                      <a:schemeClr val="accent1"/>
                    </a:solidFill>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2459031976"/>
                  </a:ext>
                </a:extLst>
              </a:tr>
              <a:tr h="318644">
                <a:tc>
                  <a:txBody>
                    <a:bodyPr/>
                    <a:lstStyle/>
                    <a:p>
                      <a:pPr marL="0" algn="l" defTabSz="914400" rtl="0" eaLnBrk="1" latinLnBrk="0" hangingPunct="1">
                        <a:lnSpc>
                          <a:spcPct val="107000"/>
                        </a:lnSpc>
                        <a:spcAft>
                          <a:spcPts val="800"/>
                        </a:spcAft>
                      </a:pPr>
                      <a:r>
                        <a:rPr lang="fr-FR" sz="1200" kern="1200" dirty="0">
                          <a:solidFill>
                            <a:schemeClr val="tx1"/>
                          </a:solidFill>
                          <a:latin typeface="Work Sans" panose="00000500000000000000" pitchFamily="2" charset="0"/>
                          <a:ea typeface="+mn-ea"/>
                          <a:cs typeface="+mn-cs"/>
                        </a:rPr>
                        <a:t>Signalétique verticale (Panneaux)</a:t>
                      </a:r>
                    </a:p>
                  </a:txBody>
                  <a:tcPr marL="34925" marR="34925" marT="34925" marB="34925" anchor="ctr"/>
                </a:tc>
                <a:tc gridSpan="2">
                  <a:txBody>
                    <a:bodyPr/>
                    <a:lstStyle/>
                    <a:p>
                      <a:pPr marL="342900" lvl="0" indent="-342900" algn="l">
                        <a:lnSpc>
                          <a:spcPct val="115000"/>
                        </a:lnSpc>
                        <a:spcAft>
                          <a:spcPts val="1000"/>
                        </a:spcAft>
                        <a:buFont typeface="Wingdings" panose="05000000000000000000" pitchFamily="2" charset="2"/>
                        <a:buChar char="q"/>
                      </a:pPr>
                      <a:r>
                        <a:rPr lang="fr-FR" sz="1200" kern="1200" dirty="0">
                          <a:solidFill>
                            <a:schemeClr val="tx1"/>
                          </a:solidFill>
                          <a:latin typeface="Work Sans" panose="00000500000000000000" pitchFamily="2" charset="0"/>
                          <a:ea typeface="+mn-ea"/>
                          <a:cs typeface="+mn-cs"/>
                        </a:rPr>
                        <a:t>Oui (Voir rendu photo)</a:t>
                      </a:r>
                    </a:p>
                  </a:txBody>
                  <a:tcPr marL="68580" marR="68580" marT="0" marB="0" anchor="ctr">
                    <a:solidFill>
                      <a:schemeClr val="accent5">
                        <a:lumMod val="20000"/>
                        <a:lumOff val="80000"/>
                      </a:schemeClr>
                    </a:solidFill>
                  </a:tcPr>
                </a:tc>
                <a:tc hMerge="1">
                  <a:txBody>
                    <a:bodyPr/>
                    <a:lstStyle/>
                    <a:p>
                      <a:pPr marL="342900" marR="0" lvl="0" indent="-342900" algn="l" defTabSz="914400" rtl="0" eaLnBrk="1" fontAlgn="auto" latinLnBrk="0" hangingPunct="1">
                        <a:lnSpc>
                          <a:spcPct val="115000"/>
                        </a:lnSpc>
                        <a:spcBef>
                          <a:spcPts val="0"/>
                        </a:spcBef>
                        <a:spcAft>
                          <a:spcPts val="1000"/>
                        </a:spcAft>
                        <a:buClrTx/>
                        <a:buSzTx/>
                        <a:buFont typeface="Wingdings" panose="05000000000000000000" pitchFamily="2" charset="2"/>
                        <a:buChar char="q"/>
                        <a:tabLst/>
                        <a:defRPr/>
                      </a:pPr>
                      <a:endParaRPr lang="fr-FR" sz="1200" kern="1200" dirty="0">
                        <a:solidFill>
                          <a:schemeClr val="tx1"/>
                        </a:solidFill>
                        <a:latin typeface="Work Sans" panose="00000500000000000000" pitchFamily="2" charset="0"/>
                        <a:ea typeface="+mn-ea"/>
                        <a:cs typeface="+mn-cs"/>
                      </a:endParaRPr>
                    </a:p>
                  </a:txBody>
                  <a:tcPr marL="68580" marR="68580" marT="0" marB="0" anchor="ctr"/>
                </a:tc>
                <a:tc gridSpan="2">
                  <a:txBody>
                    <a:bodyPr/>
                    <a:lstStyle/>
                    <a:p>
                      <a:pPr marL="342900" lvl="0" indent="-342900" algn="l">
                        <a:lnSpc>
                          <a:spcPct val="115000"/>
                        </a:lnSpc>
                        <a:spcAft>
                          <a:spcPts val="1000"/>
                        </a:spcAft>
                        <a:buFont typeface="Wingdings" panose="05000000000000000000" pitchFamily="2" charset="2"/>
                        <a:buChar char="q"/>
                      </a:pPr>
                      <a:r>
                        <a:rPr lang="fr-FR" sz="1200" kern="1200" dirty="0">
                          <a:solidFill>
                            <a:schemeClr val="tx1"/>
                          </a:solidFill>
                          <a:latin typeface="Work Sans" panose="00000500000000000000" pitchFamily="2" charset="0"/>
                          <a:ea typeface="+mn-ea"/>
                          <a:cs typeface="+mn-cs"/>
                        </a:rPr>
                        <a:t>Non</a:t>
                      </a:r>
                    </a:p>
                  </a:txBody>
                  <a:tcPr marL="68580" marR="68580" marT="0" marB="0" anchor="ctr">
                    <a:solidFill>
                      <a:schemeClr val="accent5">
                        <a:lumMod val="20000"/>
                        <a:lumOff val="80000"/>
                      </a:schemeClr>
                    </a:solidFill>
                  </a:tcPr>
                </a:tc>
                <a:tc hMerge="1">
                  <a:txBody>
                    <a:bodyPr/>
                    <a:lstStyle/>
                    <a:p>
                      <a:endParaRPr lang="fr-FR"/>
                    </a:p>
                  </a:txBody>
                  <a:tcPr/>
                </a:tc>
                <a:extLst>
                  <a:ext uri="{0D108BD9-81ED-4DB2-BD59-A6C34878D82A}">
                    <a16:rowId xmlns:a16="http://schemas.microsoft.com/office/drawing/2014/main" val="3376898892"/>
                  </a:ext>
                </a:extLst>
              </a:tr>
              <a:tr h="359361">
                <a:tc>
                  <a:txBody>
                    <a:bodyPr/>
                    <a:lstStyle/>
                    <a:p>
                      <a:pPr marL="0" algn="l" defTabSz="914400" rtl="0" eaLnBrk="1" latinLnBrk="0" hangingPunct="1">
                        <a:lnSpc>
                          <a:spcPct val="107000"/>
                        </a:lnSpc>
                        <a:spcAft>
                          <a:spcPts val="800"/>
                        </a:spcAft>
                      </a:pPr>
                      <a:r>
                        <a:rPr lang="fr-FR" sz="1200" kern="1200" dirty="0">
                          <a:solidFill>
                            <a:schemeClr val="tx1"/>
                          </a:solidFill>
                          <a:latin typeface="Work Sans" panose="00000500000000000000" pitchFamily="2" charset="0"/>
                          <a:ea typeface="+mn-ea"/>
                          <a:cs typeface="+mn-cs"/>
                        </a:rPr>
                        <a:t>Signalétique horizontale (Peinture)</a:t>
                      </a:r>
                    </a:p>
                  </a:txBody>
                  <a:tcPr marL="34925" marR="34925" marT="34925" marB="34925" anchor="ctr"/>
                </a:tc>
                <a:tc gridSpan="2">
                  <a:txBody>
                    <a:bodyPr/>
                    <a:lstStyle/>
                    <a:p>
                      <a:pPr marL="342900" marR="0" lvl="0" indent="-342900" algn="l" defTabSz="914400" rtl="0" eaLnBrk="1" fontAlgn="auto" latinLnBrk="0" hangingPunct="1">
                        <a:lnSpc>
                          <a:spcPct val="115000"/>
                        </a:lnSpc>
                        <a:spcBef>
                          <a:spcPts val="0"/>
                        </a:spcBef>
                        <a:spcAft>
                          <a:spcPts val="1000"/>
                        </a:spcAft>
                        <a:buClrTx/>
                        <a:buSzTx/>
                        <a:buFont typeface="Wingdings" panose="05000000000000000000" pitchFamily="2" charset="2"/>
                        <a:buChar char="q"/>
                        <a:tabLst/>
                        <a:defRPr/>
                      </a:pPr>
                      <a:r>
                        <a:rPr lang="fr-FR" sz="1200" kern="1200" dirty="0">
                          <a:solidFill>
                            <a:schemeClr val="tx1"/>
                          </a:solidFill>
                          <a:latin typeface="Work Sans" panose="00000500000000000000" pitchFamily="2" charset="0"/>
                          <a:ea typeface="+mn-ea"/>
                          <a:cs typeface="+mn-cs"/>
                        </a:rPr>
                        <a:t>Oui (Voir rendu photo)</a:t>
                      </a:r>
                    </a:p>
                  </a:txBody>
                  <a:tcPr marL="68580" marR="68580" marT="0" marB="0" anchor="ctr">
                    <a:solidFill>
                      <a:schemeClr val="accent5">
                        <a:lumMod val="20000"/>
                        <a:lumOff val="80000"/>
                      </a:schemeClr>
                    </a:solidFill>
                  </a:tcPr>
                </a:tc>
                <a:tc hMerge="1">
                  <a:txBody>
                    <a:bodyPr/>
                    <a:lstStyle/>
                    <a:p>
                      <a:pPr marL="342900" marR="0" lvl="0" indent="-342900" algn="l" defTabSz="914400" rtl="0" eaLnBrk="1" fontAlgn="auto" latinLnBrk="0" hangingPunct="1">
                        <a:lnSpc>
                          <a:spcPct val="115000"/>
                        </a:lnSpc>
                        <a:spcBef>
                          <a:spcPts val="0"/>
                        </a:spcBef>
                        <a:spcAft>
                          <a:spcPts val="1000"/>
                        </a:spcAft>
                        <a:buClrTx/>
                        <a:buSzTx/>
                        <a:buFont typeface="Wingdings" panose="05000000000000000000" pitchFamily="2" charset="2"/>
                        <a:buChar char="q"/>
                        <a:tabLst/>
                        <a:defRPr/>
                      </a:pPr>
                      <a:endParaRPr lang="fr-FR" sz="1200" kern="1200" dirty="0">
                        <a:solidFill>
                          <a:schemeClr val="tx1"/>
                        </a:solidFill>
                        <a:latin typeface="Work Sans" panose="00000500000000000000" pitchFamily="2" charset="0"/>
                        <a:ea typeface="+mn-ea"/>
                        <a:cs typeface="+mn-cs"/>
                      </a:endParaRPr>
                    </a:p>
                  </a:txBody>
                  <a:tcPr marL="68580" marR="68580" marT="0" marB="0" anchor="ctr"/>
                </a:tc>
                <a:tc gridSpan="2">
                  <a:txBody>
                    <a:bodyPr/>
                    <a:lstStyle/>
                    <a:p>
                      <a:pPr marL="342900" lvl="0" indent="-342900" algn="l">
                        <a:lnSpc>
                          <a:spcPct val="115000"/>
                        </a:lnSpc>
                        <a:spcAft>
                          <a:spcPts val="1000"/>
                        </a:spcAft>
                        <a:buFont typeface="Wingdings" panose="05000000000000000000" pitchFamily="2" charset="2"/>
                        <a:buChar char="q"/>
                      </a:pPr>
                      <a:r>
                        <a:rPr lang="fr-FR" sz="1200" kern="1200" dirty="0">
                          <a:solidFill>
                            <a:schemeClr val="tx1"/>
                          </a:solidFill>
                          <a:latin typeface="Work Sans" panose="00000500000000000000" pitchFamily="2" charset="0"/>
                          <a:ea typeface="+mn-ea"/>
                          <a:cs typeface="+mn-cs"/>
                        </a:rPr>
                        <a:t>Non</a:t>
                      </a:r>
                    </a:p>
                  </a:txBody>
                  <a:tcPr marL="68580" marR="68580" marT="0" marB="0" anchor="ctr">
                    <a:solidFill>
                      <a:schemeClr val="accent5">
                        <a:lumMod val="20000"/>
                        <a:lumOff val="80000"/>
                      </a:schemeClr>
                    </a:solidFill>
                  </a:tcPr>
                </a:tc>
                <a:tc hMerge="1">
                  <a:txBody>
                    <a:bodyPr/>
                    <a:lstStyle/>
                    <a:p>
                      <a:endParaRPr lang="fr-FR"/>
                    </a:p>
                  </a:txBody>
                  <a:tcPr/>
                </a:tc>
                <a:extLst>
                  <a:ext uri="{0D108BD9-81ED-4DB2-BD59-A6C34878D82A}">
                    <a16:rowId xmlns:a16="http://schemas.microsoft.com/office/drawing/2014/main" val="3026846166"/>
                  </a:ext>
                </a:extLst>
              </a:tr>
              <a:tr h="360000">
                <a:tc>
                  <a:txBody>
                    <a:bodyPr/>
                    <a:lstStyle/>
                    <a:p>
                      <a:pPr marL="0" algn="l" defTabSz="914400" rtl="0" eaLnBrk="1" latinLnBrk="0" hangingPunct="1">
                        <a:lnSpc>
                          <a:spcPct val="107000"/>
                        </a:lnSpc>
                        <a:spcAft>
                          <a:spcPts val="800"/>
                        </a:spcAft>
                      </a:pPr>
                      <a:r>
                        <a:rPr lang="fr-FR" sz="1200" kern="1200" dirty="0">
                          <a:solidFill>
                            <a:schemeClr val="tx1"/>
                          </a:solidFill>
                          <a:latin typeface="Work Sans" panose="00000500000000000000" pitchFamily="2" charset="0"/>
                          <a:ea typeface="+mn-ea"/>
                          <a:cs typeface="+mn-cs"/>
                        </a:rPr>
                        <a:t>Protection mécanique des bornes</a:t>
                      </a:r>
                    </a:p>
                  </a:txBody>
                  <a:tcPr marL="34925" marR="34925" marT="34925" marB="34925" anchor="ctr"/>
                </a:tc>
                <a:tc>
                  <a:txBody>
                    <a:bodyPr/>
                    <a:lstStyle/>
                    <a:p>
                      <a:pPr marL="342900" lvl="0" indent="-342900" algn="l">
                        <a:lnSpc>
                          <a:spcPct val="115000"/>
                        </a:lnSpc>
                        <a:spcAft>
                          <a:spcPts val="1000"/>
                        </a:spcAft>
                        <a:buFont typeface="Wingdings" panose="05000000000000000000" pitchFamily="2" charset="2"/>
                        <a:buChar char="q"/>
                      </a:pPr>
                      <a:r>
                        <a:rPr lang="fr-FR" sz="1200" kern="1200" dirty="0">
                          <a:solidFill>
                            <a:schemeClr val="tx1"/>
                          </a:solidFill>
                          <a:latin typeface="Work Sans" panose="00000500000000000000" pitchFamily="2" charset="0"/>
                          <a:ea typeface="+mn-ea"/>
                          <a:cs typeface="+mn-cs"/>
                        </a:rPr>
                        <a:t>Potelet</a:t>
                      </a:r>
                    </a:p>
                  </a:txBody>
                  <a:tcPr marL="68580" marR="68580" marT="0" marB="0" anchor="ctr">
                    <a:solidFill>
                      <a:schemeClr val="accent5">
                        <a:lumMod val="20000"/>
                        <a:lumOff val="80000"/>
                      </a:schemeClr>
                    </a:solidFill>
                  </a:tcPr>
                </a:tc>
                <a:tc gridSpan="2">
                  <a:txBody>
                    <a:bodyPr/>
                    <a:lstStyle/>
                    <a:p>
                      <a:pPr marL="342900" lvl="0" indent="-342900" algn="l">
                        <a:lnSpc>
                          <a:spcPct val="115000"/>
                        </a:lnSpc>
                        <a:spcAft>
                          <a:spcPts val="1000"/>
                        </a:spcAft>
                        <a:buFont typeface="Wingdings" panose="05000000000000000000" pitchFamily="2" charset="2"/>
                        <a:buChar char="q"/>
                      </a:pPr>
                      <a:r>
                        <a:rPr lang="fr-FR" sz="1200" kern="1200" dirty="0">
                          <a:solidFill>
                            <a:schemeClr val="tx1"/>
                          </a:solidFill>
                          <a:latin typeface="Work Sans" panose="00000500000000000000" pitchFamily="2" charset="0"/>
                          <a:ea typeface="+mn-ea"/>
                          <a:cs typeface="+mn-cs"/>
                        </a:rPr>
                        <a:t>Arceau</a:t>
                      </a:r>
                    </a:p>
                  </a:txBody>
                  <a:tcPr marL="68580" marR="68580" marT="0" marB="0" anchor="ctr">
                    <a:solidFill>
                      <a:schemeClr val="accent5">
                        <a:lumMod val="20000"/>
                        <a:lumOff val="80000"/>
                      </a:schemeClr>
                    </a:solidFill>
                  </a:tcPr>
                </a:tc>
                <a:tc hMerge="1">
                  <a:txBody>
                    <a:bodyPr/>
                    <a:lstStyle/>
                    <a:p>
                      <a:endParaRPr lang="fr-FR"/>
                    </a:p>
                  </a:txBody>
                  <a:tcPr/>
                </a:tc>
                <a:tc>
                  <a:txBody>
                    <a:bodyPr/>
                    <a:lstStyle/>
                    <a:p>
                      <a:pPr marL="171450" indent="-171450">
                        <a:buFont typeface="Wingdings" panose="05000000000000000000" pitchFamily="2" charset="2"/>
                        <a:buChar char="q"/>
                      </a:pPr>
                      <a:r>
                        <a:rPr lang="fr-FR" sz="1200" kern="1200" dirty="0">
                          <a:solidFill>
                            <a:schemeClr val="tx1"/>
                          </a:solidFill>
                          <a:latin typeface="Work Sans" panose="00000500000000000000" pitchFamily="2" charset="0"/>
                          <a:ea typeface="+mn-ea"/>
                          <a:cs typeface="+mn-cs"/>
                        </a:rPr>
                        <a:t>Stop roues</a:t>
                      </a:r>
                      <a:endParaRPr lang="fr-FR" dirty="0"/>
                    </a:p>
                  </a:txBody>
                  <a:tcPr marL="68580" marR="68580" marT="0" marB="0" anchor="ctr">
                    <a:solidFill>
                      <a:schemeClr val="accent5">
                        <a:lumMod val="20000"/>
                        <a:lumOff val="80000"/>
                      </a:schemeClr>
                    </a:solidFill>
                  </a:tcPr>
                </a:tc>
                <a:extLst>
                  <a:ext uri="{0D108BD9-81ED-4DB2-BD59-A6C34878D82A}">
                    <a16:rowId xmlns:a16="http://schemas.microsoft.com/office/drawing/2014/main" val="2383640335"/>
                  </a:ext>
                </a:extLst>
              </a:tr>
            </a:tbl>
          </a:graphicData>
        </a:graphic>
      </p:graphicFrame>
    </p:spTree>
    <p:extLst>
      <p:ext uri="{BB962C8B-B14F-4D97-AF65-F5344CB8AC3E}">
        <p14:creationId xmlns:p14="http://schemas.microsoft.com/office/powerpoint/2010/main" val="21952853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AF12C6-E228-1CAA-6922-5AC700A7272C}"/>
            </a:ext>
          </a:extLst>
        </p:cNvPr>
        <p:cNvGrpSpPr/>
        <p:nvPr/>
      </p:nvGrpSpPr>
      <p:grpSpPr>
        <a:xfrm>
          <a:off x="0" y="0"/>
          <a:ext cx="0" cy="0"/>
          <a:chOff x="0" y="0"/>
          <a:chExt cx="0" cy="0"/>
        </a:xfrm>
      </p:grpSpPr>
      <p:graphicFrame>
        <p:nvGraphicFramePr>
          <p:cNvPr id="4" name="Tableau 3">
            <a:extLst>
              <a:ext uri="{FF2B5EF4-FFF2-40B4-BE49-F238E27FC236}">
                <a16:creationId xmlns:a16="http://schemas.microsoft.com/office/drawing/2014/main" id="{F6A5E8CA-3B5E-BF13-FDE5-6F6F4CAC31C1}"/>
              </a:ext>
            </a:extLst>
          </p:cNvPr>
          <p:cNvGraphicFramePr>
            <a:graphicFrameLocks noGrp="1"/>
          </p:cNvGraphicFramePr>
          <p:nvPr>
            <p:extLst>
              <p:ext uri="{D42A27DB-BD31-4B8C-83A1-F6EECF244321}">
                <p14:modId xmlns:p14="http://schemas.microsoft.com/office/powerpoint/2010/main" val="209673757"/>
              </p:ext>
            </p:extLst>
          </p:nvPr>
        </p:nvGraphicFramePr>
        <p:xfrm>
          <a:off x="470593" y="227593"/>
          <a:ext cx="11030713" cy="4130802"/>
        </p:xfrm>
        <a:graphic>
          <a:graphicData uri="http://schemas.openxmlformats.org/drawingml/2006/table">
            <a:tbl>
              <a:tblPr firstRow="1" bandRow="1">
                <a:tableStyleId>{5940675A-B579-460E-94D1-54222C63F5DA}</a:tableStyleId>
              </a:tblPr>
              <a:tblGrid>
                <a:gridCol w="3227400">
                  <a:extLst>
                    <a:ext uri="{9D8B030D-6E8A-4147-A177-3AD203B41FA5}">
                      <a16:colId xmlns:a16="http://schemas.microsoft.com/office/drawing/2014/main" val="3346614604"/>
                    </a:ext>
                  </a:extLst>
                </a:gridCol>
                <a:gridCol w="4401892">
                  <a:extLst>
                    <a:ext uri="{9D8B030D-6E8A-4147-A177-3AD203B41FA5}">
                      <a16:colId xmlns:a16="http://schemas.microsoft.com/office/drawing/2014/main" val="2047231509"/>
                    </a:ext>
                  </a:extLst>
                </a:gridCol>
                <a:gridCol w="3401421">
                  <a:extLst>
                    <a:ext uri="{9D8B030D-6E8A-4147-A177-3AD203B41FA5}">
                      <a16:colId xmlns:a16="http://schemas.microsoft.com/office/drawing/2014/main" val="3682972462"/>
                    </a:ext>
                  </a:extLst>
                </a:gridCol>
              </a:tblGrid>
              <a:tr h="194956">
                <a:tc gridSpan="3">
                  <a:txBody>
                    <a:bodyPr/>
                    <a:lstStyle/>
                    <a:p>
                      <a:r>
                        <a:rPr lang="fr-FR" sz="1000" b="1" dirty="0">
                          <a:solidFill>
                            <a:schemeClr val="bg1"/>
                          </a:solidFill>
                          <a:latin typeface="Work Sans" panose="00000500000000000000" pitchFamily="2" charset="0"/>
                        </a:rPr>
                        <a:t>Planning prévisionnel standard</a:t>
                      </a:r>
                    </a:p>
                  </a:txBody>
                  <a:tcPr>
                    <a:solidFill>
                      <a:schemeClr val="accent1"/>
                    </a:solidFill>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3959824819"/>
                  </a:ext>
                </a:extLst>
              </a:tr>
              <a:tr h="160128">
                <a:tc>
                  <a:txBody>
                    <a:bodyPr/>
                    <a:lstStyle/>
                    <a:p>
                      <a:pPr marL="0" lvl="0" indent="0" algn="l" defTabSz="914400" rtl="0" eaLnBrk="1" latinLnBrk="0" hangingPunct="1">
                        <a:lnSpc>
                          <a:spcPct val="115000"/>
                        </a:lnSpc>
                        <a:spcAft>
                          <a:spcPts val="1000"/>
                        </a:spcAft>
                        <a:buFont typeface="Wingdings" panose="05000000000000000000" pitchFamily="2" charset="2"/>
                        <a:buNone/>
                      </a:pPr>
                      <a:r>
                        <a:rPr lang="fr-FR" sz="800" b="1" kern="1200" dirty="0">
                          <a:solidFill>
                            <a:schemeClr val="tx1"/>
                          </a:solidFill>
                          <a:latin typeface="Work Sans" panose="00000500000000000000" pitchFamily="2" charset="0"/>
                          <a:ea typeface="+mn-ea"/>
                          <a:cs typeface="+mn-cs"/>
                        </a:rPr>
                        <a:t>Phase Travaux</a:t>
                      </a:r>
                    </a:p>
                  </a:txBody>
                  <a:tcPr marL="34925" marR="34925" marT="34925" marB="34925" anchor="ctr"/>
                </a:tc>
                <a:tc>
                  <a:txBody>
                    <a:bodyPr/>
                    <a:lstStyle/>
                    <a:p>
                      <a:pPr marL="0" lvl="0" indent="0" algn="l" defTabSz="914400" rtl="0" eaLnBrk="1" latinLnBrk="0" hangingPunct="1">
                        <a:lnSpc>
                          <a:spcPct val="115000"/>
                        </a:lnSpc>
                        <a:spcAft>
                          <a:spcPts val="1000"/>
                        </a:spcAft>
                        <a:buFont typeface="Wingdings" panose="05000000000000000000" pitchFamily="2" charset="2"/>
                        <a:buNone/>
                      </a:pPr>
                      <a:r>
                        <a:rPr lang="fr-FR" sz="800" b="1" kern="1200" dirty="0">
                          <a:solidFill>
                            <a:schemeClr val="tx1"/>
                          </a:solidFill>
                          <a:latin typeface="Work Sans" panose="00000500000000000000" pitchFamily="2" charset="0"/>
                          <a:ea typeface="+mn-ea"/>
                          <a:cs typeface="+mn-cs"/>
                        </a:rPr>
                        <a:t>Prérequis nécessaire au commencement de la phase travaux</a:t>
                      </a:r>
                    </a:p>
                  </a:txBody>
                  <a:tcPr marL="68580" marR="68580" marT="0" marB="0" anchor="ctr"/>
                </a:tc>
                <a:tc>
                  <a:txBody>
                    <a:bodyPr/>
                    <a:lstStyle/>
                    <a:p>
                      <a:pPr marL="0" marR="0" lvl="0" indent="0" algn="l" defTabSz="914400" rtl="0" eaLnBrk="1" fontAlgn="auto" latinLnBrk="0" hangingPunct="1">
                        <a:lnSpc>
                          <a:spcPct val="115000"/>
                        </a:lnSpc>
                        <a:spcBef>
                          <a:spcPts val="0"/>
                        </a:spcBef>
                        <a:spcAft>
                          <a:spcPts val="1000"/>
                        </a:spcAft>
                        <a:buClrTx/>
                        <a:buSzTx/>
                        <a:buFont typeface="Wingdings" panose="05000000000000000000" pitchFamily="2" charset="2"/>
                        <a:buNone/>
                        <a:tabLst/>
                        <a:defRPr/>
                      </a:pPr>
                      <a:r>
                        <a:rPr lang="fr-FR" sz="800" b="1" kern="1200" dirty="0">
                          <a:solidFill>
                            <a:schemeClr val="tx1"/>
                          </a:solidFill>
                          <a:latin typeface="Work Sans" panose="00000500000000000000" pitchFamily="2" charset="0"/>
                          <a:ea typeface="+mn-ea"/>
                          <a:cs typeface="+mn-cs"/>
                        </a:rPr>
                        <a:t>Délai de la phase travaux (jours ouvrés)</a:t>
                      </a:r>
                    </a:p>
                  </a:txBody>
                  <a:tcPr marL="68580" marR="68580" marT="0" marB="0" anchor="ctr"/>
                </a:tc>
                <a:extLst>
                  <a:ext uri="{0D108BD9-81ED-4DB2-BD59-A6C34878D82A}">
                    <a16:rowId xmlns:a16="http://schemas.microsoft.com/office/drawing/2014/main" val="1971748737"/>
                  </a:ext>
                </a:extLst>
              </a:tr>
              <a:tr h="531560">
                <a:tc>
                  <a:txBody>
                    <a:bodyPr/>
                    <a:lstStyle/>
                    <a:p>
                      <a:pPr marL="0" lvl="0" indent="0" algn="l" defTabSz="914400" rtl="0" eaLnBrk="1" latinLnBrk="0" hangingPunct="1">
                        <a:lnSpc>
                          <a:spcPct val="115000"/>
                        </a:lnSpc>
                        <a:spcAft>
                          <a:spcPts val="1000"/>
                        </a:spcAft>
                        <a:buFont typeface="Wingdings" panose="05000000000000000000" pitchFamily="2" charset="2"/>
                        <a:buNone/>
                      </a:pPr>
                      <a:r>
                        <a:rPr lang="fr-FR" sz="800" kern="1200" dirty="0">
                          <a:solidFill>
                            <a:schemeClr val="tx1"/>
                          </a:solidFill>
                          <a:latin typeface="Work Sans" panose="00000500000000000000" pitchFamily="2" charset="0"/>
                          <a:ea typeface="+mn-ea"/>
                          <a:cs typeface="+mn-cs"/>
                        </a:rPr>
                        <a:t>Commandes de matériel, </a:t>
                      </a:r>
                      <a:r>
                        <a:rPr lang="fr-FR" sz="800" kern="1200" dirty="0" err="1">
                          <a:solidFill>
                            <a:schemeClr val="tx1"/>
                          </a:solidFill>
                          <a:latin typeface="Work Sans" panose="00000500000000000000" pitchFamily="2" charset="0"/>
                          <a:ea typeface="+mn-ea"/>
                          <a:cs typeface="+mn-cs"/>
                        </a:rPr>
                        <a:t>préconfiguration</a:t>
                      </a:r>
                      <a:r>
                        <a:rPr lang="fr-FR" sz="800" kern="1200" dirty="0">
                          <a:solidFill>
                            <a:schemeClr val="tx1"/>
                          </a:solidFill>
                          <a:latin typeface="Work Sans" panose="00000500000000000000" pitchFamily="2" charset="0"/>
                          <a:ea typeface="+mn-ea"/>
                          <a:cs typeface="+mn-cs"/>
                        </a:rPr>
                        <a:t> du matériel informatique, expédition</a:t>
                      </a:r>
                    </a:p>
                  </a:txBody>
                  <a:tcPr marL="34925" marR="34925" marT="34925" marB="34925" anchor="ctr"/>
                </a:tc>
                <a:tc>
                  <a:txBody>
                    <a:bodyPr/>
                    <a:lstStyle/>
                    <a:p>
                      <a:pPr marL="0" lvl="0" indent="0" algn="l" defTabSz="914400" rtl="0" eaLnBrk="1" latinLnBrk="0" hangingPunct="1">
                        <a:lnSpc>
                          <a:spcPct val="115000"/>
                        </a:lnSpc>
                        <a:spcAft>
                          <a:spcPts val="1000"/>
                        </a:spcAft>
                        <a:buFont typeface="Wingdings" panose="05000000000000000000" pitchFamily="2" charset="2"/>
                        <a:buNone/>
                      </a:pPr>
                      <a:r>
                        <a:rPr lang="fr-FR" sz="800" kern="1200" dirty="0">
                          <a:solidFill>
                            <a:schemeClr val="tx1"/>
                          </a:solidFill>
                          <a:latin typeface="Work Sans" panose="00000500000000000000" pitchFamily="2" charset="0"/>
                          <a:ea typeface="+mn-ea"/>
                          <a:cs typeface="+mn-cs"/>
                        </a:rPr>
                        <a:t>Commande client réalisée, APS validé par toutes les parties</a:t>
                      </a:r>
                    </a:p>
                  </a:txBody>
                  <a:tcPr marL="68580" marR="68580" marT="0" marB="0" anchor="ctr"/>
                </a:tc>
                <a:tc>
                  <a:txBody>
                    <a:bodyPr/>
                    <a:lstStyle/>
                    <a:p>
                      <a:pPr marL="0" lvl="0" indent="0" algn="ctr" defTabSz="914400" rtl="0" eaLnBrk="1" latinLnBrk="0" hangingPunct="1">
                        <a:lnSpc>
                          <a:spcPct val="115000"/>
                        </a:lnSpc>
                        <a:spcAft>
                          <a:spcPts val="1000"/>
                        </a:spcAft>
                        <a:buFont typeface="Wingdings" panose="05000000000000000000" pitchFamily="2" charset="2"/>
                        <a:buNone/>
                      </a:pPr>
                      <a:r>
                        <a:rPr lang="fr-FR" sz="800" kern="1200" dirty="0">
                          <a:solidFill>
                            <a:schemeClr val="tx1"/>
                          </a:solidFill>
                          <a:latin typeface="Work Sans" panose="00000500000000000000" pitchFamily="2" charset="0"/>
                          <a:ea typeface="+mn-ea"/>
                          <a:cs typeface="+mn-cs"/>
                        </a:rPr>
                        <a:t>Commande : 1 jour ouvré</a:t>
                      </a:r>
                    </a:p>
                    <a:p>
                      <a:pPr marL="0" lvl="0" indent="0" algn="ctr" defTabSz="914400" rtl="0" eaLnBrk="1" latinLnBrk="0" hangingPunct="1">
                        <a:lnSpc>
                          <a:spcPct val="115000"/>
                        </a:lnSpc>
                        <a:spcAft>
                          <a:spcPts val="1000"/>
                        </a:spcAft>
                        <a:buFont typeface="Wingdings" panose="05000000000000000000" pitchFamily="2" charset="2"/>
                        <a:buNone/>
                      </a:pPr>
                      <a:r>
                        <a:rPr lang="fr-FR" sz="800" kern="1200" dirty="0" err="1">
                          <a:solidFill>
                            <a:schemeClr val="tx1"/>
                          </a:solidFill>
                          <a:latin typeface="Work Sans" panose="00000500000000000000" pitchFamily="2" charset="0"/>
                          <a:ea typeface="+mn-ea"/>
                          <a:cs typeface="+mn-cs"/>
                        </a:rPr>
                        <a:t>Préconfiguration</a:t>
                      </a:r>
                      <a:r>
                        <a:rPr lang="fr-FR" sz="800" kern="1200" dirty="0">
                          <a:solidFill>
                            <a:schemeClr val="tx1"/>
                          </a:solidFill>
                          <a:latin typeface="Work Sans" panose="00000500000000000000" pitchFamily="2" charset="0"/>
                          <a:ea typeface="+mn-ea"/>
                          <a:cs typeface="+mn-cs"/>
                        </a:rPr>
                        <a:t> : 5 jours ouvrés</a:t>
                      </a:r>
                    </a:p>
                    <a:p>
                      <a:pPr marL="0" lvl="0" indent="0" algn="ctr" defTabSz="914400" rtl="0" eaLnBrk="1" latinLnBrk="0" hangingPunct="1">
                        <a:lnSpc>
                          <a:spcPct val="115000"/>
                        </a:lnSpc>
                        <a:spcAft>
                          <a:spcPts val="1000"/>
                        </a:spcAft>
                        <a:buFont typeface="Wingdings" panose="05000000000000000000" pitchFamily="2" charset="2"/>
                        <a:buNone/>
                      </a:pPr>
                      <a:r>
                        <a:rPr lang="fr-FR" sz="800" kern="1200" dirty="0">
                          <a:solidFill>
                            <a:schemeClr val="tx1"/>
                          </a:solidFill>
                          <a:latin typeface="Work Sans" panose="00000500000000000000" pitchFamily="2" charset="0"/>
                          <a:ea typeface="+mn-ea"/>
                          <a:cs typeface="+mn-cs"/>
                        </a:rPr>
                        <a:t>Expédition : 15 jours ouvrés</a:t>
                      </a:r>
                    </a:p>
                  </a:txBody>
                  <a:tcPr marL="68580" marR="68580" marT="0" marB="0" anchor="ctr"/>
                </a:tc>
                <a:extLst>
                  <a:ext uri="{0D108BD9-81ED-4DB2-BD59-A6C34878D82A}">
                    <a16:rowId xmlns:a16="http://schemas.microsoft.com/office/drawing/2014/main" val="1378222230"/>
                  </a:ext>
                </a:extLst>
              </a:tr>
              <a:tr h="162731">
                <a:tc>
                  <a:txBody>
                    <a:bodyPr/>
                    <a:lstStyle/>
                    <a:p>
                      <a:pPr marL="0" lvl="0" indent="0" algn="l" defTabSz="914400" rtl="0" eaLnBrk="1" latinLnBrk="0" hangingPunct="1">
                        <a:lnSpc>
                          <a:spcPct val="115000"/>
                        </a:lnSpc>
                        <a:spcAft>
                          <a:spcPts val="1000"/>
                        </a:spcAft>
                        <a:buFont typeface="Wingdings" panose="05000000000000000000" pitchFamily="2" charset="2"/>
                        <a:buNone/>
                      </a:pPr>
                      <a:r>
                        <a:rPr lang="fr-FR" sz="800" kern="1200" dirty="0">
                          <a:solidFill>
                            <a:schemeClr val="tx1"/>
                          </a:solidFill>
                          <a:latin typeface="Work Sans" panose="00000500000000000000" pitchFamily="2" charset="0"/>
                          <a:ea typeface="+mn-ea"/>
                          <a:cs typeface="+mn-cs"/>
                        </a:rPr>
                        <a:t>VIC</a:t>
                      </a:r>
                    </a:p>
                  </a:txBody>
                  <a:tcPr marL="34925" marR="34925" marT="34925" marB="34925" anchor="ctr"/>
                </a:tc>
                <a:tc>
                  <a:txBody>
                    <a:bodyPr/>
                    <a:lstStyle/>
                    <a:p>
                      <a:pPr marL="0" lvl="0" indent="0" algn="l" defTabSz="914400" rtl="0" eaLnBrk="1" latinLnBrk="0" hangingPunct="1">
                        <a:lnSpc>
                          <a:spcPct val="115000"/>
                        </a:lnSpc>
                        <a:spcAft>
                          <a:spcPts val="1000"/>
                        </a:spcAft>
                        <a:buFont typeface="Wingdings" panose="05000000000000000000" pitchFamily="2" charset="2"/>
                        <a:buNone/>
                      </a:pPr>
                      <a:r>
                        <a:rPr lang="fr-FR" sz="800" kern="1200" dirty="0">
                          <a:solidFill>
                            <a:schemeClr val="tx1"/>
                          </a:solidFill>
                          <a:latin typeface="Work Sans" panose="00000500000000000000" pitchFamily="2" charset="0"/>
                          <a:ea typeface="+mn-ea"/>
                          <a:cs typeface="+mn-cs"/>
                        </a:rPr>
                        <a:t>RDV accepté par toutes les parties (Izivia – Installateur – Client)</a:t>
                      </a:r>
                    </a:p>
                  </a:txBody>
                  <a:tcPr marL="68580" marR="68580" marT="0" marB="0" anchor="ctr"/>
                </a:tc>
                <a:tc>
                  <a:txBody>
                    <a:bodyPr/>
                    <a:lstStyle/>
                    <a:p>
                      <a:pPr marL="0" marR="0" lvl="0" indent="0" algn="ctr" defTabSz="914400" rtl="0" eaLnBrk="1" fontAlgn="auto" latinLnBrk="0" hangingPunct="1">
                        <a:lnSpc>
                          <a:spcPct val="115000"/>
                        </a:lnSpc>
                        <a:spcBef>
                          <a:spcPts val="0"/>
                        </a:spcBef>
                        <a:spcAft>
                          <a:spcPts val="1000"/>
                        </a:spcAft>
                        <a:buClrTx/>
                        <a:buSzTx/>
                        <a:buFont typeface="Wingdings" panose="05000000000000000000" pitchFamily="2" charset="2"/>
                        <a:buNone/>
                        <a:tabLst/>
                        <a:defRPr/>
                      </a:pPr>
                      <a:r>
                        <a:rPr lang="fr-FR" sz="800" kern="1200" dirty="0">
                          <a:solidFill>
                            <a:schemeClr val="tx1"/>
                          </a:solidFill>
                          <a:latin typeface="Work Sans" panose="00000500000000000000" pitchFamily="2" charset="0"/>
                          <a:ea typeface="+mn-ea"/>
                          <a:cs typeface="+mn-cs"/>
                        </a:rPr>
                        <a:t>½ journée</a:t>
                      </a:r>
                    </a:p>
                  </a:txBody>
                  <a:tcPr marL="68580" marR="68580" marT="0" marB="0" anchor="ctr"/>
                </a:tc>
                <a:extLst>
                  <a:ext uri="{0D108BD9-81ED-4DB2-BD59-A6C34878D82A}">
                    <a16:rowId xmlns:a16="http://schemas.microsoft.com/office/drawing/2014/main" val="2386625558"/>
                  </a:ext>
                </a:extLst>
              </a:tr>
              <a:tr h="162731">
                <a:tc>
                  <a:txBody>
                    <a:bodyPr/>
                    <a:lstStyle/>
                    <a:p>
                      <a:pPr marL="0" lvl="0" indent="0" algn="l" defTabSz="914400" rtl="0" eaLnBrk="1" latinLnBrk="0" hangingPunct="1">
                        <a:lnSpc>
                          <a:spcPct val="115000"/>
                        </a:lnSpc>
                        <a:spcAft>
                          <a:spcPts val="1000"/>
                        </a:spcAft>
                        <a:buFont typeface="Wingdings" panose="05000000000000000000" pitchFamily="2" charset="2"/>
                        <a:buNone/>
                      </a:pPr>
                      <a:r>
                        <a:rPr lang="fr-FR" sz="800" kern="1200" dirty="0">
                          <a:solidFill>
                            <a:schemeClr val="tx1"/>
                          </a:solidFill>
                          <a:latin typeface="Work Sans" panose="00000500000000000000" pitchFamily="2" charset="0"/>
                          <a:ea typeface="+mn-ea"/>
                          <a:cs typeface="+mn-cs"/>
                        </a:rPr>
                        <a:t>Géo détection</a:t>
                      </a:r>
                    </a:p>
                  </a:txBody>
                  <a:tcPr marL="34925" marR="34925" marT="34925" marB="34925" anchor="ctr"/>
                </a:tc>
                <a:tc>
                  <a:txBody>
                    <a:bodyPr/>
                    <a:lstStyle/>
                    <a:p>
                      <a:pPr marL="0" lvl="0" indent="0" algn="l" defTabSz="914400" rtl="0" eaLnBrk="1" latinLnBrk="0" hangingPunct="1">
                        <a:lnSpc>
                          <a:spcPct val="115000"/>
                        </a:lnSpc>
                        <a:spcAft>
                          <a:spcPts val="1000"/>
                        </a:spcAft>
                        <a:buFont typeface="Wingdings" panose="05000000000000000000" pitchFamily="2" charset="2"/>
                        <a:buNone/>
                      </a:pPr>
                      <a:r>
                        <a:rPr lang="fr-FR" sz="800" kern="1200" dirty="0">
                          <a:solidFill>
                            <a:schemeClr val="tx1"/>
                          </a:solidFill>
                          <a:latin typeface="Work Sans" panose="00000500000000000000" pitchFamily="2" charset="0"/>
                          <a:ea typeface="+mn-ea"/>
                          <a:cs typeface="+mn-cs"/>
                        </a:rPr>
                        <a:t>PDP signé</a:t>
                      </a:r>
                    </a:p>
                  </a:txBody>
                  <a:tcPr marL="68580" marR="68580" marT="0" marB="0" anchor="ctr"/>
                </a:tc>
                <a:tc>
                  <a:txBody>
                    <a:bodyPr/>
                    <a:lstStyle/>
                    <a:p>
                      <a:pPr marL="0" marR="0" lvl="0" indent="0" algn="ctr" defTabSz="914400" rtl="0" eaLnBrk="1" fontAlgn="auto" latinLnBrk="0" hangingPunct="1">
                        <a:lnSpc>
                          <a:spcPct val="115000"/>
                        </a:lnSpc>
                        <a:spcBef>
                          <a:spcPts val="0"/>
                        </a:spcBef>
                        <a:spcAft>
                          <a:spcPts val="1000"/>
                        </a:spcAft>
                        <a:buClrTx/>
                        <a:buSzTx/>
                        <a:buFont typeface="Wingdings" panose="05000000000000000000" pitchFamily="2" charset="2"/>
                        <a:buNone/>
                        <a:tabLst/>
                        <a:defRPr/>
                      </a:pPr>
                      <a:r>
                        <a:rPr lang="fr-FR" sz="800" kern="1200" dirty="0">
                          <a:solidFill>
                            <a:schemeClr val="tx1"/>
                          </a:solidFill>
                          <a:latin typeface="Work Sans" panose="00000500000000000000" pitchFamily="2" charset="0"/>
                          <a:ea typeface="+mn-ea"/>
                          <a:cs typeface="+mn-cs"/>
                        </a:rPr>
                        <a:t>½ journée</a:t>
                      </a:r>
                    </a:p>
                  </a:txBody>
                  <a:tcPr marL="68580" marR="68580" marT="0" marB="0" anchor="ctr"/>
                </a:tc>
                <a:extLst>
                  <a:ext uri="{0D108BD9-81ED-4DB2-BD59-A6C34878D82A}">
                    <a16:rowId xmlns:a16="http://schemas.microsoft.com/office/drawing/2014/main" val="658591794"/>
                  </a:ext>
                </a:extLst>
              </a:tr>
              <a:tr h="162731">
                <a:tc>
                  <a:txBody>
                    <a:bodyPr/>
                    <a:lstStyle/>
                    <a:p>
                      <a:pPr marL="0" lvl="0" indent="0" algn="l" defTabSz="914400" rtl="0" eaLnBrk="1" latinLnBrk="0" hangingPunct="1">
                        <a:lnSpc>
                          <a:spcPct val="115000"/>
                        </a:lnSpc>
                        <a:spcAft>
                          <a:spcPts val="1000"/>
                        </a:spcAft>
                        <a:buFont typeface="Wingdings" panose="05000000000000000000" pitchFamily="2" charset="2"/>
                        <a:buNone/>
                      </a:pPr>
                      <a:r>
                        <a:rPr lang="fr-FR" sz="800" kern="1200" dirty="0">
                          <a:solidFill>
                            <a:schemeClr val="tx1"/>
                          </a:solidFill>
                          <a:latin typeface="Work Sans" panose="00000500000000000000" pitchFamily="2" charset="0"/>
                          <a:ea typeface="+mn-ea"/>
                          <a:cs typeface="+mn-cs"/>
                        </a:rPr>
                        <a:t>Travaux Génie Civil</a:t>
                      </a:r>
                    </a:p>
                  </a:txBody>
                  <a:tcPr marL="34925" marR="34925" marT="34925" marB="34925" anchor="ctr"/>
                </a:tc>
                <a:tc>
                  <a:txBody>
                    <a:bodyPr/>
                    <a:lstStyle/>
                    <a:p>
                      <a:pPr marL="0" lvl="0" indent="0" algn="l" defTabSz="914400" rtl="0" eaLnBrk="1" latinLnBrk="0" hangingPunct="1">
                        <a:lnSpc>
                          <a:spcPct val="115000"/>
                        </a:lnSpc>
                        <a:spcAft>
                          <a:spcPts val="1000"/>
                        </a:spcAft>
                        <a:buFont typeface="Wingdings" panose="05000000000000000000" pitchFamily="2" charset="2"/>
                        <a:buNone/>
                      </a:pPr>
                      <a:r>
                        <a:rPr lang="fr-FR" sz="800" kern="1200" dirty="0">
                          <a:solidFill>
                            <a:schemeClr val="tx1"/>
                          </a:solidFill>
                          <a:latin typeface="Work Sans" panose="00000500000000000000" pitchFamily="2" charset="0"/>
                          <a:ea typeface="+mn-ea"/>
                          <a:cs typeface="+mn-cs"/>
                        </a:rPr>
                        <a:t>PDP signé</a:t>
                      </a:r>
                    </a:p>
                  </a:txBody>
                  <a:tcPr marL="68580" marR="68580" marT="0" marB="0" anchor="ctr"/>
                </a:tc>
                <a:tc>
                  <a:txBody>
                    <a:bodyPr/>
                    <a:lstStyle/>
                    <a:p>
                      <a:pPr marL="0" marR="0" lvl="0" indent="0" algn="ctr" defTabSz="914400" rtl="0" eaLnBrk="1" fontAlgn="auto" latinLnBrk="0" hangingPunct="1">
                        <a:lnSpc>
                          <a:spcPct val="115000"/>
                        </a:lnSpc>
                        <a:spcBef>
                          <a:spcPts val="0"/>
                        </a:spcBef>
                        <a:spcAft>
                          <a:spcPts val="1000"/>
                        </a:spcAft>
                        <a:buClrTx/>
                        <a:buSzTx/>
                        <a:buFont typeface="Wingdings" panose="05000000000000000000" pitchFamily="2" charset="2"/>
                        <a:buNone/>
                        <a:tabLst/>
                        <a:defRPr/>
                      </a:pPr>
                      <a:r>
                        <a:rPr lang="fr-FR" sz="800" b="1" kern="1200" dirty="0">
                          <a:solidFill>
                            <a:srgbClr val="0070C0"/>
                          </a:solidFill>
                          <a:latin typeface="Work Sans" panose="00000500000000000000" pitchFamily="2" charset="0"/>
                          <a:ea typeface="+mn-ea"/>
                          <a:cs typeface="+mn-cs"/>
                        </a:rPr>
                        <a:t>X</a:t>
                      </a:r>
                      <a:r>
                        <a:rPr lang="fr-FR" sz="800" kern="1200" dirty="0">
                          <a:solidFill>
                            <a:schemeClr val="tx1"/>
                          </a:solidFill>
                          <a:latin typeface="Work Sans" panose="00000500000000000000" pitchFamily="2" charset="0"/>
                          <a:ea typeface="+mn-ea"/>
                          <a:cs typeface="+mn-cs"/>
                        </a:rPr>
                        <a:t> jours ouvrés</a:t>
                      </a:r>
                    </a:p>
                  </a:txBody>
                  <a:tcPr marL="68580" marR="68580" marT="0" marB="0" anchor="ctr">
                    <a:solidFill>
                      <a:schemeClr val="accent5">
                        <a:lumMod val="20000"/>
                        <a:lumOff val="80000"/>
                      </a:schemeClr>
                    </a:solidFill>
                  </a:tcPr>
                </a:tc>
                <a:extLst>
                  <a:ext uri="{0D108BD9-81ED-4DB2-BD59-A6C34878D82A}">
                    <a16:rowId xmlns:a16="http://schemas.microsoft.com/office/drawing/2014/main" val="2274477502"/>
                  </a:ext>
                </a:extLst>
              </a:tr>
              <a:tr h="162731">
                <a:tc>
                  <a:txBody>
                    <a:bodyPr/>
                    <a:lstStyle/>
                    <a:p>
                      <a:pPr marL="0" marR="0" lvl="0" indent="0" algn="l" defTabSz="914400" rtl="0" eaLnBrk="1" fontAlgn="auto" latinLnBrk="0" hangingPunct="1">
                        <a:lnSpc>
                          <a:spcPct val="115000"/>
                        </a:lnSpc>
                        <a:spcBef>
                          <a:spcPts val="0"/>
                        </a:spcBef>
                        <a:spcAft>
                          <a:spcPts val="1000"/>
                        </a:spcAft>
                        <a:buClrTx/>
                        <a:buSzTx/>
                        <a:buFont typeface="Wingdings" panose="05000000000000000000" pitchFamily="2" charset="2"/>
                        <a:buNone/>
                        <a:tabLst/>
                        <a:defRPr/>
                      </a:pPr>
                      <a:r>
                        <a:rPr lang="fr-FR" sz="800" kern="1200" dirty="0">
                          <a:solidFill>
                            <a:schemeClr val="tx1"/>
                          </a:solidFill>
                          <a:latin typeface="Work Sans" panose="00000500000000000000" pitchFamily="2" charset="0"/>
                          <a:ea typeface="+mn-ea"/>
                          <a:cs typeface="+mn-cs"/>
                        </a:rPr>
                        <a:t>Travaux Génie Elec</a:t>
                      </a:r>
                    </a:p>
                  </a:txBody>
                  <a:tcPr marL="34925" marR="34925" marT="34925" marB="34925" anchor="ctr"/>
                </a:tc>
                <a:tc>
                  <a:txBody>
                    <a:bodyPr/>
                    <a:lstStyle/>
                    <a:p>
                      <a:pPr marL="0" lvl="0" indent="0" algn="l" defTabSz="914400" rtl="0" eaLnBrk="1" latinLnBrk="0" hangingPunct="1">
                        <a:lnSpc>
                          <a:spcPct val="115000"/>
                        </a:lnSpc>
                        <a:spcAft>
                          <a:spcPts val="1000"/>
                        </a:spcAft>
                        <a:buFont typeface="Wingdings" panose="05000000000000000000" pitchFamily="2" charset="2"/>
                        <a:buNone/>
                      </a:pPr>
                      <a:r>
                        <a:rPr lang="fr-FR" sz="800" kern="1200" dirty="0">
                          <a:solidFill>
                            <a:schemeClr val="tx1"/>
                          </a:solidFill>
                          <a:latin typeface="Work Sans" panose="00000500000000000000" pitchFamily="2" charset="0"/>
                          <a:ea typeface="+mn-ea"/>
                          <a:cs typeface="+mn-cs"/>
                        </a:rPr>
                        <a:t>PDP signé, Travaux GC terminés </a:t>
                      </a:r>
                    </a:p>
                  </a:txBody>
                  <a:tcPr marL="68580" marR="68580" marT="0" marB="0" anchor="ctr"/>
                </a:tc>
                <a:tc>
                  <a:txBody>
                    <a:bodyPr/>
                    <a:lstStyle/>
                    <a:p>
                      <a:pPr marL="0" marR="0" lvl="0" indent="0" algn="ctr" defTabSz="914400" rtl="0" eaLnBrk="1" fontAlgn="auto" latinLnBrk="0" hangingPunct="1">
                        <a:lnSpc>
                          <a:spcPct val="115000"/>
                        </a:lnSpc>
                        <a:spcBef>
                          <a:spcPts val="0"/>
                        </a:spcBef>
                        <a:spcAft>
                          <a:spcPts val="1000"/>
                        </a:spcAft>
                        <a:buClrTx/>
                        <a:buSzTx/>
                        <a:buFont typeface="Wingdings" panose="05000000000000000000" pitchFamily="2" charset="2"/>
                        <a:buNone/>
                        <a:tabLst/>
                        <a:defRPr/>
                      </a:pPr>
                      <a:r>
                        <a:rPr lang="fr-FR" sz="800" b="1" kern="1200" dirty="0">
                          <a:solidFill>
                            <a:srgbClr val="0070C0"/>
                          </a:solidFill>
                          <a:latin typeface="Work Sans" panose="00000500000000000000" pitchFamily="2" charset="0"/>
                          <a:ea typeface="+mn-ea"/>
                          <a:cs typeface="+mn-cs"/>
                        </a:rPr>
                        <a:t>Y</a:t>
                      </a:r>
                      <a:r>
                        <a:rPr lang="fr-FR" sz="800" kern="1200" dirty="0">
                          <a:solidFill>
                            <a:schemeClr val="tx1"/>
                          </a:solidFill>
                          <a:latin typeface="Work Sans" panose="00000500000000000000" pitchFamily="2" charset="0"/>
                          <a:ea typeface="+mn-ea"/>
                          <a:cs typeface="+mn-cs"/>
                        </a:rPr>
                        <a:t> jours ouvrés</a:t>
                      </a:r>
                    </a:p>
                  </a:txBody>
                  <a:tcPr marL="68580" marR="68580" marT="0" marB="0" anchor="ctr">
                    <a:solidFill>
                      <a:schemeClr val="accent5">
                        <a:lumMod val="20000"/>
                        <a:lumOff val="80000"/>
                      </a:schemeClr>
                    </a:solidFill>
                  </a:tcPr>
                </a:tc>
                <a:extLst>
                  <a:ext uri="{0D108BD9-81ED-4DB2-BD59-A6C34878D82A}">
                    <a16:rowId xmlns:a16="http://schemas.microsoft.com/office/drawing/2014/main" val="3854683187"/>
                  </a:ext>
                </a:extLst>
              </a:tr>
              <a:tr h="162731">
                <a:tc>
                  <a:txBody>
                    <a:bodyPr/>
                    <a:lstStyle/>
                    <a:p>
                      <a:pPr marL="0" lvl="0" indent="0" algn="l" defTabSz="914400" rtl="0" eaLnBrk="1" latinLnBrk="0" hangingPunct="1">
                        <a:lnSpc>
                          <a:spcPct val="115000"/>
                        </a:lnSpc>
                        <a:spcAft>
                          <a:spcPts val="1000"/>
                        </a:spcAft>
                        <a:buFont typeface="Wingdings" panose="05000000000000000000" pitchFamily="2" charset="2"/>
                        <a:buNone/>
                      </a:pPr>
                      <a:r>
                        <a:rPr lang="fr-FR" sz="800" kern="1200" dirty="0">
                          <a:solidFill>
                            <a:schemeClr val="tx1"/>
                          </a:solidFill>
                          <a:latin typeface="Work Sans" panose="00000500000000000000" pitchFamily="2" charset="0"/>
                          <a:ea typeface="+mn-ea"/>
                          <a:cs typeface="+mn-cs"/>
                        </a:rPr>
                        <a:t>Coupure pour raccordement</a:t>
                      </a:r>
                    </a:p>
                  </a:txBody>
                  <a:tcPr marL="34925" marR="34925" marT="34925" marB="34925" anchor="ctr"/>
                </a:tc>
                <a:tc>
                  <a:txBody>
                    <a:bodyPr/>
                    <a:lstStyle/>
                    <a:p>
                      <a:pPr marL="0" marR="0" lvl="0" indent="0" algn="l" defTabSz="914400" rtl="0" eaLnBrk="1" fontAlgn="auto" latinLnBrk="0" hangingPunct="1">
                        <a:lnSpc>
                          <a:spcPct val="115000"/>
                        </a:lnSpc>
                        <a:spcBef>
                          <a:spcPts val="0"/>
                        </a:spcBef>
                        <a:spcAft>
                          <a:spcPts val="1000"/>
                        </a:spcAft>
                        <a:buClrTx/>
                        <a:buSzTx/>
                        <a:buFont typeface="Wingdings" panose="05000000000000000000" pitchFamily="2" charset="2"/>
                        <a:buNone/>
                        <a:tabLst/>
                        <a:defRPr/>
                      </a:pPr>
                      <a:r>
                        <a:rPr lang="fr-FR" sz="800" kern="1200" dirty="0">
                          <a:solidFill>
                            <a:schemeClr val="tx1"/>
                          </a:solidFill>
                          <a:latin typeface="Work Sans" panose="00000500000000000000" pitchFamily="2" charset="0"/>
                          <a:ea typeface="+mn-ea"/>
                          <a:cs typeface="+mn-cs"/>
                        </a:rPr>
                        <a:t>PDP signé</a:t>
                      </a:r>
                    </a:p>
                  </a:txBody>
                  <a:tcPr marL="68580" marR="68580" marT="0" marB="0" anchor="ctr"/>
                </a:tc>
                <a:tc>
                  <a:txBody>
                    <a:bodyPr/>
                    <a:lstStyle/>
                    <a:p>
                      <a:pPr marL="0" marR="0" lvl="0" indent="0" algn="ctr" defTabSz="914400" rtl="0" eaLnBrk="1" fontAlgn="auto" latinLnBrk="0" hangingPunct="1">
                        <a:lnSpc>
                          <a:spcPct val="115000"/>
                        </a:lnSpc>
                        <a:spcBef>
                          <a:spcPts val="0"/>
                        </a:spcBef>
                        <a:spcAft>
                          <a:spcPts val="1000"/>
                        </a:spcAft>
                        <a:buClrTx/>
                        <a:buSzTx/>
                        <a:buFont typeface="Wingdings" panose="05000000000000000000" pitchFamily="2" charset="2"/>
                        <a:buNone/>
                        <a:tabLst/>
                        <a:defRPr/>
                      </a:pPr>
                      <a:r>
                        <a:rPr lang="fr-FR" sz="800" kern="1200" dirty="0">
                          <a:solidFill>
                            <a:schemeClr val="tx1"/>
                          </a:solidFill>
                          <a:latin typeface="Work Sans" panose="00000500000000000000" pitchFamily="2" charset="0"/>
                          <a:ea typeface="+mn-ea"/>
                          <a:cs typeface="+mn-cs"/>
                        </a:rPr>
                        <a:t>½ journée</a:t>
                      </a:r>
                    </a:p>
                  </a:txBody>
                  <a:tcPr marL="68580" marR="68580" marT="0" marB="0" anchor="ctr"/>
                </a:tc>
                <a:extLst>
                  <a:ext uri="{0D108BD9-81ED-4DB2-BD59-A6C34878D82A}">
                    <a16:rowId xmlns:a16="http://schemas.microsoft.com/office/drawing/2014/main" val="2590326466"/>
                  </a:ext>
                </a:extLst>
              </a:tr>
              <a:tr h="272228">
                <a:tc>
                  <a:txBody>
                    <a:bodyPr/>
                    <a:lstStyle/>
                    <a:p>
                      <a:pPr marL="0" lvl="0" indent="0" algn="l" defTabSz="914400" rtl="0" eaLnBrk="1" latinLnBrk="0" hangingPunct="1">
                        <a:lnSpc>
                          <a:spcPct val="115000"/>
                        </a:lnSpc>
                        <a:spcAft>
                          <a:spcPts val="1000"/>
                        </a:spcAft>
                        <a:buFont typeface="Wingdings" panose="05000000000000000000" pitchFamily="2" charset="2"/>
                        <a:buNone/>
                      </a:pPr>
                      <a:r>
                        <a:rPr lang="fr-FR" sz="800" kern="1200" dirty="0">
                          <a:solidFill>
                            <a:schemeClr val="tx1"/>
                          </a:solidFill>
                          <a:latin typeface="Work Sans" panose="00000500000000000000" pitchFamily="2" charset="0"/>
                          <a:ea typeface="+mn-ea"/>
                          <a:cs typeface="+mn-cs"/>
                        </a:rPr>
                        <a:t>Aménagement des places (signalisation, protections mécaniques)</a:t>
                      </a:r>
                    </a:p>
                  </a:txBody>
                  <a:tcPr marL="34925" marR="34925" marT="34925" marB="34925" anchor="ctr"/>
                </a:tc>
                <a:tc>
                  <a:txBody>
                    <a:bodyPr/>
                    <a:lstStyle/>
                    <a:p>
                      <a:pPr marL="0" lvl="0" indent="0" algn="l" defTabSz="914400" rtl="0" eaLnBrk="1" latinLnBrk="0" hangingPunct="1">
                        <a:lnSpc>
                          <a:spcPct val="115000"/>
                        </a:lnSpc>
                        <a:spcAft>
                          <a:spcPts val="1000"/>
                        </a:spcAft>
                        <a:buFont typeface="Wingdings" panose="05000000000000000000" pitchFamily="2" charset="2"/>
                        <a:buNone/>
                      </a:pPr>
                      <a:r>
                        <a:rPr lang="fr-FR" sz="800" kern="1200" dirty="0">
                          <a:solidFill>
                            <a:schemeClr val="tx1"/>
                          </a:solidFill>
                          <a:latin typeface="Work Sans" panose="00000500000000000000" pitchFamily="2" charset="0"/>
                          <a:ea typeface="+mn-ea"/>
                          <a:cs typeface="+mn-cs"/>
                        </a:rPr>
                        <a:t>Libération des places de parking et balisage de la zone</a:t>
                      </a:r>
                    </a:p>
                  </a:txBody>
                  <a:tcPr marL="68580" marR="68580" marT="0" marB="0" anchor="ctr"/>
                </a:tc>
                <a:tc>
                  <a:txBody>
                    <a:bodyPr/>
                    <a:lstStyle/>
                    <a:p>
                      <a:pPr marL="0" marR="0" lvl="0" indent="0" algn="ctr" defTabSz="914400" rtl="0" eaLnBrk="1" fontAlgn="auto" latinLnBrk="0" hangingPunct="1">
                        <a:lnSpc>
                          <a:spcPct val="115000"/>
                        </a:lnSpc>
                        <a:spcBef>
                          <a:spcPts val="0"/>
                        </a:spcBef>
                        <a:spcAft>
                          <a:spcPts val="1000"/>
                        </a:spcAft>
                        <a:buClrTx/>
                        <a:buSzTx/>
                        <a:buFont typeface="Wingdings" panose="05000000000000000000" pitchFamily="2" charset="2"/>
                        <a:buNone/>
                        <a:tabLst/>
                        <a:defRPr/>
                      </a:pPr>
                      <a:r>
                        <a:rPr lang="fr-FR" sz="800" b="1" kern="1200" dirty="0">
                          <a:solidFill>
                            <a:srgbClr val="0070C0"/>
                          </a:solidFill>
                          <a:latin typeface="Work Sans" panose="00000500000000000000" pitchFamily="2" charset="0"/>
                          <a:ea typeface="+mn-ea"/>
                          <a:cs typeface="+mn-cs"/>
                        </a:rPr>
                        <a:t>Z</a:t>
                      </a:r>
                      <a:r>
                        <a:rPr lang="fr-FR" sz="800" kern="1200" dirty="0">
                          <a:solidFill>
                            <a:schemeClr val="tx1"/>
                          </a:solidFill>
                          <a:latin typeface="Work Sans" panose="00000500000000000000" pitchFamily="2" charset="0"/>
                          <a:ea typeface="+mn-ea"/>
                          <a:cs typeface="+mn-cs"/>
                        </a:rPr>
                        <a:t> jours ouvrés</a:t>
                      </a:r>
                    </a:p>
                  </a:txBody>
                  <a:tcPr marL="68580" marR="68580" marT="0" marB="0" anchor="ctr">
                    <a:solidFill>
                      <a:schemeClr val="accent5">
                        <a:lumMod val="20000"/>
                        <a:lumOff val="80000"/>
                      </a:schemeClr>
                    </a:solidFill>
                  </a:tcPr>
                </a:tc>
                <a:extLst>
                  <a:ext uri="{0D108BD9-81ED-4DB2-BD59-A6C34878D82A}">
                    <a16:rowId xmlns:a16="http://schemas.microsoft.com/office/drawing/2014/main" val="2791675558"/>
                  </a:ext>
                </a:extLst>
              </a:tr>
              <a:tr h="317920">
                <a:tc>
                  <a:txBody>
                    <a:bodyPr/>
                    <a:lstStyle/>
                    <a:p>
                      <a:pPr marL="0" lvl="0" indent="0" algn="l" defTabSz="914400" rtl="0" eaLnBrk="1" latinLnBrk="0" hangingPunct="1">
                        <a:lnSpc>
                          <a:spcPct val="115000"/>
                        </a:lnSpc>
                        <a:spcAft>
                          <a:spcPts val="1000"/>
                        </a:spcAft>
                        <a:buFont typeface="Wingdings" panose="05000000000000000000" pitchFamily="2" charset="2"/>
                        <a:buNone/>
                      </a:pPr>
                      <a:r>
                        <a:rPr lang="fr-FR" sz="800" kern="1200" dirty="0">
                          <a:solidFill>
                            <a:schemeClr val="tx1"/>
                          </a:solidFill>
                          <a:latin typeface="Work Sans" panose="00000500000000000000" pitchFamily="2" charset="0"/>
                          <a:ea typeface="+mn-ea"/>
                          <a:cs typeface="+mn-cs"/>
                        </a:rPr>
                        <a:t>Vérification de la conformité de l’installation par un Bureau de Contrôle</a:t>
                      </a:r>
                    </a:p>
                  </a:txBody>
                  <a:tcPr marL="34925" marR="34925" marT="34925" marB="34925" anchor="ctr"/>
                </a:tc>
                <a:tc>
                  <a:txBody>
                    <a:bodyPr/>
                    <a:lstStyle/>
                    <a:p>
                      <a:pPr marL="0" lvl="0" indent="0" algn="l" defTabSz="914400" rtl="0" eaLnBrk="1" latinLnBrk="0" hangingPunct="1">
                        <a:lnSpc>
                          <a:spcPct val="115000"/>
                        </a:lnSpc>
                        <a:spcAft>
                          <a:spcPts val="1000"/>
                        </a:spcAft>
                        <a:buFont typeface="Wingdings" panose="05000000000000000000" pitchFamily="2" charset="2"/>
                        <a:buNone/>
                      </a:pPr>
                      <a:r>
                        <a:rPr lang="fr-FR" sz="800" kern="1200" dirty="0">
                          <a:solidFill>
                            <a:schemeClr val="tx1"/>
                          </a:solidFill>
                          <a:latin typeface="Work Sans" panose="00000500000000000000" pitchFamily="2" charset="0"/>
                          <a:ea typeface="+mn-ea"/>
                          <a:cs typeface="+mn-cs"/>
                        </a:rPr>
                        <a:t>Travaux ELEC terminés</a:t>
                      </a:r>
                    </a:p>
                  </a:txBody>
                  <a:tcPr marL="68580" marR="68580" marT="0" marB="0" anchor="ctr"/>
                </a:tc>
                <a:tc>
                  <a:txBody>
                    <a:bodyPr/>
                    <a:lstStyle/>
                    <a:p>
                      <a:pPr marL="0" marR="0" lvl="0" indent="0" algn="ctr" defTabSz="914400" rtl="0" eaLnBrk="1" fontAlgn="auto" latinLnBrk="0" hangingPunct="1">
                        <a:lnSpc>
                          <a:spcPct val="115000"/>
                        </a:lnSpc>
                        <a:spcBef>
                          <a:spcPts val="0"/>
                        </a:spcBef>
                        <a:spcAft>
                          <a:spcPts val="1000"/>
                        </a:spcAft>
                        <a:buClrTx/>
                        <a:buSzTx/>
                        <a:buFont typeface="Wingdings" panose="05000000000000000000" pitchFamily="2" charset="2"/>
                        <a:buNone/>
                        <a:tabLst/>
                        <a:defRPr/>
                      </a:pPr>
                      <a:r>
                        <a:rPr lang="fr-FR" sz="800" kern="1200" dirty="0">
                          <a:solidFill>
                            <a:schemeClr val="tx1"/>
                          </a:solidFill>
                          <a:latin typeface="Work Sans" panose="00000500000000000000" pitchFamily="2" charset="0"/>
                          <a:ea typeface="+mn-ea"/>
                          <a:cs typeface="+mn-cs"/>
                        </a:rPr>
                        <a:t>Intervention :  ½ journée</a:t>
                      </a:r>
                    </a:p>
                    <a:p>
                      <a:pPr marL="0" marR="0" lvl="0" indent="0" algn="ctr" defTabSz="914400" rtl="0" eaLnBrk="1" fontAlgn="auto" latinLnBrk="0" hangingPunct="1">
                        <a:lnSpc>
                          <a:spcPct val="115000"/>
                        </a:lnSpc>
                        <a:spcBef>
                          <a:spcPts val="0"/>
                        </a:spcBef>
                        <a:spcAft>
                          <a:spcPts val="1000"/>
                        </a:spcAft>
                        <a:buClrTx/>
                        <a:buSzTx/>
                        <a:buFont typeface="Wingdings" panose="05000000000000000000" pitchFamily="2" charset="2"/>
                        <a:buNone/>
                        <a:tabLst/>
                        <a:defRPr/>
                      </a:pPr>
                      <a:r>
                        <a:rPr lang="fr-FR" sz="800" kern="1200" dirty="0">
                          <a:solidFill>
                            <a:schemeClr val="tx1"/>
                          </a:solidFill>
                          <a:latin typeface="Work Sans" panose="00000500000000000000" pitchFamily="2" charset="0"/>
                          <a:ea typeface="+mn-ea"/>
                          <a:cs typeface="+mn-cs"/>
                        </a:rPr>
                        <a:t>Réception du rapport : 10 jours ouvrés</a:t>
                      </a:r>
                    </a:p>
                  </a:txBody>
                  <a:tcPr marL="68580" marR="68580" marT="0" marB="0" anchor="ctr"/>
                </a:tc>
                <a:extLst>
                  <a:ext uri="{0D108BD9-81ED-4DB2-BD59-A6C34878D82A}">
                    <a16:rowId xmlns:a16="http://schemas.microsoft.com/office/drawing/2014/main" val="441631114"/>
                  </a:ext>
                </a:extLst>
              </a:tr>
              <a:tr h="216381">
                <a:tc>
                  <a:txBody>
                    <a:bodyPr/>
                    <a:lstStyle/>
                    <a:p>
                      <a:pPr marL="0" marR="0" lvl="0" indent="0" algn="l" defTabSz="914400" rtl="0" eaLnBrk="1" fontAlgn="auto" latinLnBrk="0" hangingPunct="1">
                        <a:lnSpc>
                          <a:spcPct val="115000"/>
                        </a:lnSpc>
                        <a:spcBef>
                          <a:spcPts val="0"/>
                        </a:spcBef>
                        <a:spcAft>
                          <a:spcPts val="1000"/>
                        </a:spcAft>
                        <a:buClrTx/>
                        <a:buSzTx/>
                        <a:buFont typeface="Wingdings" panose="05000000000000000000" pitchFamily="2" charset="2"/>
                        <a:buNone/>
                        <a:tabLst/>
                        <a:defRPr/>
                      </a:pPr>
                      <a:r>
                        <a:rPr lang="fr-FR" sz="800" kern="1200" dirty="0">
                          <a:solidFill>
                            <a:schemeClr val="tx1"/>
                          </a:solidFill>
                          <a:latin typeface="Work Sans" panose="00000500000000000000" pitchFamily="2" charset="0"/>
                          <a:ea typeface="+mn-ea"/>
                          <a:cs typeface="+mn-cs"/>
                        </a:rPr>
                        <a:t>Vérification de la conformité de l’installation par le Consuel</a:t>
                      </a:r>
                    </a:p>
                  </a:txBody>
                  <a:tcPr marL="34925" marR="34925" marT="34925" marB="34925" anchor="ctr"/>
                </a:tc>
                <a:tc>
                  <a:txBody>
                    <a:bodyPr/>
                    <a:lstStyle/>
                    <a:p>
                      <a:pPr marL="0" marR="0" lvl="0" indent="0" algn="l" defTabSz="914400" rtl="0" eaLnBrk="1" fontAlgn="auto" latinLnBrk="0" hangingPunct="1">
                        <a:lnSpc>
                          <a:spcPct val="115000"/>
                        </a:lnSpc>
                        <a:spcBef>
                          <a:spcPts val="0"/>
                        </a:spcBef>
                        <a:spcAft>
                          <a:spcPts val="1000"/>
                        </a:spcAft>
                        <a:buClrTx/>
                        <a:buSzTx/>
                        <a:buFont typeface="Wingdings" panose="05000000000000000000" pitchFamily="2" charset="2"/>
                        <a:buNone/>
                        <a:tabLst/>
                        <a:defRPr/>
                      </a:pPr>
                      <a:r>
                        <a:rPr lang="fr-FR" sz="800" kern="1200" dirty="0">
                          <a:solidFill>
                            <a:schemeClr val="tx1"/>
                          </a:solidFill>
                          <a:latin typeface="Work Sans" panose="00000500000000000000" pitchFamily="2" charset="0"/>
                          <a:ea typeface="+mn-ea"/>
                          <a:cs typeface="+mn-cs"/>
                        </a:rPr>
                        <a:t>Vérification de la conformité de l’installation par un Bureau de Contrôle terminée et validée (rapport reçu)</a:t>
                      </a:r>
                    </a:p>
                  </a:txBody>
                  <a:tcPr marL="68580" marR="68580" marT="0" marB="0" anchor="ctr"/>
                </a:tc>
                <a:tc>
                  <a:txBody>
                    <a:bodyPr/>
                    <a:lstStyle/>
                    <a:p>
                      <a:pPr marL="0" marR="0" lvl="0" indent="0" algn="ctr" defTabSz="914400" rtl="0" eaLnBrk="1" fontAlgn="auto" latinLnBrk="0" hangingPunct="1">
                        <a:lnSpc>
                          <a:spcPct val="115000"/>
                        </a:lnSpc>
                        <a:spcBef>
                          <a:spcPts val="0"/>
                        </a:spcBef>
                        <a:spcAft>
                          <a:spcPts val="1000"/>
                        </a:spcAft>
                        <a:buClrTx/>
                        <a:buSzTx/>
                        <a:buFont typeface="Wingdings" panose="05000000000000000000" pitchFamily="2" charset="2"/>
                        <a:buNone/>
                        <a:tabLst/>
                        <a:defRPr/>
                      </a:pPr>
                      <a:r>
                        <a:rPr lang="fr-FR" sz="800" kern="1200" dirty="0">
                          <a:solidFill>
                            <a:schemeClr val="tx1"/>
                          </a:solidFill>
                          <a:latin typeface="Work Sans" panose="00000500000000000000" pitchFamily="2" charset="0"/>
                          <a:ea typeface="+mn-ea"/>
                          <a:cs typeface="+mn-cs"/>
                        </a:rPr>
                        <a:t>Réception de l’attestation : 10 jours ouvrés</a:t>
                      </a:r>
                    </a:p>
                  </a:txBody>
                  <a:tcPr marL="68580" marR="68580" marT="0" marB="0" anchor="ctr"/>
                </a:tc>
                <a:extLst>
                  <a:ext uri="{0D108BD9-81ED-4DB2-BD59-A6C34878D82A}">
                    <a16:rowId xmlns:a16="http://schemas.microsoft.com/office/drawing/2014/main" val="3539880862"/>
                  </a:ext>
                </a:extLst>
              </a:tr>
              <a:tr h="272228">
                <a:tc>
                  <a:txBody>
                    <a:bodyPr/>
                    <a:lstStyle/>
                    <a:p>
                      <a:pPr marL="0" lvl="0" indent="0" algn="l" defTabSz="914400" rtl="0" eaLnBrk="1" latinLnBrk="0" hangingPunct="1">
                        <a:lnSpc>
                          <a:spcPct val="115000"/>
                        </a:lnSpc>
                        <a:spcAft>
                          <a:spcPts val="1000"/>
                        </a:spcAft>
                        <a:buFont typeface="Wingdings" panose="05000000000000000000" pitchFamily="2" charset="2"/>
                        <a:buNone/>
                      </a:pPr>
                      <a:r>
                        <a:rPr lang="fr-FR" sz="800" kern="1200" dirty="0">
                          <a:solidFill>
                            <a:schemeClr val="tx1"/>
                          </a:solidFill>
                          <a:latin typeface="Work Sans" panose="00000500000000000000" pitchFamily="2" charset="0"/>
                          <a:ea typeface="+mn-ea"/>
                          <a:cs typeface="+mn-cs"/>
                        </a:rPr>
                        <a:t>Mise en service technique (Tests de communication et de charge avec Izivia)</a:t>
                      </a:r>
                    </a:p>
                  </a:txBody>
                  <a:tcPr marL="34925" marR="34925" marT="34925" marB="34925" anchor="ctr"/>
                </a:tc>
                <a:tc>
                  <a:txBody>
                    <a:bodyPr/>
                    <a:lstStyle/>
                    <a:p>
                      <a:pPr marL="0" lvl="0" indent="0" algn="l" defTabSz="914400" rtl="0" eaLnBrk="1" latinLnBrk="0" hangingPunct="1">
                        <a:lnSpc>
                          <a:spcPct val="115000"/>
                        </a:lnSpc>
                        <a:spcAft>
                          <a:spcPts val="1000"/>
                        </a:spcAft>
                        <a:buFont typeface="Wingdings" panose="05000000000000000000" pitchFamily="2" charset="2"/>
                        <a:buNone/>
                      </a:pPr>
                      <a:r>
                        <a:rPr lang="fr-FR" sz="800" kern="1200" dirty="0">
                          <a:solidFill>
                            <a:schemeClr val="tx1"/>
                          </a:solidFill>
                          <a:latin typeface="Work Sans" panose="00000500000000000000" pitchFamily="2" charset="0"/>
                          <a:ea typeface="+mn-ea"/>
                          <a:cs typeface="+mn-cs"/>
                        </a:rPr>
                        <a:t>Travaux terminés</a:t>
                      </a:r>
                    </a:p>
                  </a:txBody>
                  <a:tcPr marL="68580" marR="68580" marT="0" marB="0" anchor="ctr"/>
                </a:tc>
                <a:tc>
                  <a:txBody>
                    <a:bodyPr/>
                    <a:lstStyle/>
                    <a:p>
                      <a:pPr marL="0" marR="0" lvl="0" indent="0" algn="ctr" defTabSz="914400" rtl="0" eaLnBrk="1" fontAlgn="auto" latinLnBrk="0" hangingPunct="1">
                        <a:lnSpc>
                          <a:spcPct val="115000"/>
                        </a:lnSpc>
                        <a:spcBef>
                          <a:spcPts val="0"/>
                        </a:spcBef>
                        <a:spcAft>
                          <a:spcPts val="1000"/>
                        </a:spcAft>
                        <a:buClrTx/>
                        <a:buSzTx/>
                        <a:buFont typeface="Wingdings" panose="05000000000000000000" pitchFamily="2" charset="2"/>
                        <a:buNone/>
                        <a:tabLst/>
                        <a:defRPr/>
                      </a:pPr>
                      <a:r>
                        <a:rPr lang="fr-FR" sz="800" kern="1200" dirty="0">
                          <a:solidFill>
                            <a:schemeClr val="tx1"/>
                          </a:solidFill>
                          <a:latin typeface="Work Sans" panose="00000500000000000000" pitchFamily="2" charset="0"/>
                          <a:ea typeface="+mn-ea"/>
                          <a:cs typeface="+mn-cs"/>
                        </a:rPr>
                        <a:t>½ journée</a:t>
                      </a:r>
                    </a:p>
                  </a:txBody>
                  <a:tcPr marL="68580" marR="68580" marT="0" marB="0" anchor="ctr"/>
                </a:tc>
                <a:extLst>
                  <a:ext uri="{0D108BD9-81ED-4DB2-BD59-A6C34878D82A}">
                    <a16:rowId xmlns:a16="http://schemas.microsoft.com/office/drawing/2014/main" val="3069693203"/>
                  </a:ext>
                </a:extLst>
              </a:tr>
              <a:tr h="162731">
                <a:tc>
                  <a:txBody>
                    <a:bodyPr/>
                    <a:lstStyle/>
                    <a:p>
                      <a:pPr marL="0" lvl="0" indent="0" algn="l" defTabSz="914400" rtl="0" eaLnBrk="1" latinLnBrk="0" hangingPunct="1">
                        <a:lnSpc>
                          <a:spcPct val="115000"/>
                        </a:lnSpc>
                        <a:spcAft>
                          <a:spcPts val="1000"/>
                        </a:spcAft>
                        <a:buFont typeface="Wingdings" panose="05000000000000000000" pitchFamily="2" charset="2"/>
                        <a:buNone/>
                      </a:pPr>
                      <a:r>
                        <a:rPr lang="fr-FR" sz="800" kern="1200" dirty="0">
                          <a:solidFill>
                            <a:schemeClr val="tx1"/>
                          </a:solidFill>
                          <a:latin typeface="Work Sans" panose="00000500000000000000" pitchFamily="2" charset="0"/>
                          <a:ea typeface="+mn-ea"/>
                          <a:cs typeface="+mn-cs"/>
                        </a:rPr>
                        <a:t>Réception des travaux</a:t>
                      </a:r>
                    </a:p>
                  </a:txBody>
                  <a:tcPr marL="34925" marR="34925" marT="34925" marB="34925" anchor="ctr"/>
                </a:tc>
                <a:tc>
                  <a:txBody>
                    <a:bodyPr/>
                    <a:lstStyle/>
                    <a:p>
                      <a:pPr marL="0" lvl="0" indent="0" algn="l" defTabSz="914400" rtl="0" eaLnBrk="1" latinLnBrk="0" hangingPunct="1">
                        <a:lnSpc>
                          <a:spcPct val="115000"/>
                        </a:lnSpc>
                        <a:spcAft>
                          <a:spcPts val="1000"/>
                        </a:spcAft>
                        <a:buFont typeface="Wingdings" panose="05000000000000000000" pitchFamily="2" charset="2"/>
                        <a:buNone/>
                      </a:pPr>
                      <a:r>
                        <a:rPr lang="fr-FR" sz="800" kern="1200" dirty="0">
                          <a:solidFill>
                            <a:schemeClr val="tx1"/>
                          </a:solidFill>
                          <a:latin typeface="Work Sans" panose="00000500000000000000" pitchFamily="2" charset="0"/>
                          <a:ea typeface="+mn-ea"/>
                          <a:cs typeface="+mn-cs"/>
                        </a:rPr>
                        <a:t>Travaux terminés</a:t>
                      </a:r>
                    </a:p>
                  </a:txBody>
                  <a:tcPr marL="68580" marR="68580" marT="0" marB="0" anchor="ctr"/>
                </a:tc>
                <a:tc>
                  <a:txBody>
                    <a:bodyPr/>
                    <a:lstStyle/>
                    <a:p>
                      <a:pPr marL="0" marR="0" lvl="0" indent="0" algn="ctr" defTabSz="914400" rtl="0" eaLnBrk="1" fontAlgn="auto" latinLnBrk="0" hangingPunct="1">
                        <a:lnSpc>
                          <a:spcPct val="115000"/>
                        </a:lnSpc>
                        <a:spcBef>
                          <a:spcPts val="0"/>
                        </a:spcBef>
                        <a:spcAft>
                          <a:spcPts val="1000"/>
                        </a:spcAft>
                        <a:buClrTx/>
                        <a:buSzTx/>
                        <a:buFont typeface="Wingdings" panose="05000000000000000000" pitchFamily="2" charset="2"/>
                        <a:buNone/>
                        <a:tabLst/>
                        <a:defRPr/>
                      </a:pPr>
                      <a:r>
                        <a:rPr lang="fr-FR" sz="800" kern="1200" dirty="0">
                          <a:solidFill>
                            <a:schemeClr val="tx1"/>
                          </a:solidFill>
                          <a:latin typeface="Work Sans" panose="00000500000000000000" pitchFamily="2" charset="0"/>
                          <a:ea typeface="+mn-ea"/>
                          <a:cs typeface="+mn-cs"/>
                        </a:rPr>
                        <a:t>½ journée</a:t>
                      </a:r>
                    </a:p>
                  </a:txBody>
                  <a:tcPr marL="68580" marR="68580" marT="0" marB="0" anchor="ctr"/>
                </a:tc>
                <a:extLst>
                  <a:ext uri="{0D108BD9-81ED-4DB2-BD59-A6C34878D82A}">
                    <a16:rowId xmlns:a16="http://schemas.microsoft.com/office/drawing/2014/main" val="3589428826"/>
                  </a:ext>
                </a:extLst>
              </a:tr>
              <a:tr h="216381">
                <a:tc>
                  <a:txBody>
                    <a:bodyPr/>
                    <a:lstStyle/>
                    <a:p>
                      <a:pPr marL="0" lvl="0" indent="0" algn="l" defTabSz="914400" rtl="0" eaLnBrk="1" latinLnBrk="0" hangingPunct="1">
                        <a:lnSpc>
                          <a:spcPct val="115000"/>
                        </a:lnSpc>
                        <a:spcAft>
                          <a:spcPts val="1000"/>
                        </a:spcAft>
                        <a:buFont typeface="Wingdings" panose="05000000000000000000" pitchFamily="2" charset="2"/>
                        <a:buNone/>
                      </a:pPr>
                      <a:r>
                        <a:rPr lang="fr-FR" sz="800" kern="1200" dirty="0">
                          <a:solidFill>
                            <a:schemeClr val="tx1"/>
                          </a:solidFill>
                          <a:latin typeface="Work Sans" panose="00000500000000000000" pitchFamily="2" charset="0"/>
                          <a:ea typeface="+mn-ea"/>
                          <a:cs typeface="+mn-cs"/>
                        </a:rPr>
                        <a:t>Mise en service commerciale (bornes accessibles au usagers)</a:t>
                      </a:r>
                    </a:p>
                  </a:txBody>
                  <a:tcPr marL="34925" marR="34925" marT="34925" marB="34925" anchor="ctr"/>
                </a:tc>
                <a:tc>
                  <a:txBody>
                    <a:bodyPr/>
                    <a:lstStyle/>
                    <a:p>
                      <a:pPr marL="0" lvl="0" indent="0" algn="l" defTabSz="914400" rtl="0" eaLnBrk="1" latinLnBrk="0" hangingPunct="1">
                        <a:lnSpc>
                          <a:spcPct val="115000"/>
                        </a:lnSpc>
                        <a:spcAft>
                          <a:spcPts val="1000"/>
                        </a:spcAft>
                        <a:buFont typeface="Wingdings" panose="05000000000000000000" pitchFamily="2" charset="2"/>
                        <a:buNone/>
                      </a:pPr>
                      <a:r>
                        <a:rPr lang="fr-FR" sz="800" kern="1200" dirty="0">
                          <a:solidFill>
                            <a:schemeClr val="tx1"/>
                          </a:solidFill>
                          <a:latin typeface="Work Sans" panose="00000500000000000000" pitchFamily="2" charset="0"/>
                          <a:ea typeface="+mn-ea"/>
                          <a:cs typeface="+mn-cs"/>
                        </a:rPr>
                        <a:t>PV de réception signé par le client, Installation attestée conforme par un BC et éventuellement par le Consuel</a:t>
                      </a:r>
                    </a:p>
                  </a:txBody>
                  <a:tcPr marL="68580" marR="68580" marT="0" marB="0" anchor="ctr"/>
                </a:tc>
                <a:tc>
                  <a:txBody>
                    <a:bodyPr/>
                    <a:lstStyle/>
                    <a:p>
                      <a:pPr marL="0" marR="0" lvl="0" indent="0" algn="ctr" defTabSz="914400" rtl="0" eaLnBrk="1" fontAlgn="auto" latinLnBrk="0" hangingPunct="1">
                        <a:lnSpc>
                          <a:spcPct val="115000"/>
                        </a:lnSpc>
                        <a:spcBef>
                          <a:spcPts val="0"/>
                        </a:spcBef>
                        <a:spcAft>
                          <a:spcPts val="1000"/>
                        </a:spcAft>
                        <a:buClrTx/>
                        <a:buSzTx/>
                        <a:buFont typeface="Wingdings" panose="05000000000000000000" pitchFamily="2" charset="2"/>
                        <a:buNone/>
                        <a:tabLst/>
                        <a:defRPr/>
                      </a:pPr>
                      <a:r>
                        <a:rPr lang="fr-FR" sz="800" kern="1200" dirty="0">
                          <a:solidFill>
                            <a:schemeClr val="tx1"/>
                          </a:solidFill>
                          <a:latin typeface="Work Sans" panose="00000500000000000000" pitchFamily="2" charset="0"/>
                          <a:ea typeface="+mn-ea"/>
                          <a:cs typeface="+mn-cs"/>
                        </a:rPr>
                        <a:t>½ journée</a:t>
                      </a:r>
                    </a:p>
                  </a:txBody>
                  <a:tcPr marL="68580" marR="68580" marT="0" marB="0" anchor="ctr"/>
                </a:tc>
                <a:extLst>
                  <a:ext uri="{0D108BD9-81ED-4DB2-BD59-A6C34878D82A}">
                    <a16:rowId xmlns:a16="http://schemas.microsoft.com/office/drawing/2014/main" val="2067245612"/>
                  </a:ext>
                </a:extLst>
              </a:tr>
              <a:tr h="162731">
                <a:tc gridSpan="2">
                  <a:txBody>
                    <a:bodyPr/>
                    <a:lstStyle/>
                    <a:p>
                      <a:pPr marL="0" lvl="0" indent="0" algn="ctr" defTabSz="914400" rtl="0" eaLnBrk="1" latinLnBrk="0" hangingPunct="1">
                        <a:lnSpc>
                          <a:spcPct val="115000"/>
                        </a:lnSpc>
                        <a:spcAft>
                          <a:spcPts val="1000"/>
                        </a:spcAft>
                        <a:buFont typeface="Wingdings" panose="05000000000000000000" pitchFamily="2" charset="2"/>
                        <a:buNone/>
                      </a:pPr>
                      <a:r>
                        <a:rPr lang="fr-FR" sz="800" b="1" kern="1200" dirty="0">
                          <a:solidFill>
                            <a:schemeClr val="tx1"/>
                          </a:solidFill>
                          <a:latin typeface="Work Sans" panose="00000500000000000000" pitchFamily="2" charset="0"/>
                          <a:ea typeface="+mn-ea"/>
                          <a:cs typeface="+mn-cs"/>
                        </a:rPr>
                        <a:t>Total en jours ouvrés </a:t>
                      </a:r>
                    </a:p>
                  </a:txBody>
                  <a:tcPr marL="34925" marR="34925" marT="34925" marB="34925" anchor="ctr"/>
                </a:tc>
                <a:tc hMerge="1">
                  <a:txBody>
                    <a:bodyPr/>
                    <a:lstStyle/>
                    <a:p>
                      <a:pPr marL="0" lvl="0" indent="0" algn="l" defTabSz="914400" rtl="0" eaLnBrk="1" latinLnBrk="0" hangingPunct="1">
                        <a:lnSpc>
                          <a:spcPct val="115000"/>
                        </a:lnSpc>
                        <a:spcAft>
                          <a:spcPts val="1000"/>
                        </a:spcAft>
                        <a:buFont typeface="Wingdings" panose="05000000000000000000" pitchFamily="2" charset="2"/>
                        <a:buNone/>
                      </a:pPr>
                      <a:endParaRPr lang="fr-FR" sz="1200" kern="1200" dirty="0">
                        <a:solidFill>
                          <a:schemeClr val="tx1"/>
                        </a:solidFill>
                        <a:latin typeface="Work Sans" panose="00000500000000000000" pitchFamily="2" charset="0"/>
                        <a:ea typeface="+mn-ea"/>
                        <a:cs typeface="+mn-cs"/>
                      </a:endParaRPr>
                    </a:p>
                  </a:txBody>
                  <a:tcPr marL="68580" marR="68580" marT="0" marB="0" anchor="ctr"/>
                </a:tc>
                <a:tc>
                  <a:txBody>
                    <a:bodyPr/>
                    <a:lstStyle/>
                    <a:p>
                      <a:pPr marL="0" marR="0" lvl="0" indent="0" algn="ctr" defTabSz="914400" rtl="0" eaLnBrk="1" fontAlgn="auto" latinLnBrk="0" hangingPunct="1">
                        <a:lnSpc>
                          <a:spcPct val="115000"/>
                        </a:lnSpc>
                        <a:spcBef>
                          <a:spcPts val="0"/>
                        </a:spcBef>
                        <a:spcAft>
                          <a:spcPts val="1000"/>
                        </a:spcAft>
                        <a:buClrTx/>
                        <a:buSzTx/>
                        <a:buFont typeface="Wingdings" panose="05000000000000000000" pitchFamily="2" charset="2"/>
                        <a:buNone/>
                        <a:tabLst/>
                        <a:defRPr/>
                      </a:pPr>
                      <a:r>
                        <a:rPr lang="fr-FR" sz="800" kern="1200" dirty="0">
                          <a:solidFill>
                            <a:schemeClr val="tx1"/>
                          </a:solidFill>
                          <a:latin typeface="Work Sans" panose="00000500000000000000" pitchFamily="2" charset="0"/>
                          <a:ea typeface="+mn-ea"/>
                          <a:cs typeface="+mn-cs"/>
                        </a:rPr>
                        <a:t>= 44 + </a:t>
                      </a:r>
                      <a:r>
                        <a:rPr lang="fr-FR" sz="800" b="1" kern="1200" dirty="0">
                          <a:solidFill>
                            <a:srgbClr val="0070C0"/>
                          </a:solidFill>
                          <a:latin typeface="Work Sans" panose="00000500000000000000" pitchFamily="2" charset="0"/>
                          <a:ea typeface="+mn-ea"/>
                          <a:cs typeface="+mn-cs"/>
                        </a:rPr>
                        <a:t>X + Y + Z</a:t>
                      </a:r>
                    </a:p>
                  </a:txBody>
                  <a:tcPr marL="68580" marR="68580" marT="0" marB="0" anchor="ctr">
                    <a:solidFill>
                      <a:schemeClr val="accent5">
                        <a:lumMod val="20000"/>
                        <a:lumOff val="80000"/>
                      </a:schemeClr>
                    </a:solidFill>
                  </a:tcPr>
                </a:tc>
                <a:extLst>
                  <a:ext uri="{0D108BD9-81ED-4DB2-BD59-A6C34878D82A}">
                    <a16:rowId xmlns:a16="http://schemas.microsoft.com/office/drawing/2014/main" val="2931749120"/>
                  </a:ext>
                </a:extLst>
              </a:tr>
            </a:tbl>
          </a:graphicData>
        </a:graphic>
      </p:graphicFrame>
      <p:sp>
        <p:nvSpPr>
          <p:cNvPr id="2" name="ZoneTexte 1">
            <a:extLst>
              <a:ext uri="{FF2B5EF4-FFF2-40B4-BE49-F238E27FC236}">
                <a16:creationId xmlns:a16="http://schemas.microsoft.com/office/drawing/2014/main" id="{301E519A-898C-C406-9127-C30DCE6F00C2}"/>
              </a:ext>
            </a:extLst>
          </p:cNvPr>
          <p:cNvSpPr txBox="1"/>
          <p:nvPr/>
        </p:nvSpPr>
        <p:spPr>
          <a:xfrm>
            <a:off x="65987" y="6353408"/>
            <a:ext cx="11528981" cy="276999"/>
          </a:xfrm>
          <a:prstGeom prst="rect">
            <a:avLst/>
          </a:prstGeom>
          <a:noFill/>
        </p:spPr>
        <p:txBody>
          <a:bodyPr wrap="square" rtlCol="0">
            <a:spAutoFit/>
          </a:bodyPr>
          <a:lstStyle/>
          <a:p>
            <a:r>
              <a:rPr lang="fr-FR" sz="1200" i="1" u="sng" dirty="0"/>
              <a:t>(Hors prestation ENEDIS, Installation d’un poste de transformation ou Installation d’une borne DC. Le temps complémentaire est estimé entre 4 et 6 mois</a:t>
            </a:r>
            <a:endParaRPr lang="fr-FR" sz="1200" dirty="0"/>
          </a:p>
        </p:txBody>
      </p:sp>
      <p:sp>
        <p:nvSpPr>
          <p:cNvPr id="3" name="ZoneTexte 2">
            <a:extLst>
              <a:ext uri="{FF2B5EF4-FFF2-40B4-BE49-F238E27FC236}">
                <a16:creationId xmlns:a16="http://schemas.microsoft.com/office/drawing/2014/main" id="{FC9F9CE9-A345-60E3-8B91-EE8295036A78}"/>
              </a:ext>
            </a:extLst>
          </p:cNvPr>
          <p:cNvSpPr txBox="1"/>
          <p:nvPr/>
        </p:nvSpPr>
        <p:spPr>
          <a:xfrm>
            <a:off x="1622045" y="5078902"/>
            <a:ext cx="9613669" cy="276999"/>
          </a:xfrm>
          <a:prstGeom prst="rect">
            <a:avLst/>
          </a:prstGeom>
          <a:noFill/>
        </p:spPr>
        <p:txBody>
          <a:bodyPr wrap="square" rtlCol="0">
            <a:spAutoFit/>
          </a:bodyPr>
          <a:lstStyle/>
          <a:p>
            <a:r>
              <a:rPr lang="fr-FR" sz="1200" b="1" dirty="0">
                <a:solidFill>
                  <a:srgbClr val="0070C0"/>
                </a:solidFill>
              </a:rPr>
              <a:t>(Insérer un macro-planning prévisionnel ( Commande client -&gt; Préparation du chantier -&gt; Ouverture de chantier -&gt; Chantier-&gt; Réception -&gt; DOE ) </a:t>
            </a:r>
          </a:p>
        </p:txBody>
      </p:sp>
      <p:sp>
        <p:nvSpPr>
          <p:cNvPr id="5" name="ZoneTexte 4">
            <a:extLst>
              <a:ext uri="{FF2B5EF4-FFF2-40B4-BE49-F238E27FC236}">
                <a16:creationId xmlns:a16="http://schemas.microsoft.com/office/drawing/2014/main" id="{A8250C77-A882-37B0-79F7-54D6EFB5AE47}"/>
              </a:ext>
            </a:extLst>
          </p:cNvPr>
          <p:cNvSpPr txBox="1"/>
          <p:nvPr/>
        </p:nvSpPr>
        <p:spPr>
          <a:xfrm>
            <a:off x="65987" y="6076409"/>
            <a:ext cx="7370618" cy="276999"/>
          </a:xfrm>
          <a:prstGeom prst="rect">
            <a:avLst/>
          </a:prstGeom>
          <a:noFill/>
        </p:spPr>
        <p:txBody>
          <a:bodyPr wrap="square" rtlCol="0">
            <a:spAutoFit/>
          </a:bodyPr>
          <a:lstStyle/>
          <a:p>
            <a:r>
              <a:rPr lang="fr-FR" sz="1200" b="1" dirty="0"/>
              <a:t>Un planning d’exécution sera envoyé sous 3 semaines post commande </a:t>
            </a:r>
          </a:p>
        </p:txBody>
      </p:sp>
    </p:spTree>
    <p:extLst>
      <p:ext uri="{BB962C8B-B14F-4D97-AF65-F5344CB8AC3E}">
        <p14:creationId xmlns:p14="http://schemas.microsoft.com/office/powerpoint/2010/main" val="37729626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93E92-1D93-972D-6351-1B02501C2A4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D7A69D7-A2A7-D12C-997E-F84B31AC33E9}"/>
              </a:ext>
            </a:extLst>
          </p:cNvPr>
          <p:cNvSpPr>
            <a:spLocks noGrp="1"/>
          </p:cNvSpPr>
          <p:nvPr>
            <p:ph type="title"/>
          </p:nvPr>
        </p:nvSpPr>
        <p:spPr>
          <a:xfrm>
            <a:off x="838200" y="365125"/>
            <a:ext cx="10515600" cy="5795978"/>
          </a:xfrm>
        </p:spPr>
        <p:txBody>
          <a:bodyPr/>
          <a:lstStyle/>
          <a:p>
            <a:pPr algn="ctr"/>
            <a:r>
              <a:rPr lang="fr-FR" sz="3000" b="1" dirty="0">
                <a:solidFill>
                  <a:schemeClr val="accent1"/>
                </a:solidFill>
                <a:latin typeface="Work Sans ExtraLight"/>
              </a:rPr>
              <a:t>Rendu photo</a:t>
            </a:r>
            <a:br>
              <a:rPr lang="fr-FR" b="1" dirty="0">
                <a:solidFill>
                  <a:schemeClr val="accent1"/>
                </a:solidFill>
              </a:rPr>
            </a:br>
            <a:br>
              <a:rPr lang="fr-FR" b="1" dirty="0">
                <a:solidFill>
                  <a:schemeClr val="accent1"/>
                </a:solidFill>
              </a:rPr>
            </a:br>
            <a:r>
              <a:rPr lang="fr-FR" sz="1600" dirty="0">
                <a:solidFill>
                  <a:prstClr val="black"/>
                </a:solidFill>
                <a:latin typeface="Calibri Light" panose="020F0302020204030204"/>
              </a:rPr>
              <a:t>Le rendu photo doit permettre de visualiser les travaux tels que réalisés une fois le chantier réceptionné. Le rapport doit contenir tous les éléments suivants :</a:t>
            </a:r>
            <a:br>
              <a:rPr lang="fr-FR" sz="1600" dirty="0">
                <a:solidFill>
                  <a:prstClr val="black"/>
                </a:solidFill>
                <a:latin typeface="Calibri Light" panose="020F0302020204030204"/>
              </a:rPr>
            </a:br>
            <a:r>
              <a:rPr lang="fr-FR" sz="1600" dirty="0">
                <a:solidFill>
                  <a:prstClr val="black"/>
                </a:solidFill>
                <a:latin typeface="Calibri Light" panose="020F0302020204030204"/>
              </a:rPr>
              <a:t> </a:t>
            </a:r>
            <a:br>
              <a:rPr lang="fr-FR" b="1" dirty="0">
                <a:solidFill>
                  <a:schemeClr val="accent1"/>
                </a:solidFill>
              </a:rPr>
            </a:br>
            <a:r>
              <a:rPr kumimoji="0" lang="fr-FR" sz="1600" b="0" i="0" u="none" strike="noStrike" kern="1200" cap="none" spc="0" normalizeH="0" baseline="0" noProof="0" dirty="0">
                <a:ln>
                  <a:noFill/>
                </a:ln>
                <a:solidFill>
                  <a:prstClr val="black"/>
                </a:solidFill>
                <a:effectLst/>
                <a:uLnTx/>
                <a:uFillTx/>
                <a:latin typeface="Calibri Light" panose="020F0302020204030204"/>
                <a:ea typeface="+mj-ea"/>
                <a:cs typeface="+mj-cs"/>
              </a:rPr>
              <a:t>- Photo du point de raccordement électrique (TGBT / PDL)</a:t>
            </a:r>
            <a:br>
              <a:rPr kumimoji="0" lang="fr-FR" sz="1600" b="0" i="0" u="none" strike="noStrike" kern="1200" cap="none" spc="0" normalizeH="0" baseline="0" noProof="0" dirty="0">
                <a:ln>
                  <a:noFill/>
                </a:ln>
                <a:solidFill>
                  <a:prstClr val="black"/>
                </a:solidFill>
                <a:effectLst/>
                <a:uLnTx/>
                <a:uFillTx/>
                <a:latin typeface="Calibri Light" panose="020F0302020204030204"/>
                <a:ea typeface="+mj-ea"/>
                <a:cs typeface="+mj-cs"/>
              </a:rPr>
            </a:br>
            <a:r>
              <a:rPr kumimoji="0" lang="fr-FR" sz="1600" b="0" i="0" u="none" strike="noStrike" kern="1200" cap="none" spc="0" normalizeH="0" baseline="0" noProof="0" dirty="0">
                <a:ln>
                  <a:noFill/>
                </a:ln>
                <a:solidFill>
                  <a:prstClr val="black"/>
                </a:solidFill>
                <a:effectLst/>
                <a:uLnTx/>
                <a:uFillTx/>
                <a:latin typeface="Calibri Light" panose="020F0302020204030204"/>
                <a:ea typeface="+mj-ea"/>
                <a:cs typeface="+mj-cs"/>
              </a:rPr>
              <a:t>- Photos des cheminement</a:t>
            </a:r>
            <a:r>
              <a:rPr lang="fr-FR" sz="1600" dirty="0">
                <a:solidFill>
                  <a:prstClr val="black"/>
                </a:solidFill>
                <a:latin typeface="Calibri Light" panose="020F0302020204030204"/>
              </a:rPr>
              <a:t>s de câbles et des percements si il y en a</a:t>
            </a:r>
            <a:br>
              <a:rPr kumimoji="0" lang="fr-FR" sz="1600" b="0" i="0" u="none" strike="noStrike" kern="1200" cap="none" spc="0" normalizeH="0" baseline="0" noProof="0" dirty="0">
                <a:ln>
                  <a:noFill/>
                </a:ln>
                <a:solidFill>
                  <a:prstClr val="black"/>
                </a:solidFill>
                <a:effectLst/>
                <a:uLnTx/>
                <a:uFillTx/>
                <a:latin typeface="Calibri Light" panose="020F0302020204030204"/>
                <a:ea typeface="+mj-ea"/>
                <a:cs typeface="+mj-cs"/>
              </a:rPr>
            </a:br>
            <a:r>
              <a:rPr kumimoji="0" lang="fr-FR" sz="1600" b="0" i="0" u="none" strike="noStrike" kern="1200" cap="none" spc="0" normalizeH="0" baseline="0" noProof="0" dirty="0">
                <a:ln>
                  <a:noFill/>
                </a:ln>
                <a:solidFill>
                  <a:prstClr val="black"/>
                </a:solidFill>
                <a:effectLst/>
                <a:uLnTx/>
                <a:uFillTx/>
                <a:latin typeface="Calibri Light" panose="020F0302020204030204"/>
                <a:ea typeface="+mj-ea"/>
                <a:cs typeface="+mj-cs"/>
              </a:rPr>
              <a:t>-Positionnement des bornes, des éventuels TD/chambre de tirage</a:t>
            </a:r>
            <a:br>
              <a:rPr kumimoji="0" lang="fr-FR" sz="1600" b="0" i="0" u="none" strike="noStrike" kern="1200" cap="none" spc="0" normalizeH="0" baseline="0" noProof="0" dirty="0">
                <a:ln>
                  <a:noFill/>
                </a:ln>
                <a:solidFill>
                  <a:prstClr val="black"/>
                </a:solidFill>
                <a:effectLst/>
                <a:uLnTx/>
                <a:uFillTx/>
                <a:latin typeface="Calibri Light" panose="020F0302020204030204"/>
                <a:ea typeface="+mj-ea"/>
                <a:cs typeface="+mj-cs"/>
              </a:rPr>
            </a:br>
            <a:r>
              <a:rPr kumimoji="0" lang="fr-FR" sz="1600" b="0" i="0" u="none" strike="noStrike" kern="1200" cap="none" spc="0" normalizeH="0" baseline="0" noProof="0" dirty="0">
                <a:ln>
                  <a:noFill/>
                </a:ln>
                <a:solidFill>
                  <a:prstClr val="black"/>
                </a:solidFill>
                <a:effectLst/>
                <a:uLnTx/>
                <a:uFillTx/>
                <a:latin typeface="Calibri Light" panose="020F0302020204030204"/>
                <a:ea typeface="+mj-ea"/>
                <a:cs typeface="+mj-cs"/>
              </a:rPr>
              <a:t>- Positionnement de la signalisation horizontale et verticale</a:t>
            </a:r>
            <a:br>
              <a:rPr kumimoji="0" lang="fr-FR" sz="1600" b="0" i="0" u="none" strike="noStrike" kern="1200" cap="none" spc="0" normalizeH="0" baseline="0" noProof="0" dirty="0">
                <a:ln>
                  <a:noFill/>
                </a:ln>
                <a:solidFill>
                  <a:prstClr val="black"/>
                </a:solidFill>
                <a:effectLst/>
                <a:uLnTx/>
                <a:uFillTx/>
                <a:latin typeface="Calibri Light" panose="020F0302020204030204"/>
                <a:ea typeface="+mj-ea"/>
                <a:cs typeface="+mj-cs"/>
              </a:rPr>
            </a:br>
            <a:r>
              <a:rPr kumimoji="0" lang="fr-FR" sz="1600" b="0" i="0" u="none" strike="noStrike" kern="1200" cap="none" spc="0" normalizeH="0" baseline="0" noProof="0" dirty="0">
                <a:ln>
                  <a:noFill/>
                </a:ln>
                <a:solidFill>
                  <a:prstClr val="black"/>
                </a:solidFill>
                <a:effectLst/>
                <a:uLnTx/>
                <a:uFillTx/>
                <a:latin typeface="Calibri Light" panose="020F0302020204030204"/>
                <a:ea typeface="+mj-ea"/>
                <a:cs typeface="+mj-cs"/>
              </a:rPr>
              <a:t>- Positionnement des protections mécaniques</a:t>
            </a:r>
            <a:endParaRPr lang="fr-FR" b="1" dirty="0">
              <a:solidFill>
                <a:schemeClr val="accent1"/>
              </a:solidFill>
            </a:endParaRPr>
          </a:p>
        </p:txBody>
      </p:sp>
    </p:spTree>
    <p:extLst>
      <p:ext uri="{BB962C8B-B14F-4D97-AF65-F5344CB8AC3E}">
        <p14:creationId xmlns:p14="http://schemas.microsoft.com/office/powerpoint/2010/main" val="28225657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C12150-398A-F9AF-AE2B-90AB41C50E1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D94D145-246B-B9D8-1D10-F9F08750995B}"/>
              </a:ext>
            </a:extLst>
          </p:cNvPr>
          <p:cNvSpPr>
            <a:spLocks noGrp="1"/>
          </p:cNvSpPr>
          <p:nvPr>
            <p:ph type="title"/>
          </p:nvPr>
        </p:nvSpPr>
        <p:spPr>
          <a:xfrm>
            <a:off x="838200" y="365125"/>
            <a:ext cx="10515600" cy="5795978"/>
          </a:xfrm>
        </p:spPr>
        <p:txBody>
          <a:bodyPr/>
          <a:lstStyle/>
          <a:p>
            <a:pPr algn="ctr"/>
            <a:r>
              <a:rPr lang="fr-FR" sz="3000" b="1" dirty="0">
                <a:solidFill>
                  <a:schemeClr val="accent1"/>
                </a:solidFill>
                <a:latin typeface="Work Sans ExtraLight"/>
              </a:rPr>
              <a:t>Insérer les fiches techniques du matériel </a:t>
            </a:r>
            <a:br>
              <a:rPr lang="fr-FR" b="1" dirty="0">
                <a:solidFill>
                  <a:schemeClr val="accent1"/>
                </a:solidFill>
              </a:rPr>
            </a:br>
            <a:br>
              <a:rPr lang="fr-FR" b="1" dirty="0">
                <a:solidFill>
                  <a:schemeClr val="accent1"/>
                </a:solidFill>
              </a:rPr>
            </a:br>
            <a:r>
              <a:rPr kumimoji="0" lang="fr-FR" sz="1600" b="0" i="0" u="none" strike="noStrike" kern="1200" cap="none" spc="0" normalizeH="0" baseline="0" noProof="0" dirty="0">
                <a:ln>
                  <a:noFill/>
                </a:ln>
                <a:solidFill>
                  <a:prstClr val="black"/>
                </a:solidFill>
                <a:effectLst/>
                <a:uLnTx/>
                <a:uFillTx/>
                <a:latin typeface="Calibri Light" panose="020F0302020204030204"/>
                <a:ea typeface="+mj-ea"/>
                <a:cs typeface="+mj-cs"/>
              </a:rPr>
              <a:t>- Fiche synthèse bornes </a:t>
            </a:r>
            <a:br>
              <a:rPr kumimoji="0" lang="fr-FR" sz="1600" b="0" i="0" u="none" strike="noStrike" kern="1200" cap="none" spc="0" normalizeH="0" baseline="0" noProof="0" dirty="0">
                <a:ln>
                  <a:noFill/>
                </a:ln>
                <a:solidFill>
                  <a:prstClr val="black"/>
                </a:solidFill>
                <a:effectLst/>
                <a:uLnTx/>
                <a:uFillTx/>
                <a:latin typeface="Calibri Light" panose="020F0302020204030204"/>
                <a:ea typeface="+mj-ea"/>
                <a:cs typeface="+mj-cs"/>
              </a:rPr>
            </a:br>
            <a:r>
              <a:rPr kumimoji="0" lang="fr-FR" sz="1600" b="0" i="0" u="none" strike="noStrike" kern="1200" cap="none" spc="0" normalizeH="0" baseline="0" noProof="0" dirty="0">
                <a:ln>
                  <a:noFill/>
                </a:ln>
                <a:solidFill>
                  <a:prstClr val="black"/>
                </a:solidFill>
                <a:effectLst/>
                <a:uLnTx/>
                <a:uFillTx/>
                <a:latin typeface="Calibri Light" panose="020F0302020204030204"/>
                <a:ea typeface="+mj-ea"/>
                <a:cs typeface="+mj-cs"/>
              </a:rPr>
              <a:t>- Fiche synthèse Matériels CFA</a:t>
            </a:r>
            <a:endParaRPr lang="fr-FR" b="1" dirty="0">
              <a:solidFill>
                <a:schemeClr val="accent1"/>
              </a:solidFill>
            </a:endParaRPr>
          </a:p>
        </p:txBody>
      </p:sp>
    </p:spTree>
    <p:extLst>
      <p:ext uri="{BB962C8B-B14F-4D97-AF65-F5344CB8AC3E}">
        <p14:creationId xmlns:p14="http://schemas.microsoft.com/office/powerpoint/2010/main" val="11431953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3B820B-CAB3-9D07-E511-65C0D1E06FA9}"/>
            </a:ext>
          </a:extLst>
        </p:cNvPr>
        <p:cNvGrpSpPr/>
        <p:nvPr/>
      </p:nvGrpSpPr>
      <p:grpSpPr>
        <a:xfrm>
          <a:off x="0" y="0"/>
          <a:ext cx="0" cy="0"/>
          <a:chOff x="0" y="0"/>
          <a:chExt cx="0" cy="0"/>
        </a:xfrm>
      </p:grpSpPr>
      <p:graphicFrame>
        <p:nvGraphicFramePr>
          <p:cNvPr id="6" name="Tableau 6">
            <a:extLst>
              <a:ext uri="{FF2B5EF4-FFF2-40B4-BE49-F238E27FC236}">
                <a16:creationId xmlns:a16="http://schemas.microsoft.com/office/drawing/2014/main" id="{EA76613A-40C3-FFDC-26ED-30DD76A4C9FF}"/>
              </a:ext>
            </a:extLst>
          </p:cNvPr>
          <p:cNvGraphicFramePr>
            <a:graphicFrameLocks noGrp="1"/>
          </p:cNvGraphicFramePr>
          <p:nvPr>
            <p:extLst>
              <p:ext uri="{D42A27DB-BD31-4B8C-83A1-F6EECF244321}">
                <p14:modId xmlns:p14="http://schemas.microsoft.com/office/powerpoint/2010/main" val="1060673832"/>
              </p:ext>
            </p:extLst>
          </p:nvPr>
        </p:nvGraphicFramePr>
        <p:xfrm>
          <a:off x="313726" y="237818"/>
          <a:ext cx="11564548" cy="4019613"/>
        </p:xfrm>
        <a:graphic>
          <a:graphicData uri="http://schemas.openxmlformats.org/drawingml/2006/table">
            <a:tbl>
              <a:tblPr firstRow="1" bandRow="1">
                <a:tableStyleId>{5940675A-B579-460E-94D1-54222C63F5DA}</a:tableStyleId>
              </a:tblPr>
              <a:tblGrid>
                <a:gridCol w="3649622">
                  <a:extLst>
                    <a:ext uri="{9D8B030D-6E8A-4147-A177-3AD203B41FA5}">
                      <a16:colId xmlns:a16="http://schemas.microsoft.com/office/drawing/2014/main" val="3627121043"/>
                    </a:ext>
                  </a:extLst>
                </a:gridCol>
                <a:gridCol w="3957463">
                  <a:extLst>
                    <a:ext uri="{9D8B030D-6E8A-4147-A177-3AD203B41FA5}">
                      <a16:colId xmlns:a16="http://schemas.microsoft.com/office/drawing/2014/main" val="483153839"/>
                    </a:ext>
                  </a:extLst>
                </a:gridCol>
                <a:gridCol w="3957463">
                  <a:extLst>
                    <a:ext uri="{9D8B030D-6E8A-4147-A177-3AD203B41FA5}">
                      <a16:colId xmlns:a16="http://schemas.microsoft.com/office/drawing/2014/main" val="3781736775"/>
                    </a:ext>
                  </a:extLst>
                </a:gridCol>
              </a:tblGrid>
              <a:tr h="356542">
                <a:tc gridSpan="3">
                  <a:txBody>
                    <a:bodyPr/>
                    <a:lstStyle/>
                    <a:p>
                      <a:pPr algn="ctr"/>
                      <a:r>
                        <a:rPr lang="fr-FR" sz="2000" b="1" dirty="0">
                          <a:solidFill>
                            <a:schemeClr val="bg1"/>
                          </a:solidFill>
                          <a:latin typeface="Work Sans" panose="00000500000000000000" pitchFamily="2" charset="0"/>
                        </a:rPr>
                        <a:t>Engagements</a:t>
                      </a:r>
                    </a:p>
                  </a:txBody>
                  <a:tcPr>
                    <a:solidFill>
                      <a:schemeClr val="accent1"/>
                    </a:solidFill>
                  </a:tcPr>
                </a:tc>
                <a:tc hMerge="1">
                  <a:txBody>
                    <a:bodyPr/>
                    <a:lstStyle/>
                    <a:p>
                      <a:endParaRPr lang="fr-FR"/>
                    </a:p>
                  </a:txBody>
                  <a:tcPr/>
                </a:tc>
                <a:tc hMerge="1">
                  <a:txBody>
                    <a:bodyPr/>
                    <a:lstStyle/>
                    <a:p>
                      <a:endParaRPr lang="fr-FR" sz="1200" b="1" dirty="0">
                        <a:solidFill>
                          <a:schemeClr val="bg1"/>
                        </a:solidFill>
                        <a:latin typeface="Work Sans" panose="00000500000000000000" pitchFamily="2" charset="0"/>
                      </a:endParaRPr>
                    </a:p>
                  </a:txBody>
                  <a:tcPr>
                    <a:solidFill>
                      <a:schemeClr val="accent1"/>
                    </a:solidFill>
                  </a:tcPr>
                </a:tc>
                <a:extLst>
                  <a:ext uri="{0D108BD9-81ED-4DB2-BD59-A6C34878D82A}">
                    <a16:rowId xmlns:a16="http://schemas.microsoft.com/office/drawing/2014/main" val="2459031976"/>
                  </a:ext>
                </a:extLst>
              </a:tr>
              <a:tr h="637540">
                <a:tc>
                  <a:txBody>
                    <a:bodyPr/>
                    <a:lstStyle/>
                    <a:p>
                      <a:pPr marL="0" algn="ctr" defTabSz="914400" rtl="0" eaLnBrk="1" latinLnBrk="0" hangingPunct="1">
                        <a:lnSpc>
                          <a:spcPct val="107000"/>
                        </a:lnSpc>
                        <a:spcAft>
                          <a:spcPts val="800"/>
                        </a:spcAft>
                      </a:pPr>
                      <a:r>
                        <a:rPr lang="fr-FR" sz="1200" kern="1200" dirty="0">
                          <a:solidFill>
                            <a:schemeClr val="tx1"/>
                          </a:solidFill>
                          <a:latin typeface="Work Sans" panose="00000500000000000000" pitchFamily="2" charset="0"/>
                          <a:ea typeface="+mn-ea"/>
                          <a:cs typeface="+mn-cs"/>
                        </a:rPr>
                        <a:t>IZIVIA (Maitrise d’Œuvre)</a:t>
                      </a:r>
                    </a:p>
                  </a:txBody>
                  <a:tcPr marL="34925" marR="34925" marT="34925" marB="34925" anchor="ct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fr-FR" sz="1200" kern="1200" dirty="0">
                          <a:solidFill>
                            <a:schemeClr val="tx1"/>
                          </a:solidFill>
                          <a:latin typeface="Work Sans" panose="00000500000000000000" pitchFamily="2" charset="0"/>
                          <a:ea typeface="+mn-ea"/>
                          <a:cs typeface="+mn-cs"/>
                        </a:rPr>
                        <a:t>Client (Maitrise d’Ouvrage)</a:t>
                      </a:r>
                    </a:p>
                  </a:txBody>
                  <a:tcPr anchor="ctr"/>
                </a:tc>
                <a:tc>
                  <a:txBody>
                    <a:bodyPr/>
                    <a:lstStyle/>
                    <a:p>
                      <a:pPr algn="ctr"/>
                      <a:r>
                        <a:rPr lang="fr-FR" sz="1200" dirty="0">
                          <a:latin typeface="Work Sans" panose="00000500000000000000" pitchFamily="2" charset="0"/>
                        </a:rPr>
                        <a:t>Installateur (Réalisation travaux)</a:t>
                      </a:r>
                    </a:p>
                  </a:txBody>
                  <a:tcPr anchor="ctr"/>
                </a:tc>
                <a:extLst>
                  <a:ext uri="{0D108BD9-81ED-4DB2-BD59-A6C34878D82A}">
                    <a16:rowId xmlns:a16="http://schemas.microsoft.com/office/drawing/2014/main" val="3376898892"/>
                  </a:ext>
                </a:extLst>
              </a:tr>
              <a:tr h="2985833">
                <a:tc>
                  <a:txBody>
                    <a:bodyPr/>
                    <a:lstStyle/>
                    <a:p>
                      <a:pPr marL="0" algn="ctr" defTabSz="914400" rtl="0" eaLnBrk="1" latinLnBrk="0" hangingPunct="1">
                        <a:lnSpc>
                          <a:spcPct val="107000"/>
                        </a:lnSpc>
                        <a:spcAft>
                          <a:spcPts val="800"/>
                        </a:spcAft>
                      </a:pPr>
                      <a:r>
                        <a:rPr lang="fr-FR" sz="1200" kern="1200" dirty="0">
                          <a:solidFill>
                            <a:schemeClr val="tx1"/>
                          </a:solidFill>
                          <a:latin typeface="Work Sans" panose="00000500000000000000" pitchFamily="2" charset="0"/>
                          <a:ea typeface="+mn-ea"/>
                          <a:cs typeface="+mn-cs"/>
                        </a:rPr>
                        <a:t>S’engage à ce que toutes les informations recueillies dans cet APS soit prises en compte lors de l’établissement de l’offre IZIVIA et ce jusqu’à la complétude des travaux</a:t>
                      </a:r>
                    </a:p>
                  </a:txBody>
                  <a:tcPr marL="34925" marR="34925" marT="34925" marB="34925"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kern="1200" dirty="0">
                          <a:solidFill>
                            <a:schemeClr val="tx1"/>
                          </a:solidFill>
                          <a:latin typeface="Work Sans" panose="00000500000000000000" pitchFamily="2" charset="0"/>
                          <a:ea typeface="+mn-ea"/>
                          <a:cs typeface="+mn-cs"/>
                        </a:rPr>
                        <a:t>S’engage à ce que toutes les informations concernant les spécificités du site fournies dans cet APS soient vérifiées, à jour et prend conscience que ces informations peuvent avoir un impact sur la validité de l’offre Izivia, la qualité et la sécurité du chantier et de l’installation</a:t>
                      </a:r>
                    </a:p>
                  </a:txBody>
                  <a:tcPr anchor="ctr"/>
                </a:tc>
                <a:tc>
                  <a:txBody>
                    <a:bodyPr/>
                    <a:lstStyle/>
                    <a:p>
                      <a:pPr algn="ctr"/>
                      <a:r>
                        <a:rPr lang="fr-FR" sz="1200" dirty="0">
                          <a:latin typeface="Work Sans" panose="00000500000000000000" pitchFamily="2" charset="0"/>
                        </a:rPr>
                        <a:t>S’engage à prendre en compte le CDC Izivia à la dernière version, à prendre en compte toutes les spécificités du site relevées lors de la visite et à y adapter la solution technique proposée dans cet APS ainsi que dans l’offre financière faite à IZIVIA</a:t>
                      </a:r>
                    </a:p>
                  </a:txBody>
                  <a:tcPr anchor="ctr"/>
                </a:tc>
                <a:extLst>
                  <a:ext uri="{0D108BD9-81ED-4DB2-BD59-A6C34878D82A}">
                    <a16:rowId xmlns:a16="http://schemas.microsoft.com/office/drawing/2014/main" val="2383640335"/>
                  </a:ext>
                </a:extLst>
              </a:tr>
            </a:tbl>
          </a:graphicData>
        </a:graphic>
      </p:graphicFrame>
      <p:sp>
        <p:nvSpPr>
          <p:cNvPr id="8" name="Espace réservé du numéro de diapositive 7">
            <a:extLst>
              <a:ext uri="{FF2B5EF4-FFF2-40B4-BE49-F238E27FC236}">
                <a16:creationId xmlns:a16="http://schemas.microsoft.com/office/drawing/2014/main" id="{ABE81742-69E3-3A60-BFC0-3230AF90CDCD}"/>
              </a:ext>
            </a:extLst>
          </p:cNvPr>
          <p:cNvSpPr>
            <a:spLocks noGrp="1"/>
          </p:cNvSpPr>
          <p:nvPr>
            <p:ph type="sldNum" sz="quarter" idx="10"/>
          </p:nvPr>
        </p:nvSpPr>
        <p:spPr>
          <a:xfrm>
            <a:off x="11328278" y="6136423"/>
            <a:ext cx="437781" cy="167113"/>
          </a:xfrm>
        </p:spPr>
        <p:txBody>
          <a:bodyPr/>
          <a:lstStyle/>
          <a:p>
            <a:fld id="{B0E65964-A4DF-446E-B0D3-80C6F778AEE2}" type="slidenum">
              <a:rPr lang="fr-FR" smtClean="0"/>
              <a:t>11</a:t>
            </a:fld>
            <a:endParaRPr lang="fr-FR" dirty="0"/>
          </a:p>
        </p:txBody>
      </p:sp>
    </p:spTree>
    <p:extLst>
      <p:ext uri="{BB962C8B-B14F-4D97-AF65-F5344CB8AC3E}">
        <p14:creationId xmlns:p14="http://schemas.microsoft.com/office/powerpoint/2010/main" val="10935349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73F1F3-D68A-A5BA-A7D0-E2C32FDD8D6A}"/>
            </a:ext>
          </a:extLst>
        </p:cNvPr>
        <p:cNvGrpSpPr/>
        <p:nvPr/>
      </p:nvGrpSpPr>
      <p:grpSpPr>
        <a:xfrm>
          <a:off x="0" y="0"/>
          <a:ext cx="0" cy="0"/>
          <a:chOff x="0" y="0"/>
          <a:chExt cx="0" cy="0"/>
        </a:xfrm>
      </p:grpSpPr>
      <p:sp>
        <p:nvSpPr>
          <p:cNvPr id="6" name="Text Placeholder 1">
            <a:extLst>
              <a:ext uri="{FF2B5EF4-FFF2-40B4-BE49-F238E27FC236}">
                <a16:creationId xmlns:a16="http://schemas.microsoft.com/office/drawing/2014/main" id="{D8EE20C9-25A9-1C6E-F842-59B6D35C60A0}"/>
              </a:ext>
            </a:extLst>
          </p:cNvPr>
          <p:cNvSpPr>
            <a:spLocks noGrp="1"/>
          </p:cNvSpPr>
          <p:nvPr>
            <p:ph type="body" sz="quarter" idx="11"/>
          </p:nvPr>
        </p:nvSpPr>
        <p:spPr>
          <a:xfrm>
            <a:off x="1" y="1800000"/>
            <a:ext cx="5342562" cy="5058000"/>
          </a:xfrm>
        </p:spPr>
        <p:txBody>
          <a:bodyPr/>
          <a:lstStyle/>
          <a:p>
            <a:r>
              <a:rPr lang="fr-FR" sz="3200" b="1" dirty="0"/>
              <a:t>IZIVIA</a:t>
            </a:r>
          </a:p>
          <a:p>
            <a:r>
              <a:rPr lang="fr-FR" sz="3200" b="1" dirty="0"/>
              <a:t>Avant-Projet Détaillé Standard - Annexes</a:t>
            </a:r>
          </a:p>
          <a:p>
            <a:endParaRPr lang="fr-FR" sz="3200" dirty="0"/>
          </a:p>
        </p:txBody>
      </p:sp>
    </p:spTree>
    <p:extLst>
      <p:ext uri="{BB962C8B-B14F-4D97-AF65-F5344CB8AC3E}">
        <p14:creationId xmlns:p14="http://schemas.microsoft.com/office/powerpoint/2010/main" val="32267255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A480415-536F-E385-6315-C948B9C83D16}"/>
            </a:ext>
          </a:extLst>
        </p:cNvPr>
        <p:cNvGrpSpPr/>
        <p:nvPr/>
      </p:nvGrpSpPr>
      <p:grpSpPr>
        <a:xfrm>
          <a:off x="0" y="0"/>
          <a:ext cx="0" cy="0"/>
          <a:chOff x="0" y="0"/>
          <a:chExt cx="0" cy="0"/>
        </a:xfrm>
      </p:grpSpPr>
      <p:sp>
        <p:nvSpPr>
          <p:cNvPr id="8" name="Espace réservé du numéro de diapositive 7">
            <a:extLst>
              <a:ext uri="{FF2B5EF4-FFF2-40B4-BE49-F238E27FC236}">
                <a16:creationId xmlns:a16="http://schemas.microsoft.com/office/drawing/2014/main" id="{F52A9158-0E4E-6B2D-0851-04795DD90A0E}"/>
              </a:ext>
            </a:extLst>
          </p:cNvPr>
          <p:cNvSpPr>
            <a:spLocks noGrp="1"/>
          </p:cNvSpPr>
          <p:nvPr>
            <p:ph type="sldNum" sz="quarter" idx="10"/>
          </p:nvPr>
        </p:nvSpPr>
        <p:spPr>
          <a:xfrm>
            <a:off x="11328278" y="6136423"/>
            <a:ext cx="437781" cy="167113"/>
          </a:xfrm>
        </p:spPr>
        <p:txBody>
          <a:bodyPr/>
          <a:lstStyle/>
          <a:p>
            <a:fld id="{B0E65964-A4DF-446E-B0D3-80C6F778AEE2}" type="slidenum">
              <a:rPr lang="fr-FR" smtClean="0"/>
              <a:t>13</a:t>
            </a:fld>
            <a:endParaRPr lang="fr-FR" dirty="0"/>
          </a:p>
        </p:txBody>
      </p:sp>
      <p:pic>
        <p:nvPicPr>
          <p:cNvPr id="3" name="Image 2">
            <a:extLst>
              <a:ext uri="{FF2B5EF4-FFF2-40B4-BE49-F238E27FC236}">
                <a16:creationId xmlns:a16="http://schemas.microsoft.com/office/drawing/2014/main" id="{33220E00-82AC-F5DA-37D0-88D519F9E5ED}"/>
              </a:ext>
            </a:extLst>
          </p:cNvPr>
          <p:cNvPicPr>
            <a:picLocks noChangeAspect="1"/>
          </p:cNvPicPr>
          <p:nvPr/>
        </p:nvPicPr>
        <p:blipFill>
          <a:blip r:embed="rId3"/>
          <a:stretch>
            <a:fillRect/>
          </a:stretch>
        </p:blipFill>
        <p:spPr>
          <a:xfrm>
            <a:off x="2190929" y="2040485"/>
            <a:ext cx="7759098" cy="4095938"/>
          </a:xfrm>
          <a:prstGeom prst="rect">
            <a:avLst/>
          </a:prstGeom>
        </p:spPr>
      </p:pic>
      <p:sp>
        <p:nvSpPr>
          <p:cNvPr id="4" name="Titre 1">
            <a:extLst>
              <a:ext uri="{FF2B5EF4-FFF2-40B4-BE49-F238E27FC236}">
                <a16:creationId xmlns:a16="http://schemas.microsoft.com/office/drawing/2014/main" id="{A0D42197-795C-DA94-D282-6229E5AE143E}"/>
              </a:ext>
            </a:extLst>
          </p:cNvPr>
          <p:cNvSpPr txBox="1">
            <a:spLocks/>
          </p:cNvSpPr>
          <p:nvPr/>
        </p:nvSpPr>
        <p:spPr>
          <a:xfrm>
            <a:off x="812678" y="0"/>
            <a:ext cx="10515600" cy="2040485"/>
          </a:xfrm>
          <a:prstGeom prst="rect">
            <a:avLst/>
          </a:prstGeom>
        </p:spPr>
        <p:txBody>
          <a:bodyPr vert="horz" lIns="360000" tIns="45720" rIns="540000" bIns="45720" rtlCol="0" anchor="ctr">
            <a:normAutofit/>
          </a:bodyPr>
          <a:lstStyle>
            <a:lvl1pPr marL="365125" indent="-365125" algn="l" defTabSz="914400" rtl="0" eaLnBrk="1" latinLnBrk="0" hangingPunct="1">
              <a:lnSpc>
                <a:spcPct val="90000"/>
              </a:lnSpc>
              <a:spcBef>
                <a:spcPct val="0"/>
              </a:spcBef>
              <a:buFont typeface="+mj-lt"/>
              <a:buAutoNum type="arabicPeriod"/>
              <a:tabLst/>
              <a:defRPr sz="3000" b="0" i="0" kern="1200">
                <a:solidFill>
                  <a:srgbClr val="1089FF"/>
                </a:solidFill>
                <a:latin typeface="Work Sans ExtraLight"/>
                <a:ea typeface="+mj-ea"/>
                <a:cs typeface="Work Sans ExtraLight"/>
              </a:defRPr>
            </a:lvl1pPr>
          </a:lstStyle>
          <a:p>
            <a:pPr marL="0" indent="0" algn="ctr">
              <a:buNone/>
            </a:pPr>
            <a:r>
              <a:rPr lang="fr-FR" sz="2400" b="1" dirty="0">
                <a:solidFill>
                  <a:schemeClr val="accent1"/>
                </a:solidFill>
              </a:rPr>
              <a:t>Avant d’enregistrer et d’envoyer l’APD, merci de suivre cette procédure pour toutes les photos insérées dans le document de manière à assurer la réception du fichier dans le CRM/nos boites email dont les capacités en taille de fichiers sont limitées</a:t>
            </a:r>
          </a:p>
        </p:txBody>
      </p:sp>
    </p:spTree>
    <p:extLst>
      <p:ext uri="{BB962C8B-B14F-4D97-AF65-F5344CB8AC3E}">
        <p14:creationId xmlns:p14="http://schemas.microsoft.com/office/powerpoint/2010/main" val="28688278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Image 2" descr="Une image contenant capture d’écran, conception&#10;&#10;Description générée automatiquement">
            <a:extLst>
              <a:ext uri="{FF2B5EF4-FFF2-40B4-BE49-F238E27FC236}">
                <a16:creationId xmlns:a16="http://schemas.microsoft.com/office/drawing/2014/main" id="{9F1FB0A3-9B8D-7C79-FD0A-487F0F64B7FD}"/>
              </a:ext>
            </a:extLst>
          </p:cNvPr>
          <p:cNvPicPr>
            <a:picLocks noChangeAspect="1"/>
          </p:cNvPicPr>
          <p:nvPr/>
        </p:nvPicPr>
        <p:blipFill>
          <a:blip r:embed="rId2"/>
          <a:stretch>
            <a:fillRect/>
          </a:stretch>
        </p:blipFill>
        <p:spPr>
          <a:xfrm>
            <a:off x="2838950" y="2335135"/>
            <a:ext cx="872211" cy="3145070"/>
          </a:xfrm>
          <a:prstGeom prst="rect">
            <a:avLst/>
          </a:prstGeom>
        </p:spPr>
      </p:pic>
      <p:pic>
        <p:nvPicPr>
          <p:cNvPr id="4" name="Image 3" descr="Une image contenant texte, capture d’écran, conception&#10;&#10;Description générée automatiquement">
            <a:extLst>
              <a:ext uri="{FF2B5EF4-FFF2-40B4-BE49-F238E27FC236}">
                <a16:creationId xmlns:a16="http://schemas.microsoft.com/office/drawing/2014/main" id="{1CE8F089-04B8-07A4-8798-4119AD0A1A84}"/>
              </a:ext>
            </a:extLst>
          </p:cNvPr>
          <p:cNvPicPr>
            <a:picLocks noChangeAspect="1"/>
          </p:cNvPicPr>
          <p:nvPr/>
        </p:nvPicPr>
        <p:blipFill>
          <a:blip r:embed="rId3"/>
          <a:stretch>
            <a:fillRect/>
          </a:stretch>
        </p:blipFill>
        <p:spPr>
          <a:xfrm>
            <a:off x="886033" y="2147773"/>
            <a:ext cx="670619" cy="3018211"/>
          </a:xfrm>
          <a:prstGeom prst="rect">
            <a:avLst/>
          </a:prstGeom>
        </p:spPr>
      </p:pic>
      <p:sp>
        <p:nvSpPr>
          <p:cNvPr id="7" name="ZoneTexte 54">
            <a:extLst>
              <a:ext uri="{FF2B5EF4-FFF2-40B4-BE49-F238E27FC236}">
                <a16:creationId xmlns:a16="http://schemas.microsoft.com/office/drawing/2014/main" id="{DAFCC68C-AD55-1422-AB86-EE8BDFC4DAA5}"/>
              </a:ext>
            </a:extLst>
          </p:cNvPr>
          <p:cNvSpPr txBox="1"/>
          <p:nvPr/>
        </p:nvSpPr>
        <p:spPr>
          <a:xfrm>
            <a:off x="2613696" y="5507883"/>
            <a:ext cx="1647329" cy="369332"/>
          </a:xfrm>
          <a:prstGeom prst="rect">
            <a:avLst/>
          </a:prstGeom>
          <a:noFill/>
        </p:spPr>
        <p:txBody>
          <a:bodyPr wrap="square" lIns="91440" tIns="45720" rIns="91440" bIns="45720" anchor="t">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b="1" dirty="0" err="1"/>
              <a:t>Enovates</a:t>
            </a:r>
            <a:r>
              <a:rPr lang="fr-FR" b="1" dirty="0"/>
              <a:t> DUO</a:t>
            </a:r>
            <a:endParaRPr lang="fr-FR" dirty="0"/>
          </a:p>
        </p:txBody>
      </p:sp>
      <p:sp>
        <p:nvSpPr>
          <p:cNvPr id="8" name="ZoneTexte 54">
            <a:extLst>
              <a:ext uri="{FF2B5EF4-FFF2-40B4-BE49-F238E27FC236}">
                <a16:creationId xmlns:a16="http://schemas.microsoft.com/office/drawing/2014/main" id="{F53924C2-4495-3B66-BCDA-5A08DD6C0A4C}"/>
              </a:ext>
            </a:extLst>
          </p:cNvPr>
          <p:cNvSpPr txBox="1"/>
          <p:nvPr/>
        </p:nvSpPr>
        <p:spPr>
          <a:xfrm>
            <a:off x="694125" y="5507883"/>
            <a:ext cx="2003588" cy="369332"/>
          </a:xfrm>
          <a:prstGeom prst="rect">
            <a:avLst/>
          </a:prstGeom>
          <a:noFill/>
        </p:spPr>
        <p:txBody>
          <a:bodyPr wrap="square" lIns="91440" tIns="45720" rIns="91440" bIns="45720" anchor="t">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b="1" dirty="0" err="1"/>
              <a:t>Enovates</a:t>
            </a:r>
            <a:r>
              <a:rPr lang="fr-FR" b="1" dirty="0"/>
              <a:t> Compact</a:t>
            </a:r>
            <a:endParaRPr lang="fr-FR" dirty="0"/>
          </a:p>
        </p:txBody>
      </p:sp>
      <p:sp>
        <p:nvSpPr>
          <p:cNvPr id="39" name="Titre 1">
            <a:extLst>
              <a:ext uri="{FF2B5EF4-FFF2-40B4-BE49-F238E27FC236}">
                <a16:creationId xmlns:a16="http://schemas.microsoft.com/office/drawing/2014/main" id="{10F5EDE4-0FFA-9615-FFE3-07D9DC4096A7}"/>
              </a:ext>
            </a:extLst>
          </p:cNvPr>
          <p:cNvSpPr txBox="1">
            <a:spLocks/>
          </p:cNvSpPr>
          <p:nvPr/>
        </p:nvSpPr>
        <p:spPr>
          <a:xfrm>
            <a:off x="851742" y="326771"/>
            <a:ext cx="10515600" cy="107038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3000" b="1" dirty="0">
                <a:solidFill>
                  <a:schemeClr val="accent1"/>
                </a:solidFill>
                <a:latin typeface="Work Sans ExtraLight"/>
              </a:rPr>
              <a:t>Eléments à utiliser pour le rendu photo de l’aménagement des places (Bornes AC)</a:t>
            </a:r>
            <a:endParaRPr lang="fr-FR" b="1" dirty="0">
              <a:solidFill>
                <a:schemeClr val="accent1"/>
              </a:solidFill>
            </a:endParaRPr>
          </a:p>
        </p:txBody>
      </p:sp>
      <p:pic>
        <p:nvPicPr>
          <p:cNvPr id="45" name="Image 44">
            <a:extLst>
              <a:ext uri="{FF2B5EF4-FFF2-40B4-BE49-F238E27FC236}">
                <a16:creationId xmlns:a16="http://schemas.microsoft.com/office/drawing/2014/main" id="{87DAA469-BF2C-6DA8-2477-E17CB52A3C6D}"/>
              </a:ext>
            </a:extLst>
          </p:cNvPr>
          <p:cNvPicPr>
            <a:picLocks noChangeAspect="1"/>
          </p:cNvPicPr>
          <p:nvPr/>
        </p:nvPicPr>
        <p:blipFill>
          <a:blip r:embed="rId4">
            <a:extLst>
              <a:ext uri="{28A0092B-C50C-407E-A947-70E740481C1C}">
                <a14:useLocalDpi xmlns:a14="http://schemas.microsoft.com/office/drawing/2010/main" val="0"/>
              </a:ext>
            </a:extLst>
          </a:blip>
          <a:srcRect l="39777" r="47235"/>
          <a:stretch/>
        </p:blipFill>
        <p:spPr>
          <a:xfrm>
            <a:off x="4759729" y="2147773"/>
            <a:ext cx="641411" cy="3479730"/>
          </a:xfrm>
          <a:prstGeom prst="rect">
            <a:avLst/>
          </a:prstGeom>
        </p:spPr>
      </p:pic>
      <p:pic>
        <p:nvPicPr>
          <p:cNvPr id="46" name="Image 45">
            <a:extLst>
              <a:ext uri="{FF2B5EF4-FFF2-40B4-BE49-F238E27FC236}">
                <a16:creationId xmlns:a16="http://schemas.microsoft.com/office/drawing/2014/main" id="{92B9F85A-2D0B-A7F8-5FFC-15D329767747}"/>
              </a:ext>
            </a:extLst>
          </p:cNvPr>
          <p:cNvPicPr>
            <a:picLocks noChangeAspect="1"/>
          </p:cNvPicPr>
          <p:nvPr/>
        </p:nvPicPr>
        <p:blipFill>
          <a:blip r:embed="rId4">
            <a:extLst>
              <a:ext uri="{28A0092B-C50C-407E-A947-70E740481C1C}">
                <a14:useLocalDpi xmlns:a14="http://schemas.microsoft.com/office/drawing/2010/main" val="0"/>
              </a:ext>
            </a:extLst>
          </a:blip>
          <a:srcRect l="9471" t="48182" r="75750"/>
          <a:stretch/>
        </p:blipFill>
        <p:spPr>
          <a:xfrm>
            <a:off x="4028771" y="2084526"/>
            <a:ext cx="729901" cy="1803112"/>
          </a:xfrm>
          <a:prstGeom prst="rect">
            <a:avLst/>
          </a:prstGeom>
        </p:spPr>
      </p:pic>
      <p:pic>
        <p:nvPicPr>
          <p:cNvPr id="47" name="Image 46">
            <a:extLst>
              <a:ext uri="{FF2B5EF4-FFF2-40B4-BE49-F238E27FC236}">
                <a16:creationId xmlns:a16="http://schemas.microsoft.com/office/drawing/2014/main" id="{C4942704-E4E5-69F3-B6B0-F546DFB1AB21}"/>
              </a:ext>
            </a:extLst>
          </p:cNvPr>
          <p:cNvPicPr>
            <a:picLocks noChangeAspect="1"/>
          </p:cNvPicPr>
          <p:nvPr/>
        </p:nvPicPr>
        <p:blipFill>
          <a:blip r:embed="rId4">
            <a:extLst>
              <a:ext uri="{28A0092B-C50C-407E-A947-70E740481C1C}">
                <a14:useLocalDpi xmlns:a14="http://schemas.microsoft.com/office/drawing/2010/main" val="0"/>
              </a:ext>
            </a:extLst>
          </a:blip>
          <a:srcRect l="63969" r="13051"/>
          <a:stretch/>
        </p:blipFill>
        <p:spPr>
          <a:xfrm>
            <a:off x="5321153" y="2094094"/>
            <a:ext cx="1134913" cy="3479730"/>
          </a:xfrm>
          <a:prstGeom prst="rect">
            <a:avLst/>
          </a:prstGeom>
        </p:spPr>
      </p:pic>
      <p:sp>
        <p:nvSpPr>
          <p:cNvPr id="48" name="ZoneTexte 54">
            <a:extLst>
              <a:ext uri="{FF2B5EF4-FFF2-40B4-BE49-F238E27FC236}">
                <a16:creationId xmlns:a16="http://schemas.microsoft.com/office/drawing/2014/main" id="{B3E4E666-1FA8-7A18-1B85-ED52BE2C24B5}"/>
              </a:ext>
            </a:extLst>
          </p:cNvPr>
          <p:cNvSpPr txBox="1"/>
          <p:nvPr/>
        </p:nvSpPr>
        <p:spPr>
          <a:xfrm>
            <a:off x="4391866" y="5507883"/>
            <a:ext cx="1765316" cy="369332"/>
          </a:xfrm>
          <a:prstGeom prst="rect">
            <a:avLst/>
          </a:prstGeom>
          <a:noFill/>
        </p:spPr>
        <p:txBody>
          <a:bodyPr wrap="square" lIns="91440" tIns="45720" rIns="91440" bIns="45720" anchor="t">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b="1" dirty="0"/>
              <a:t>Hager Evolution</a:t>
            </a:r>
            <a:endParaRPr lang="fr-FR" dirty="0"/>
          </a:p>
        </p:txBody>
      </p:sp>
      <p:sp>
        <p:nvSpPr>
          <p:cNvPr id="49" name="ZoneTexte 54">
            <a:extLst>
              <a:ext uri="{FF2B5EF4-FFF2-40B4-BE49-F238E27FC236}">
                <a16:creationId xmlns:a16="http://schemas.microsoft.com/office/drawing/2014/main" id="{D79BB190-D5A5-4437-29BE-860F6DBDAF3C}"/>
              </a:ext>
            </a:extLst>
          </p:cNvPr>
          <p:cNvSpPr txBox="1"/>
          <p:nvPr/>
        </p:nvSpPr>
        <p:spPr>
          <a:xfrm>
            <a:off x="6752923" y="5383083"/>
            <a:ext cx="1647329" cy="646331"/>
          </a:xfrm>
          <a:prstGeom prst="rect">
            <a:avLst/>
          </a:prstGeom>
          <a:noFill/>
        </p:spPr>
        <p:txBody>
          <a:bodyPr wrap="square" lIns="91440" tIns="45720" rIns="91440" bIns="45720" anchor="t">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fr-FR" b="1" dirty="0"/>
              <a:t>Schneider </a:t>
            </a:r>
            <a:r>
              <a:rPr lang="fr-FR" b="1" dirty="0" err="1"/>
              <a:t>Wallbox</a:t>
            </a:r>
            <a:r>
              <a:rPr lang="fr-FR" b="1" dirty="0"/>
              <a:t> Pro AC</a:t>
            </a:r>
            <a:endParaRPr lang="fr-FR" dirty="0"/>
          </a:p>
        </p:txBody>
      </p:sp>
      <p:pic>
        <p:nvPicPr>
          <p:cNvPr id="53" name="Image 52">
            <a:extLst>
              <a:ext uri="{FF2B5EF4-FFF2-40B4-BE49-F238E27FC236}">
                <a16:creationId xmlns:a16="http://schemas.microsoft.com/office/drawing/2014/main" id="{E5F41529-4DF8-F151-F7DD-A1B4AC38C971}"/>
              </a:ext>
            </a:extLst>
          </p:cNvPr>
          <p:cNvPicPr>
            <a:picLocks noChangeAspect="1"/>
          </p:cNvPicPr>
          <p:nvPr/>
        </p:nvPicPr>
        <p:blipFill>
          <a:blip r:embed="rId5">
            <a:extLst>
              <a:ext uri="{28A0092B-C50C-407E-A947-70E740481C1C}">
                <a14:useLocalDpi xmlns:a14="http://schemas.microsoft.com/office/drawing/2010/main" val="0"/>
              </a:ext>
            </a:extLst>
          </a:blip>
          <a:srcRect l="38391" r="31386"/>
          <a:stretch/>
        </p:blipFill>
        <p:spPr>
          <a:xfrm>
            <a:off x="7530394" y="2204980"/>
            <a:ext cx="984667" cy="3257957"/>
          </a:xfrm>
          <a:prstGeom prst="rect">
            <a:avLst/>
          </a:prstGeom>
        </p:spPr>
      </p:pic>
      <p:pic>
        <p:nvPicPr>
          <p:cNvPr id="55" name="Image 54">
            <a:extLst>
              <a:ext uri="{FF2B5EF4-FFF2-40B4-BE49-F238E27FC236}">
                <a16:creationId xmlns:a16="http://schemas.microsoft.com/office/drawing/2014/main" id="{FC7E42E7-4941-5966-C7D5-C9FEA0AE52D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765853" y="2335135"/>
            <a:ext cx="810735" cy="1348516"/>
          </a:xfrm>
          <a:prstGeom prst="rect">
            <a:avLst/>
          </a:prstGeom>
        </p:spPr>
      </p:pic>
      <p:pic>
        <p:nvPicPr>
          <p:cNvPr id="56" name="Image 55" descr="Une image contenant texte, capture d’écran, conception&#10;&#10;Description générée automatiquement">
            <a:extLst>
              <a:ext uri="{FF2B5EF4-FFF2-40B4-BE49-F238E27FC236}">
                <a16:creationId xmlns:a16="http://schemas.microsoft.com/office/drawing/2014/main" id="{EB02C1D8-F300-7C47-85D8-25B81BC7BAA3}"/>
              </a:ext>
            </a:extLst>
          </p:cNvPr>
          <p:cNvPicPr>
            <a:picLocks noChangeAspect="1"/>
          </p:cNvPicPr>
          <p:nvPr/>
        </p:nvPicPr>
        <p:blipFill>
          <a:blip r:embed="rId3"/>
          <a:srcRect b="61867"/>
          <a:stretch/>
        </p:blipFill>
        <p:spPr>
          <a:xfrm>
            <a:off x="1773010" y="2186416"/>
            <a:ext cx="670619" cy="1150929"/>
          </a:xfrm>
          <a:prstGeom prst="rect">
            <a:avLst/>
          </a:prstGeom>
        </p:spPr>
      </p:pic>
      <p:sp>
        <p:nvSpPr>
          <p:cNvPr id="57" name="ZoneTexte 54">
            <a:extLst>
              <a:ext uri="{FF2B5EF4-FFF2-40B4-BE49-F238E27FC236}">
                <a16:creationId xmlns:a16="http://schemas.microsoft.com/office/drawing/2014/main" id="{ED811EC9-0541-1D44-0E65-1F0682370F3F}"/>
              </a:ext>
            </a:extLst>
          </p:cNvPr>
          <p:cNvSpPr txBox="1"/>
          <p:nvPr/>
        </p:nvSpPr>
        <p:spPr>
          <a:xfrm>
            <a:off x="10306974" y="5383083"/>
            <a:ext cx="1647329" cy="646331"/>
          </a:xfrm>
          <a:prstGeom prst="rect">
            <a:avLst/>
          </a:prstGeom>
          <a:noFill/>
        </p:spPr>
        <p:txBody>
          <a:bodyPr wrap="square" lIns="91440" tIns="45720" rIns="91440" bIns="45720" anchor="t">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fr-FR" b="1" dirty="0"/>
              <a:t>Borne hors catalogue</a:t>
            </a:r>
            <a:endParaRPr lang="fr-FR" dirty="0"/>
          </a:p>
        </p:txBody>
      </p:sp>
      <p:sp>
        <p:nvSpPr>
          <p:cNvPr id="58" name="Rectangle 57">
            <a:extLst>
              <a:ext uri="{FF2B5EF4-FFF2-40B4-BE49-F238E27FC236}">
                <a16:creationId xmlns:a16="http://schemas.microsoft.com/office/drawing/2014/main" id="{40314ED9-EE77-4687-1033-94A6E1657CFB}"/>
              </a:ext>
            </a:extLst>
          </p:cNvPr>
          <p:cNvSpPr/>
          <p:nvPr/>
        </p:nvSpPr>
        <p:spPr>
          <a:xfrm>
            <a:off x="10511276" y="2223634"/>
            <a:ext cx="548640" cy="3006179"/>
          </a:xfrm>
          <a:prstGeom prst="rect">
            <a:avLst/>
          </a:prstGeom>
          <a:solidFill>
            <a:schemeClr val="accent4">
              <a:lumMod val="40000"/>
              <a:lumOff val="60000"/>
            </a:schemeClr>
          </a:solidFill>
          <a:ln w="28575">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Rectangle 1">
            <a:extLst>
              <a:ext uri="{FF2B5EF4-FFF2-40B4-BE49-F238E27FC236}">
                <a16:creationId xmlns:a16="http://schemas.microsoft.com/office/drawing/2014/main" id="{922F99D2-888D-FF3B-1070-239BD763EA67}"/>
              </a:ext>
            </a:extLst>
          </p:cNvPr>
          <p:cNvSpPr/>
          <p:nvPr/>
        </p:nvSpPr>
        <p:spPr>
          <a:xfrm>
            <a:off x="11212685" y="2223634"/>
            <a:ext cx="548640" cy="1208344"/>
          </a:xfrm>
          <a:prstGeom prst="rect">
            <a:avLst/>
          </a:prstGeom>
          <a:solidFill>
            <a:schemeClr val="accent4">
              <a:lumMod val="40000"/>
              <a:lumOff val="60000"/>
            </a:schemeClr>
          </a:solidFill>
          <a:ln w="28575">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6" name="Image 5" descr="Une image contenant cercle, télécommande, conception&#10;&#10;Le contenu généré par l’IA peut être incorrect.">
            <a:extLst>
              <a:ext uri="{FF2B5EF4-FFF2-40B4-BE49-F238E27FC236}">
                <a16:creationId xmlns:a16="http://schemas.microsoft.com/office/drawing/2014/main" id="{2BF6B7B4-7C71-B118-7244-604DE395B68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667830" y="2186416"/>
            <a:ext cx="1553782" cy="1553782"/>
          </a:xfrm>
          <a:prstGeom prst="rect">
            <a:avLst/>
          </a:prstGeom>
        </p:spPr>
      </p:pic>
      <p:sp>
        <p:nvSpPr>
          <p:cNvPr id="9" name="ZoneTexte 54">
            <a:extLst>
              <a:ext uri="{FF2B5EF4-FFF2-40B4-BE49-F238E27FC236}">
                <a16:creationId xmlns:a16="http://schemas.microsoft.com/office/drawing/2014/main" id="{9ABFBB2C-235C-D63F-C5FE-CD81E0D747C9}"/>
              </a:ext>
            </a:extLst>
          </p:cNvPr>
          <p:cNvSpPr txBox="1"/>
          <p:nvPr/>
        </p:nvSpPr>
        <p:spPr>
          <a:xfrm>
            <a:off x="8745960" y="5579858"/>
            <a:ext cx="1765316" cy="369332"/>
          </a:xfrm>
          <a:prstGeom prst="rect">
            <a:avLst/>
          </a:prstGeom>
          <a:noFill/>
        </p:spPr>
        <p:txBody>
          <a:bodyPr wrap="square" lIns="91440" tIns="45720" rIns="91440" bIns="45720" anchor="t">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b="1" dirty="0"/>
              <a:t>Valéo </a:t>
            </a:r>
            <a:r>
              <a:rPr lang="fr-FR" b="1" dirty="0" err="1"/>
              <a:t>Ineez</a:t>
            </a:r>
            <a:endParaRPr lang="fr-FR" dirty="0"/>
          </a:p>
        </p:txBody>
      </p:sp>
    </p:spTree>
    <p:extLst>
      <p:ext uri="{BB962C8B-B14F-4D97-AF65-F5344CB8AC3E}">
        <p14:creationId xmlns:p14="http://schemas.microsoft.com/office/powerpoint/2010/main" val="21520901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B63CE86-65B9-2ADE-728D-E98464C9E13B}"/>
            </a:ext>
          </a:extLst>
        </p:cNvPr>
        <p:cNvGrpSpPr/>
        <p:nvPr/>
      </p:nvGrpSpPr>
      <p:grpSpPr>
        <a:xfrm>
          <a:off x="0" y="0"/>
          <a:ext cx="0" cy="0"/>
          <a:chOff x="0" y="0"/>
          <a:chExt cx="0" cy="0"/>
        </a:xfrm>
      </p:grpSpPr>
      <p:sp>
        <p:nvSpPr>
          <p:cNvPr id="8" name="ZoneTexte 54">
            <a:extLst>
              <a:ext uri="{FF2B5EF4-FFF2-40B4-BE49-F238E27FC236}">
                <a16:creationId xmlns:a16="http://schemas.microsoft.com/office/drawing/2014/main" id="{AB64D015-72C4-4D19-97E2-819316B35431}"/>
              </a:ext>
            </a:extLst>
          </p:cNvPr>
          <p:cNvSpPr txBox="1"/>
          <p:nvPr/>
        </p:nvSpPr>
        <p:spPr>
          <a:xfrm>
            <a:off x="936450" y="5755808"/>
            <a:ext cx="1523728" cy="646331"/>
          </a:xfrm>
          <a:prstGeom prst="rect">
            <a:avLst/>
          </a:prstGeom>
          <a:noFill/>
        </p:spPr>
        <p:txBody>
          <a:bodyPr wrap="square" lIns="91440" tIns="45720" rIns="91440" bIns="45720" anchor="t">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b="1" dirty="0"/>
              <a:t>IES 24 kW DC / 22kW AC</a:t>
            </a:r>
            <a:endParaRPr lang="fr-FR" dirty="0"/>
          </a:p>
        </p:txBody>
      </p:sp>
      <p:sp>
        <p:nvSpPr>
          <p:cNvPr id="39" name="Titre 1">
            <a:extLst>
              <a:ext uri="{FF2B5EF4-FFF2-40B4-BE49-F238E27FC236}">
                <a16:creationId xmlns:a16="http://schemas.microsoft.com/office/drawing/2014/main" id="{DE9B56F4-490F-0583-D369-FD42D3FF7DE7}"/>
              </a:ext>
            </a:extLst>
          </p:cNvPr>
          <p:cNvSpPr txBox="1">
            <a:spLocks/>
          </p:cNvSpPr>
          <p:nvPr/>
        </p:nvSpPr>
        <p:spPr>
          <a:xfrm>
            <a:off x="838200" y="365125"/>
            <a:ext cx="10515600" cy="107038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3000" b="1" dirty="0">
                <a:solidFill>
                  <a:schemeClr val="accent1"/>
                </a:solidFill>
                <a:latin typeface="Work Sans ExtraLight"/>
              </a:rPr>
              <a:t>Eléments à utiliser pour le rendu photo de l’aménagement des places (Bornes DC)</a:t>
            </a:r>
            <a:endParaRPr lang="fr-FR" b="1" dirty="0">
              <a:solidFill>
                <a:schemeClr val="accent1"/>
              </a:solidFill>
            </a:endParaRPr>
          </a:p>
        </p:txBody>
      </p:sp>
      <p:sp>
        <p:nvSpPr>
          <p:cNvPr id="57" name="ZoneTexte 54">
            <a:extLst>
              <a:ext uri="{FF2B5EF4-FFF2-40B4-BE49-F238E27FC236}">
                <a16:creationId xmlns:a16="http://schemas.microsoft.com/office/drawing/2014/main" id="{3EC7234A-D974-2F89-0793-5AEDA1844484}"/>
              </a:ext>
            </a:extLst>
          </p:cNvPr>
          <p:cNvSpPr txBox="1"/>
          <p:nvPr/>
        </p:nvSpPr>
        <p:spPr>
          <a:xfrm>
            <a:off x="2879750" y="5737621"/>
            <a:ext cx="1647329" cy="646331"/>
          </a:xfrm>
          <a:prstGeom prst="rect">
            <a:avLst/>
          </a:prstGeom>
          <a:noFill/>
        </p:spPr>
        <p:txBody>
          <a:bodyPr wrap="square" lIns="91440" tIns="45720" rIns="91440" bIns="45720" anchor="t">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fr-FR" b="1" dirty="0"/>
              <a:t>Delta </a:t>
            </a:r>
          </a:p>
          <a:p>
            <a:pPr algn="ctr"/>
            <a:r>
              <a:rPr lang="fr-FR" b="1" dirty="0"/>
              <a:t>100 kW DC</a:t>
            </a:r>
            <a:endParaRPr lang="fr-FR" dirty="0"/>
          </a:p>
        </p:txBody>
      </p:sp>
      <p:pic>
        <p:nvPicPr>
          <p:cNvPr id="2" name="Image 1">
            <a:extLst>
              <a:ext uri="{FF2B5EF4-FFF2-40B4-BE49-F238E27FC236}">
                <a16:creationId xmlns:a16="http://schemas.microsoft.com/office/drawing/2014/main" id="{3A6D6E02-C06C-D02F-C2E5-78E1D3FA6B12}"/>
              </a:ext>
            </a:extLst>
          </p:cNvPr>
          <p:cNvPicPr>
            <a:picLocks noChangeAspect="1"/>
          </p:cNvPicPr>
          <p:nvPr/>
        </p:nvPicPr>
        <p:blipFill>
          <a:blip r:embed="rId2"/>
          <a:stretch>
            <a:fillRect/>
          </a:stretch>
        </p:blipFill>
        <p:spPr>
          <a:xfrm>
            <a:off x="789122" y="2354035"/>
            <a:ext cx="1424549" cy="2875540"/>
          </a:xfrm>
          <a:prstGeom prst="rect">
            <a:avLst/>
          </a:prstGeom>
        </p:spPr>
      </p:pic>
      <p:pic>
        <p:nvPicPr>
          <p:cNvPr id="5" name="Image 4">
            <a:extLst>
              <a:ext uri="{FF2B5EF4-FFF2-40B4-BE49-F238E27FC236}">
                <a16:creationId xmlns:a16="http://schemas.microsoft.com/office/drawing/2014/main" id="{D851F212-8137-23D0-B455-BBDE0E579F45}"/>
              </a:ext>
            </a:extLst>
          </p:cNvPr>
          <p:cNvPicPr>
            <a:picLocks noChangeAspect="1"/>
          </p:cNvPicPr>
          <p:nvPr/>
        </p:nvPicPr>
        <p:blipFill>
          <a:blip r:embed="rId3"/>
          <a:stretch>
            <a:fillRect/>
          </a:stretch>
        </p:blipFill>
        <p:spPr>
          <a:xfrm>
            <a:off x="2716978" y="2296803"/>
            <a:ext cx="1810101" cy="3096306"/>
          </a:xfrm>
          <a:prstGeom prst="rect">
            <a:avLst/>
          </a:prstGeom>
        </p:spPr>
      </p:pic>
      <p:pic>
        <p:nvPicPr>
          <p:cNvPr id="6" name="Image 5">
            <a:extLst>
              <a:ext uri="{FF2B5EF4-FFF2-40B4-BE49-F238E27FC236}">
                <a16:creationId xmlns:a16="http://schemas.microsoft.com/office/drawing/2014/main" id="{A3AC414C-D310-54AE-101A-1037F063DCB0}"/>
              </a:ext>
            </a:extLst>
          </p:cNvPr>
          <p:cNvPicPr>
            <a:picLocks noChangeAspect="1"/>
          </p:cNvPicPr>
          <p:nvPr/>
        </p:nvPicPr>
        <p:blipFill>
          <a:blip r:embed="rId4"/>
          <a:stretch>
            <a:fillRect/>
          </a:stretch>
        </p:blipFill>
        <p:spPr>
          <a:xfrm>
            <a:off x="4960088" y="2186731"/>
            <a:ext cx="1404880" cy="3207001"/>
          </a:xfrm>
          <a:prstGeom prst="rect">
            <a:avLst/>
          </a:prstGeom>
        </p:spPr>
      </p:pic>
      <p:sp>
        <p:nvSpPr>
          <p:cNvPr id="9" name="ZoneTexte 54">
            <a:extLst>
              <a:ext uri="{FF2B5EF4-FFF2-40B4-BE49-F238E27FC236}">
                <a16:creationId xmlns:a16="http://schemas.microsoft.com/office/drawing/2014/main" id="{DCF35C62-948E-0BFA-4460-F69FEECA0017}"/>
              </a:ext>
            </a:extLst>
          </p:cNvPr>
          <p:cNvSpPr txBox="1"/>
          <p:nvPr/>
        </p:nvSpPr>
        <p:spPr>
          <a:xfrm>
            <a:off x="9608221" y="5645261"/>
            <a:ext cx="1647329" cy="646331"/>
          </a:xfrm>
          <a:prstGeom prst="rect">
            <a:avLst/>
          </a:prstGeom>
          <a:noFill/>
        </p:spPr>
        <p:txBody>
          <a:bodyPr wrap="square" lIns="91440" tIns="45720" rIns="91440" bIns="45720" anchor="t">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fr-FR" b="1" dirty="0"/>
              <a:t>Borne hors catalogue</a:t>
            </a:r>
            <a:endParaRPr lang="fr-FR" dirty="0"/>
          </a:p>
        </p:txBody>
      </p:sp>
      <p:sp>
        <p:nvSpPr>
          <p:cNvPr id="10" name="Rectangle 9">
            <a:extLst>
              <a:ext uri="{FF2B5EF4-FFF2-40B4-BE49-F238E27FC236}">
                <a16:creationId xmlns:a16="http://schemas.microsoft.com/office/drawing/2014/main" id="{1698346A-4424-03C2-F955-CF3F404871FE}"/>
              </a:ext>
            </a:extLst>
          </p:cNvPr>
          <p:cNvSpPr/>
          <p:nvPr/>
        </p:nvSpPr>
        <p:spPr>
          <a:xfrm>
            <a:off x="9781133" y="2186731"/>
            <a:ext cx="1301503" cy="3006179"/>
          </a:xfrm>
          <a:prstGeom prst="rect">
            <a:avLst/>
          </a:prstGeom>
          <a:solidFill>
            <a:srgbClr val="7030A0"/>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2" name="ZoneTexte 54">
            <a:extLst>
              <a:ext uri="{FF2B5EF4-FFF2-40B4-BE49-F238E27FC236}">
                <a16:creationId xmlns:a16="http://schemas.microsoft.com/office/drawing/2014/main" id="{57F02A92-C59D-D06F-EE92-AEE218DE1DAC}"/>
              </a:ext>
            </a:extLst>
          </p:cNvPr>
          <p:cNvSpPr txBox="1"/>
          <p:nvPr/>
        </p:nvSpPr>
        <p:spPr>
          <a:xfrm>
            <a:off x="4838863" y="5755808"/>
            <a:ext cx="1647329" cy="646331"/>
          </a:xfrm>
          <a:prstGeom prst="rect">
            <a:avLst/>
          </a:prstGeom>
          <a:noFill/>
        </p:spPr>
        <p:txBody>
          <a:bodyPr wrap="square" lIns="91440" tIns="45720" rIns="91440" bIns="45720" anchor="t">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fr-FR" b="1" dirty="0"/>
              <a:t>Delta </a:t>
            </a:r>
          </a:p>
          <a:p>
            <a:pPr algn="ctr"/>
            <a:r>
              <a:rPr lang="fr-FR" b="1" dirty="0"/>
              <a:t>150 kW DC</a:t>
            </a:r>
            <a:endParaRPr lang="fr-FR" dirty="0"/>
          </a:p>
        </p:txBody>
      </p:sp>
      <p:sp>
        <p:nvSpPr>
          <p:cNvPr id="13" name="ZoneTexte 54">
            <a:extLst>
              <a:ext uri="{FF2B5EF4-FFF2-40B4-BE49-F238E27FC236}">
                <a16:creationId xmlns:a16="http://schemas.microsoft.com/office/drawing/2014/main" id="{EF7ABDE1-EED7-607D-8513-51CE0CCC6C53}"/>
              </a:ext>
            </a:extLst>
          </p:cNvPr>
          <p:cNvSpPr txBox="1"/>
          <p:nvPr/>
        </p:nvSpPr>
        <p:spPr>
          <a:xfrm>
            <a:off x="7056393" y="5617309"/>
            <a:ext cx="1647329" cy="923330"/>
          </a:xfrm>
          <a:prstGeom prst="rect">
            <a:avLst/>
          </a:prstGeom>
          <a:noFill/>
        </p:spPr>
        <p:txBody>
          <a:bodyPr wrap="square" lIns="91440" tIns="45720" rIns="91440" bIns="45720" anchor="t">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fr-FR" b="1" dirty="0" err="1"/>
              <a:t>Ingeteam</a:t>
            </a:r>
            <a:r>
              <a:rPr lang="fr-FR" b="1" dirty="0"/>
              <a:t> Rapid 180kW DC</a:t>
            </a:r>
          </a:p>
        </p:txBody>
      </p:sp>
      <p:pic>
        <p:nvPicPr>
          <p:cNvPr id="3" name="Image 2" descr="Une image contenant intérieur, Appareils électroniques, noir&#10;&#10;Description générée automatiquement">
            <a:extLst>
              <a:ext uri="{FF2B5EF4-FFF2-40B4-BE49-F238E27FC236}">
                <a16:creationId xmlns:a16="http://schemas.microsoft.com/office/drawing/2014/main" id="{C51C9A37-E6BD-E1A4-7252-EF53B9653B2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868275" y="2063945"/>
            <a:ext cx="2094853" cy="3165630"/>
          </a:xfrm>
          <a:prstGeom prst="rect">
            <a:avLst/>
          </a:prstGeom>
        </p:spPr>
      </p:pic>
    </p:spTree>
    <p:extLst>
      <p:ext uri="{BB962C8B-B14F-4D97-AF65-F5344CB8AC3E}">
        <p14:creationId xmlns:p14="http://schemas.microsoft.com/office/powerpoint/2010/main" val="12323106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148FFF9-B953-94B2-5CE3-565655EBA0D3}"/>
            </a:ext>
          </a:extLst>
        </p:cNvPr>
        <p:cNvGrpSpPr/>
        <p:nvPr/>
      </p:nvGrpSpPr>
      <p:grpSpPr>
        <a:xfrm>
          <a:off x="0" y="0"/>
          <a:ext cx="0" cy="0"/>
          <a:chOff x="0" y="0"/>
          <a:chExt cx="0" cy="0"/>
        </a:xfrm>
      </p:grpSpPr>
      <p:pic>
        <p:nvPicPr>
          <p:cNvPr id="33" name="Image 32">
            <a:extLst>
              <a:ext uri="{FF2B5EF4-FFF2-40B4-BE49-F238E27FC236}">
                <a16:creationId xmlns:a16="http://schemas.microsoft.com/office/drawing/2014/main" id="{981D7945-F4D1-04CF-A5D2-971AA6AEA662}"/>
              </a:ext>
            </a:extLst>
          </p:cNvPr>
          <p:cNvPicPr>
            <a:picLocks noChangeAspect="1"/>
          </p:cNvPicPr>
          <p:nvPr/>
        </p:nvPicPr>
        <p:blipFill>
          <a:blip r:embed="rId2"/>
          <a:stretch>
            <a:fillRect/>
          </a:stretch>
        </p:blipFill>
        <p:spPr>
          <a:xfrm flipH="1">
            <a:off x="1847272" y="1744412"/>
            <a:ext cx="1575625" cy="2723945"/>
          </a:xfrm>
          <a:prstGeom prst="rect">
            <a:avLst/>
          </a:prstGeom>
        </p:spPr>
      </p:pic>
      <p:sp>
        <p:nvSpPr>
          <p:cNvPr id="34" name="ZoneTexte 54">
            <a:extLst>
              <a:ext uri="{FF2B5EF4-FFF2-40B4-BE49-F238E27FC236}">
                <a16:creationId xmlns:a16="http://schemas.microsoft.com/office/drawing/2014/main" id="{8D8BF52E-F2CE-82BC-5AE6-93AD8E961970}"/>
              </a:ext>
            </a:extLst>
          </p:cNvPr>
          <p:cNvSpPr txBox="1"/>
          <p:nvPr/>
        </p:nvSpPr>
        <p:spPr>
          <a:xfrm>
            <a:off x="1996393" y="4407927"/>
            <a:ext cx="1277381" cy="369332"/>
          </a:xfrm>
          <a:prstGeom prst="rect">
            <a:avLst/>
          </a:prstGeom>
          <a:noFill/>
        </p:spPr>
        <p:txBody>
          <a:bodyPr wrap="square">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sz="1800" b="1" dirty="0"/>
              <a:t>C4 Enedis</a:t>
            </a:r>
          </a:p>
        </p:txBody>
      </p:sp>
      <p:sp>
        <p:nvSpPr>
          <p:cNvPr id="39" name="Titre 1">
            <a:extLst>
              <a:ext uri="{FF2B5EF4-FFF2-40B4-BE49-F238E27FC236}">
                <a16:creationId xmlns:a16="http://schemas.microsoft.com/office/drawing/2014/main" id="{B448DBD2-1284-8477-7680-87EEE17B8A66}"/>
              </a:ext>
            </a:extLst>
          </p:cNvPr>
          <p:cNvSpPr txBox="1">
            <a:spLocks/>
          </p:cNvSpPr>
          <p:nvPr/>
        </p:nvSpPr>
        <p:spPr>
          <a:xfrm>
            <a:off x="838200" y="365125"/>
            <a:ext cx="10515600" cy="107038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3000" b="1" dirty="0">
                <a:solidFill>
                  <a:schemeClr val="accent1"/>
                </a:solidFill>
                <a:latin typeface="Work Sans ExtraLight"/>
              </a:rPr>
              <a:t>Eléments à utiliser pour le rendu photo de l’aménagement des places (Infra IRVE)</a:t>
            </a:r>
            <a:endParaRPr lang="fr-FR" b="1" dirty="0">
              <a:solidFill>
                <a:schemeClr val="accent1"/>
              </a:solidFill>
            </a:endParaRPr>
          </a:p>
        </p:txBody>
      </p:sp>
      <p:pic>
        <p:nvPicPr>
          <p:cNvPr id="3074" name="Picture 2" descr="L1T-C250 - Fondatel">
            <a:extLst>
              <a:ext uri="{FF2B5EF4-FFF2-40B4-BE49-F238E27FC236}">
                <a16:creationId xmlns:a16="http://schemas.microsoft.com/office/drawing/2014/main" id="{9D73EBE4-A161-82E5-DA78-723E4F773D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91967" y="1729016"/>
            <a:ext cx="2156777" cy="2156777"/>
          </a:xfrm>
          <a:prstGeom prst="rect">
            <a:avLst/>
          </a:prstGeom>
          <a:noFill/>
          <a:extLst>
            <a:ext uri="{909E8E84-426E-40DD-AFC4-6F175D3DCCD1}">
              <a14:hiddenFill xmlns:a14="http://schemas.microsoft.com/office/drawing/2010/main">
                <a:solidFill>
                  <a:srgbClr val="FFFFFF"/>
                </a:solidFill>
              </a14:hiddenFill>
            </a:ext>
          </a:extLst>
        </p:spPr>
      </p:pic>
      <p:sp>
        <p:nvSpPr>
          <p:cNvPr id="2" name="ZoneTexte 54">
            <a:extLst>
              <a:ext uri="{FF2B5EF4-FFF2-40B4-BE49-F238E27FC236}">
                <a16:creationId xmlns:a16="http://schemas.microsoft.com/office/drawing/2014/main" id="{6315C6ED-0E17-CA8B-402D-08680F7D4038}"/>
              </a:ext>
            </a:extLst>
          </p:cNvPr>
          <p:cNvSpPr txBox="1"/>
          <p:nvPr/>
        </p:nvSpPr>
        <p:spPr>
          <a:xfrm>
            <a:off x="8059023" y="3885793"/>
            <a:ext cx="1300161" cy="369332"/>
          </a:xfrm>
          <a:prstGeom prst="rect">
            <a:avLst/>
          </a:prstGeom>
          <a:noFill/>
        </p:spPr>
        <p:txBody>
          <a:bodyPr wrap="square">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sz="1800" b="1" dirty="0"/>
              <a:t>L1C – L1T</a:t>
            </a:r>
          </a:p>
        </p:txBody>
      </p:sp>
      <p:pic>
        <p:nvPicPr>
          <p:cNvPr id="11" name="Image 10">
            <a:extLst>
              <a:ext uri="{FF2B5EF4-FFF2-40B4-BE49-F238E27FC236}">
                <a16:creationId xmlns:a16="http://schemas.microsoft.com/office/drawing/2014/main" id="{85568CEB-95C4-A584-01AA-E9050A7DE0E2}"/>
              </a:ext>
            </a:extLst>
          </p:cNvPr>
          <p:cNvPicPr>
            <a:picLocks noChangeAspect="1"/>
          </p:cNvPicPr>
          <p:nvPr/>
        </p:nvPicPr>
        <p:blipFill>
          <a:blip r:embed="rId4">
            <a:extLst>
              <a:ext uri="{28A0092B-C50C-407E-A947-70E740481C1C}">
                <a14:useLocalDpi xmlns:a14="http://schemas.microsoft.com/office/drawing/2010/main" val="0"/>
              </a:ext>
            </a:extLst>
          </a:blip>
          <a:srcRect t="24488" b="23166"/>
          <a:stretch/>
        </p:blipFill>
        <p:spPr>
          <a:xfrm>
            <a:off x="7142240" y="4286466"/>
            <a:ext cx="2856230" cy="1495108"/>
          </a:xfrm>
          <a:prstGeom prst="rect">
            <a:avLst/>
          </a:prstGeom>
        </p:spPr>
      </p:pic>
      <p:sp>
        <p:nvSpPr>
          <p:cNvPr id="14" name="ZoneTexte 54">
            <a:extLst>
              <a:ext uri="{FF2B5EF4-FFF2-40B4-BE49-F238E27FC236}">
                <a16:creationId xmlns:a16="http://schemas.microsoft.com/office/drawing/2014/main" id="{71C1635F-7E84-5EC7-4108-0A59EC47952C}"/>
              </a:ext>
            </a:extLst>
          </p:cNvPr>
          <p:cNvSpPr txBox="1"/>
          <p:nvPr/>
        </p:nvSpPr>
        <p:spPr>
          <a:xfrm>
            <a:off x="8099663" y="5884263"/>
            <a:ext cx="1300161" cy="369332"/>
          </a:xfrm>
          <a:prstGeom prst="rect">
            <a:avLst/>
          </a:prstGeom>
          <a:noFill/>
        </p:spPr>
        <p:txBody>
          <a:bodyPr wrap="square">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sz="1800" b="1" dirty="0"/>
              <a:t>L2C – L2T</a:t>
            </a:r>
          </a:p>
        </p:txBody>
      </p:sp>
      <p:pic>
        <p:nvPicPr>
          <p:cNvPr id="19" name="Image 18">
            <a:extLst>
              <a:ext uri="{FF2B5EF4-FFF2-40B4-BE49-F238E27FC236}">
                <a16:creationId xmlns:a16="http://schemas.microsoft.com/office/drawing/2014/main" id="{1A9B1039-988D-7958-7A63-E26CE7C8904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17310" y="1240287"/>
            <a:ext cx="3241402" cy="3241402"/>
          </a:xfrm>
          <a:prstGeom prst="rect">
            <a:avLst/>
          </a:prstGeom>
        </p:spPr>
      </p:pic>
      <p:sp>
        <p:nvSpPr>
          <p:cNvPr id="21" name="ZoneTexte 54">
            <a:extLst>
              <a:ext uri="{FF2B5EF4-FFF2-40B4-BE49-F238E27FC236}">
                <a16:creationId xmlns:a16="http://schemas.microsoft.com/office/drawing/2014/main" id="{1DA3F0CA-A475-7072-15C8-956D060CC21B}"/>
              </a:ext>
            </a:extLst>
          </p:cNvPr>
          <p:cNvSpPr txBox="1"/>
          <p:nvPr/>
        </p:nvSpPr>
        <p:spPr>
          <a:xfrm>
            <a:off x="4838716" y="4407927"/>
            <a:ext cx="1036827" cy="369332"/>
          </a:xfrm>
          <a:prstGeom prst="rect">
            <a:avLst/>
          </a:prstGeom>
          <a:noFill/>
        </p:spPr>
        <p:txBody>
          <a:bodyPr wrap="square">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sz="1800" b="1" dirty="0"/>
              <a:t>TD IRVE</a:t>
            </a:r>
          </a:p>
        </p:txBody>
      </p:sp>
      <p:cxnSp>
        <p:nvCxnSpPr>
          <p:cNvPr id="3" name="Connecteur droit 2">
            <a:extLst>
              <a:ext uri="{FF2B5EF4-FFF2-40B4-BE49-F238E27FC236}">
                <a16:creationId xmlns:a16="http://schemas.microsoft.com/office/drawing/2014/main" id="{D48ACEA7-AD06-5B5B-C98B-124DD53C831F}"/>
              </a:ext>
            </a:extLst>
          </p:cNvPr>
          <p:cNvCxnSpPr>
            <a:cxnSpLocks/>
          </p:cNvCxnSpPr>
          <p:nvPr/>
        </p:nvCxnSpPr>
        <p:spPr>
          <a:xfrm>
            <a:off x="2849242" y="6356714"/>
            <a:ext cx="359571" cy="0"/>
          </a:xfrm>
          <a:prstGeom prst="line">
            <a:avLst/>
          </a:prstGeom>
          <a:ln w="19050" cap="flat" cmpd="sng" algn="ctr">
            <a:solidFill>
              <a:srgbClr val="00E874"/>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 name="Connecteur droit 3">
            <a:extLst>
              <a:ext uri="{FF2B5EF4-FFF2-40B4-BE49-F238E27FC236}">
                <a16:creationId xmlns:a16="http://schemas.microsoft.com/office/drawing/2014/main" id="{1F631CE9-1700-F072-807E-622AB6FE40B3}"/>
              </a:ext>
            </a:extLst>
          </p:cNvPr>
          <p:cNvCxnSpPr>
            <a:cxnSpLocks/>
          </p:cNvCxnSpPr>
          <p:nvPr/>
        </p:nvCxnSpPr>
        <p:spPr>
          <a:xfrm>
            <a:off x="2826489" y="5286944"/>
            <a:ext cx="343893" cy="0"/>
          </a:xfrm>
          <a:prstGeom prst="line">
            <a:avLst/>
          </a:prstGeom>
          <a:ln w="19050" cap="flat" cmpd="sng" algn="ctr">
            <a:solidFill>
              <a:srgbClr val="FF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 name="Connecteur droit 4">
            <a:extLst>
              <a:ext uri="{FF2B5EF4-FFF2-40B4-BE49-F238E27FC236}">
                <a16:creationId xmlns:a16="http://schemas.microsoft.com/office/drawing/2014/main" id="{974ACFB0-E6F2-4022-4E0E-101F9E187502}"/>
              </a:ext>
            </a:extLst>
          </p:cNvPr>
          <p:cNvCxnSpPr>
            <a:cxnSpLocks/>
          </p:cNvCxnSpPr>
          <p:nvPr/>
        </p:nvCxnSpPr>
        <p:spPr>
          <a:xfrm>
            <a:off x="2858444" y="6000219"/>
            <a:ext cx="359571" cy="0"/>
          </a:xfrm>
          <a:prstGeom prst="line">
            <a:avLst/>
          </a:prstGeom>
          <a:ln w="19050" cap="flat" cmpd="sng" algn="ctr">
            <a:solidFill>
              <a:srgbClr val="00E87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 name="Connecteur droit 5">
            <a:extLst>
              <a:ext uri="{FF2B5EF4-FFF2-40B4-BE49-F238E27FC236}">
                <a16:creationId xmlns:a16="http://schemas.microsoft.com/office/drawing/2014/main" id="{BB4FF738-9ADD-922F-F32E-1A32C8781E0F}"/>
              </a:ext>
            </a:extLst>
          </p:cNvPr>
          <p:cNvCxnSpPr>
            <a:cxnSpLocks/>
          </p:cNvCxnSpPr>
          <p:nvPr/>
        </p:nvCxnSpPr>
        <p:spPr>
          <a:xfrm>
            <a:off x="2850049" y="5620349"/>
            <a:ext cx="343893" cy="0"/>
          </a:xfrm>
          <a:prstGeom prst="line">
            <a:avLst/>
          </a:prstGeom>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7" name="ZoneTexte 54">
            <a:extLst>
              <a:ext uri="{FF2B5EF4-FFF2-40B4-BE49-F238E27FC236}">
                <a16:creationId xmlns:a16="http://schemas.microsoft.com/office/drawing/2014/main" id="{23248998-45FF-2D44-045C-DBD816B7977E}"/>
              </a:ext>
            </a:extLst>
          </p:cNvPr>
          <p:cNvSpPr txBox="1"/>
          <p:nvPr/>
        </p:nvSpPr>
        <p:spPr>
          <a:xfrm>
            <a:off x="3218015" y="5102278"/>
            <a:ext cx="3241402" cy="369332"/>
          </a:xfrm>
          <a:prstGeom prst="rect">
            <a:avLst/>
          </a:prstGeom>
          <a:noFill/>
        </p:spPr>
        <p:txBody>
          <a:bodyPr wrap="square">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sz="1800" b="1" dirty="0"/>
              <a:t>Cable CFO en fourreau</a:t>
            </a:r>
          </a:p>
        </p:txBody>
      </p:sp>
      <p:sp>
        <p:nvSpPr>
          <p:cNvPr id="8" name="ZoneTexte 54">
            <a:extLst>
              <a:ext uri="{FF2B5EF4-FFF2-40B4-BE49-F238E27FC236}">
                <a16:creationId xmlns:a16="http://schemas.microsoft.com/office/drawing/2014/main" id="{664C682E-468D-38C5-1CE4-E28AA47FB4B6}"/>
              </a:ext>
            </a:extLst>
          </p:cNvPr>
          <p:cNvSpPr txBox="1"/>
          <p:nvPr/>
        </p:nvSpPr>
        <p:spPr>
          <a:xfrm>
            <a:off x="3208813" y="5451571"/>
            <a:ext cx="3241402" cy="369332"/>
          </a:xfrm>
          <a:prstGeom prst="rect">
            <a:avLst/>
          </a:prstGeom>
          <a:noFill/>
        </p:spPr>
        <p:txBody>
          <a:bodyPr wrap="square">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sz="1800" b="1" dirty="0"/>
              <a:t>Cable CFO en </a:t>
            </a:r>
            <a:r>
              <a:rPr lang="fr-FR" sz="1800" b="1" dirty="0" err="1"/>
              <a:t>cdc</a:t>
            </a:r>
            <a:endParaRPr lang="fr-FR" sz="1800" b="1" dirty="0"/>
          </a:p>
        </p:txBody>
      </p:sp>
      <p:sp>
        <p:nvSpPr>
          <p:cNvPr id="9" name="ZoneTexte 54">
            <a:extLst>
              <a:ext uri="{FF2B5EF4-FFF2-40B4-BE49-F238E27FC236}">
                <a16:creationId xmlns:a16="http://schemas.microsoft.com/office/drawing/2014/main" id="{8C21AC49-7317-B712-728F-1A35A33F277B}"/>
              </a:ext>
            </a:extLst>
          </p:cNvPr>
          <p:cNvSpPr txBox="1"/>
          <p:nvPr/>
        </p:nvSpPr>
        <p:spPr>
          <a:xfrm>
            <a:off x="3193942" y="5803866"/>
            <a:ext cx="3241402" cy="369332"/>
          </a:xfrm>
          <a:prstGeom prst="rect">
            <a:avLst/>
          </a:prstGeom>
          <a:noFill/>
        </p:spPr>
        <p:txBody>
          <a:bodyPr wrap="square">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sz="1800" b="1" dirty="0"/>
              <a:t>Cable CFA en fourreau</a:t>
            </a:r>
          </a:p>
        </p:txBody>
      </p:sp>
      <p:sp>
        <p:nvSpPr>
          <p:cNvPr id="10" name="ZoneTexte 54">
            <a:extLst>
              <a:ext uri="{FF2B5EF4-FFF2-40B4-BE49-F238E27FC236}">
                <a16:creationId xmlns:a16="http://schemas.microsoft.com/office/drawing/2014/main" id="{0062DEC8-25FC-8FA6-1B19-BA1213C47E73}"/>
              </a:ext>
            </a:extLst>
          </p:cNvPr>
          <p:cNvSpPr txBox="1"/>
          <p:nvPr/>
        </p:nvSpPr>
        <p:spPr>
          <a:xfrm>
            <a:off x="3193942" y="6173198"/>
            <a:ext cx="3241402" cy="369332"/>
          </a:xfrm>
          <a:prstGeom prst="rect">
            <a:avLst/>
          </a:prstGeom>
          <a:noFill/>
        </p:spPr>
        <p:txBody>
          <a:bodyPr wrap="square">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sz="1800" b="1" dirty="0"/>
              <a:t>Cable CFA </a:t>
            </a:r>
            <a:r>
              <a:rPr lang="fr-FR" sz="1800" b="1" dirty="0" err="1"/>
              <a:t>cdc</a:t>
            </a:r>
            <a:endParaRPr lang="fr-FR" sz="1800" b="1" dirty="0"/>
          </a:p>
        </p:txBody>
      </p:sp>
    </p:spTree>
    <p:extLst>
      <p:ext uri="{BB962C8B-B14F-4D97-AF65-F5344CB8AC3E}">
        <p14:creationId xmlns:p14="http://schemas.microsoft.com/office/powerpoint/2010/main" val="32554608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F8094F9-D92C-B6D5-5D1C-7E454815A9B8}"/>
            </a:ext>
          </a:extLst>
        </p:cNvPr>
        <p:cNvGrpSpPr/>
        <p:nvPr/>
      </p:nvGrpSpPr>
      <p:grpSpPr>
        <a:xfrm>
          <a:off x="0" y="0"/>
          <a:ext cx="0" cy="0"/>
          <a:chOff x="0" y="0"/>
          <a:chExt cx="0" cy="0"/>
        </a:xfrm>
      </p:grpSpPr>
      <p:sp>
        <p:nvSpPr>
          <p:cNvPr id="19" name="Titre 1">
            <a:extLst>
              <a:ext uri="{FF2B5EF4-FFF2-40B4-BE49-F238E27FC236}">
                <a16:creationId xmlns:a16="http://schemas.microsoft.com/office/drawing/2014/main" id="{07A907D5-BF4A-F5A4-A256-B605298138D1}"/>
              </a:ext>
            </a:extLst>
          </p:cNvPr>
          <p:cNvSpPr>
            <a:spLocks noGrp="1"/>
          </p:cNvSpPr>
          <p:nvPr>
            <p:ph type="title"/>
          </p:nvPr>
        </p:nvSpPr>
        <p:spPr>
          <a:xfrm>
            <a:off x="838200" y="365125"/>
            <a:ext cx="10515600" cy="1070385"/>
          </a:xfrm>
        </p:spPr>
        <p:txBody>
          <a:bodyPr/>
          <a:lstStyle/>
          <a:p>
            <a:pPr algn="ctr"/>
            <a:r>
              <a:rPr lang="fr-FR" sz="3000" b="1" dirty="0">
                <a:solidFill>
                  <a:schemeClr val="accent1"/>
                </a:solidFill>
                <a:latin typeface="Work Sans ExtraLight"/>
              </a:rPr>
              <a:t>Eléments à utiliser pour le rendu photo de l’aménagement des places (Signalétique et protection)</a:t>
            </a:r>
            <a:endParaRPr lang="fr-FR" b="1" dirty="0">
              <a:solidFill>
                <a:schemeClr val="accent1"/>
              </a:solidFill>
            </a:endParaRPr>
          </a:p>
        </p:txBody>
      </p:sp>
      <p:pic>
        <p:nvPicPr>
          <p:cNvPr id="38" name="Image 37">
            <a:extLst>
              <a:ext uri="{FF2B5EF4-FFF2-40B4-BE49-F238E27FC236}">
                <a16:creationId xmlns:a16="http://schemas.microsoft.com/office/drawing/2014/main" id="{1A7A578F-8E3C-0EBB-BFDC-A48EF79D4C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1216" y="1337296"/>
            <a:ext cx="2241755" cy="2241755"/>
          </a:xfrm>
          <a:prstGeom prst="rect">
            <a:avLst/>
          </a:prstGeom>
        </p:spPr>
      </p:pic>
      <p:pic>
        <p:nvPicPr>
          <p:cNvPr id="42" name="Image 41">
            <a:extLst>
              <a:ext uri="{FF2B5EF4-FFF2-40B4-BE49-F238E27FC236}">
                <a16:creationId xmlns:a16="http://schemas.microsoft.com/office/drawing/2014/main" id="{6BB9E1F1-598E-10A3-B8A6-D61C23EC52E5}"/>
              </a:ext>
            </a:extLst>
          </p:cNvPr>
          <p:cNvPicPr>
            <a:picLocks noChangeAspect="1"/>
          </p:cNvPicPr>
          <p:nvPr/>
        </p:nvPicPr>
        <p:blipFill>
          <a:blip r:embed="rId3">
            <a:extLst>
              <a:ext uri="{28A0092B-C50C-407E-A947-70E740481C1C}">
                <a14:useLocalDpi xmlns:a14="http://schemas.microsoft.com/office/drawing/2010/main" val="0"/>
              </a:ext>
            </a:extLst>
          </a:blip>
          <a:srcRect l="35823" t="7149" r="36878" b="9618"/>
          <a:stretch/>
        </p:blipFill>
        <p:spPr>
          <a:xfrm>
            <a:off x="7096086" y="1375500"/>
            <a:ext cx="708874" cy="2161289"/>
          </a:xfrm>
          <a:prstGeom prst="rect">
            <a:avLst/>
          </a:prstGeom>
        </p:spPr>
      </p:pic>
      <p:pic>
        <p:nvPicPr>
          <p:cNvPr id="44" name="Image 43">
            <a:extLst>
              <a:ext uri="{FF2B5EF4-FFF2-40B4-BE49-F238E27FC236}">
                <a16:creationId xmlns:a16="http://schemas.microsoft.com/office/drawing/2014/main" id="{C0119C50-77D9-5BA0-7637-87573B1EDA44}"/>
              </a:ext>
            </a:extLst>
          </p:cNvPr>
          <p:cNvPicPr>
            <a:picLocks noChangeAspect="1"/>
          </p:cNvPicPr>
          <p:nvPr/>
        </p:nvPicPr>
        <p:blipFill>
          <a:blip r:embed="rId4">
            <a:extLst>
              <a:ext uri="{28A0092B-C50C-407E-A947-70E740481C1C}">
                <a14:useLocalDpi xmlns:a14="http://schemas.microsoft.com/office/drawing/2010/main" val="0"/>
              </a:ext>
            </a:extLst>
          </a:blip>
          <a:srcRect l="16107" r="17351"/>
          <a:stretch/>
        </p:blipFill>
        <p:spPr>
          <a:xfrm>
            <a:off x="8122838" y="1456790"/>
            <a:ext cx="1406013" cy="2112984"/>
          </a:xfrm>
          <a:prstGeom prst="rect">
            <a:avLst/>
          </a:prstGeom>
        </p:spPr>
      </p:pic>
      <p:pic>
        <p:nvPicPr>
          <p:cNvPr id="46" name="Image 45">
            <a:extLst>
              <a:ext uri="{FF2B5EF4-FFF2-40B4-BE49-F238E27FC236}">
                <a16:creationId xmlns:a16="http://schemas.microsoft.com/office/drawing/2014/main" id="{217E56D0-53E3-0295-7E81-561D25BAE8A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1359" y="4336503"/>
            <a:ext cx="1699752" cy="1699752"/>
          </a:xfrm>
          <a:prstGeom prst="rect">
            <a:avLst/>
          </a:prstGeom>
        </p:spPr>
      </p:pic>
      <p:sp>
        <p:nvSpPr>
          <p:cNvPr id="47" name="ZoneTexte 54">
            <a:extLst>
              <a:ext uri="{FF2B5EF4-FFF2-40B4-BE49-F238E27FC236}">
                <a16:creationId xmlns:a16="http://schemas.microsoft.com/office/drawing/2014/main" id="{2936F255-434D-975A-3EB1-70048898878E}"/>
              </a:ext>
            </a:extLst>
          </p:cNvPr>
          <p:cNvSpPr txBox="1"/>
          <p:nvPr/>
        </p:nvSpPr>
        <p:spPr>
          <a:xfrm>
            <a:off x="627932" y="6204113"/>
            <a:ext cx="1647329" cy="369332"/>
          </a:xfrm>
          <a:prstGeom prst="rect">
            <a:avLst/>
          </a:prstGeom>
          <a:noFill/>
        </p:spPr>
        <p:txBody>
          <a:bodyPr wrap="square" lIns="91440" tIns="45720" rIns="91440" bIns="45720" anchor="t">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b="1" dirty="0"/>
              <a:t>Panneau CE15i</a:t>
            </a:r>
            <a:endParaRPr lang="fr-FR" dirty="0"/>
          </a:p>
        </p:txBody>
      </p:sp>
      <p:pic>
        <p:nvPicPr>
          <p:cNvPr id="49" name="Image 48">
            <a:extLst>
              <a:ext uri="{FF2B5EF4-FFF2-40B4-BE49-F238E27FC236}">
                <a16:creationId xmlns:a16="http://schemas.microsoft.com/office/drawing/2014/main" id="{FA6BF75F-F881-5BE4-56FC-D1B32C03543F}"/>
              </a:ext>
            </a:extLst>
          </p:cNvPr>
          <p:cNvPicPr>
            <a:picLocks noChangeAspect="1"/>
          </p:cNvPicPr>
          <p:nvPr/>
        </p:nvPicPr>
        <p:blipFill>
          <a:blip r:embed="rId6">
            <a:extLst>
              <a:ext uri="{28A0092B-C50C-407E-A947-70E740481C1C}">
                <a14:useLocalDpi xmlns:a14="http://schemas.microsoft.com/office/drawing/2010/main" val="0"/>
              </a:ext>
            </a:extLst>
          </a:blip>
          <a:srcRect l="11361" t="7657" r="6441" b="10674"/>
          <a:stretch/>
        </p:blipFill>
        <p:spPr>
          <a:xfrm>
            <a:off x="2818556" y="4113291"/>
            <a:ext cx="1842660" cy="1830796"/>
          </a:xfrm>
          <a:prstGeom prst="rect">
            <a:avLst/>
          </a:prstGeom>
        </p:spPr>
      </p:pic>
      <p:sp>
        <p:nvSpPr>
          <p:cNvPr id="50" name="ZoneTexte 54">
            <a:extLst>
              <a:ext uri="{FF2B5EF4-FFF2-40B4-BE49-F238E27FC236}">
                <a16:creationId xmlns:a16="http://schemas.microsoft.com/office/drawing/2014/main" id="{37A436CC-9D5E-0A3E-6A4B-C88196E8CE1A}"/>
              </a:ext>
            </a:extLst>
          </p:cNvPr>
          <p:cNvSpPr txBox="1"/>
          <p:nvPr/>
        </p:nvSpPr>
        <p:spPr>
          <a:xfrm>
            <a:off x="5304818" y="5867711"/>
            <a:ext cx="1647329" cy="369332"/>
          </a:xfrm>
          <a:prstGeom prst="rect">
            <a:avLst/>
          </a:prstGeom>
          <a:noFill/>
        </p:spPr>
        <p:txBody>
          <a:bodyPr wrap="square" lIns="91440" tIns="45720" rIns="91440" bIns="45720" anchor="t">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b="1" dirty="0"/>
              <a:t>Panneau M6i</a:t>
            </a:r>
            <a:endParaRPr lang="fr-FR" dirty="0"/>
          </a:p>
        </p:txBody>
      </p:sp>
      <p:pic>
        <p:nvPicPr>
          <p:cNvPr id="52" name="Image 51">
            <a:extLst>
              <a:ext uri="{FF2B5EF4-FFF2-40B4-BE49-F238E27FC236}">
                <a16:creationId xmlns:a16="http://schemas.microsoft.com/office/drawing/2014/main" id="{12708BE0-542B-60AF-5D9F-0F9C65B860B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039215" y="5227478"/>
            <a:ext cx="1948123" cy="583448"/>
          </a:xfrm>
          <a:prstGeom prst="rect">
            <a:avLst/>
          </a:prstGeom>
        </p:spPr>
      </p:pic>
      <p:sp>
        <p:nvSpPr>
          <p:cNvPr id="53" name="ZoneTexte 54">
            <a:extLst>
              <a:ext uri="{FF2B5EF4-FFF2-40B4-BE49-F238E27FC236}">
                <a16:creationId xmlns:a16="http://schemas.microsoft.com/office/drawing/2014/main" id="{F67EA913-B449-3CDE-BF6A-FFE6FAF53388}"/>
              </a:ext>
            </a:extLst>
          </p:cNvPr>
          <p:cNvSpPr txBox="1"/>
          <p:nvPr/>
        </p:nvSpPr>
        <p:spPr>
          <a:xfrm>
            <a:off x="2942767" y="6103127"/>
            <a:ext cx="1647329" cy="369332"/>
          </a:xfrm>
          <a:prstGeom prst="rect">
            <a:avLst/>
          </a:prstGeom>
          <a:noFill/>
        </p:spPr>
        <p:txBody>
          <a:bodyPr wrap="square" lIns="91440" tIns="45720" rIns="91440" bIns="45720" anchor="t">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b="1" dirty="0"/>
              <a:t>Panneau B6d</a:t>
            </a:r>
            <a:endParaRPr lang="fr-FR" dirty="0"/>
          </a:p>
        </p:txBody>
      </p:sp>
      <p:sp>
        <p:nvSpPr>
          <p:cNvPr id="54" name="ZoneTexte 54">
            <a:extLst>
              <a:ext uri="{FF2B5EF4-FFF2-40B4-BE49-F238E27FC236}">
                <a16:creationId xmlns:a16="http://schemas.microsoft.com/office/drawing/2014/main" id="{49B5BF37-5DEB-74B6-814D-7E5D801831D5}"/>
              </a:ext>
            </a:extLst>
          </p:cNvPr>
          <p:cNvSpPr txBox="1"/>
          <p:nvPr/>
        </p:nvSpPr>
        <p:spPr>
          <a:xfrm>
            <a:off x="9801042" y="3736200"/>
            <a:ext cx="1831218" cy="369332"/>
          </a:xfrm>
          <a:prstGeom prst="rect">
            <a:avLst/>
          </a:prstGeom>
          <a:noFill/>
        </p:spPr>
        <p:txBody>
          <a:bodyPr wrap="square" lIns="91440" tIns="45720" rIns="91440" bIns="45720" anchor="t">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b="1" dirty="0"/>
              <a:t>Logo VE 600x300</a:t>
            </a:r>
            <a:endParaRPr lang="fr-FR" dirty="0"/>
          </a:p>
        </p:txBody>
      </p:sp>
      <p:pic>
        <p:nvPicPr>
          <p:cNvPr id="55" name="Image 54">
            <a:extLst>
              <a:ext uri="{FF2B5EF4-FFF2-40B4-BE49-F238E27FC236}">
                <a16:creationId xmlns:a16="http://schemas.microsoft.com/office/drawing/2014/main" id="{19FA7D42-B225-EFA7-8FF0-FFFEA93C78D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088595" y="1752771"/>
            <a:ext cx="1406013" cy="1503202"/>
          </a:xfrm>
          <a:prstGeom prst="rect">
            <a:avLst/>
          </a:prstGeom>
        </p:spPr>
      </p:pic>
      <p:sp>
        <p:nvSpPr>
          <p:cNvPr id="56" name="ZoneTexte 54">
            <a:extLst>
              <a:ext uri="{FF2B5EF4-FFF2-40B4-BE49-F238E27FC236}">
                <a16:creationId xmlns:a16="http://schemas.microsoft.com/office/drawing/2014/main" id="{5F81B36A-2693-9BDD-B006-21AD0BD863DA}"/>
              </a:ext>
            </a:extLst>
          </p:cNvPr>
          <p:cNvSpPr txBox="1"/>
          <p:nvPr/>
        </p:nvSpPr>
        <p:spPr>
          <a:xfrm>
            <a:off x="9717338" y="3438485"/>
            <a:ext cx="2148526" cy="369332"/>
          </a:xfrm>
          <a:prstGeom prst="rect">
            <a:avLst/>
          </a:prstGeom>
          <a:noFill/>
        </p:spPr>
        <p:txBody>
          <a:bodyPr wrap="square" lIns="91440" tIns="45720" rIns="91440" bIns="45720" anchor="t">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b="1" dirty="0"/>
              <a:t>Logo VE 1200x600</a:t>
            </a:r>
            <a:endParaRPr lang="fr-FR" dirty="0"/>
          </a:p>
        </p:txBody>
      </p:sp>
      <p:pic>
        <p:nvPicPr>
          <p:cNvPr id="58" name="Image 57">
            <a:extLst>
              <a:ext uri="{FF2B5EF4-FFF2-40B4-BE49-F238E27FC236}">
                <a16:creationId xmlns:a16="http://schemas.microsoft.com/office/drawing/2014/main" id="{F9610E2A-3DE3-61AE-AB24-02B30590D569}"/>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0297489" y="5217756"/>
            <a:ext cx="1388872" cy="605895"/>
          </a:xfrm>
          <a:prstGeom prst="rect">
            <a:avLst/>
          </a:prstGeom>
        </p:spPr>
      </p:pic>
      <p:pic>
        <p:nvPicPr>
          <p:cNvPr id="60" name="Image 59">
            <a:extLst>
              <a:ext uri="{FF2B5EF4-FFF2-40B4-BE49-F238E27FC236}">
                <a16:creationId xmlns:a16="http://schemas.microsoft.com/office/drawing/2014/main" id="{7F09FA72-FE60-34F1-C44D-438197FE1C65}"/>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7300066" y="5227478"/>
            <a:ext cx="1243806" cy="542610"/>
          </a:xfrm>
          <a:prstGeom prst="rect">
            <a:avLst/>
          </a:prstGeom>
        </p:spPr>
      </p:pic>
      <p:pic>
        <p:nvPicPr>
          <p:cNvPr id="62" name="Image 61">
            <a:extLst>
              <a:ext uri="{FF2B5EF4-FFF2-40B4-BE49-F238E27FC236}">
                <a16:creationId xmlns:a16="http://schemas.microsoft.com/office/drawing/2014/main" id="{64A7B2BF-62D0-E16C-F764-86133BAEE80A}"/>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8681220" y="5217756"/>
            <a:ext cx="1243807" cy="542611"/>
          </a:xfrm>
          <a:prstGeom prst="rect">
            <a:avLst/>
          </a:prstGeom>
        </p:spPr>
      </p:pic>
      <p:sp>
        <p:nvSpPr>
          <p:cNvPr id="63" name="ZoneTexte 54">
            <a:extLst>
              <a:ext uri="{FF2B5EF4-FFF2-40B4-BE49-F238E27FC236}">
                <a16:creationId xmlns:a16="http://schemas.microsoft.com/office/drawing/2014/main" id="{0C408984-E9EC-F3F4-7CD2-7F7893784AE3}"/>
              </a:ext>
            </a:extLst>
          </p:cNvPr>
          <p:cNvSpPr txBox="1"/>
          <p:nvPr/>
        </p:nvSpPr>
        <p:spPr>
          <a:xfrm>
            <a:off x="7295950" y="5886955"/>
            <a:ext cx="1061861" cy="646331"/>
          </a:xfrm>
          <a:prstGeom prst="rect">
            <a:avLst/>
          </a:prstGeom>
          <a:noFill/>
        </p:spPr>
        <p:txBody>
          <a:bodyPr wrap="square" lIns="91440" tIns="45720" rIns="91440" bIns="45720" anchor="t">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b="1" dirty="0"/>
              <a:t>Panneau</a:t>
            </a:r>
          </a:p>
          <a:p>
            <a:pPr algn="ctr"/>
            <a:r>
              <a:rPr lang="fr-FR" b="1" dirty="0"/>
              <a:t>m8d</a:t>
            </a:r>
            <a:endParaRPr lang="fr-FR" dirty="0"/>
          </a:p>
        </p:txBody>
      </p:sp>
      <p:sp>
        <p:nvSpPr>
          <p:cNvPr id="2048" name="ZoneTexte 54">
            <a:extLst>
              <a:ext uri="{FF2B5EF4-FFF2-40B4-BE49-F238E27FC236}">
                <a16:creationId xmlns:a16="http://schemas.microsoft.com/office/drawing/2014/main" id="{F5822ED1-FE35-7C6E-9B10-6E3075052162}"/>
              </a:ext>
            </a:extLst>
          </p:cNvPr>
          <p:cNvSpPr txBox="1"/>
          <p:nvPr/>
        </p:nvSpPr>
        <p:spPr>
          <a:xfrm>
            <a:off x="8823117" y="5886955"/>
            <a:ext cx="1061861" cy="646331"/>
          </a:xfrm>
          <a:prstGeom prst="rect">
            <a:avLst/>
          </a:prstGeom>
          <a:noFill/>
        </p:spPr>
        <p:txBody>
          <a:bodyPr wrap="square" lIns="91440" tIns="45720" rIns="91440" bIns="45720" anchor="t">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b="1" dirty="0"/>
              <a:t>Panneau</a:t>
            </a:r>
          </a:p>
          <a:p>
            <a:pPr algn="ctr"/>
            <a:r>
              <a:rPr lang="fr-FR" b="1" dirty="0"/>
              <a:t>m8e</a:t>
            </a:r>
            <a:endParaRPr lang="fr-FR" dirty="0"/>
          </a:p>
        </p:txBody>
      </p:sp>
      <p:sp>
        <p:nvSpPr>
          <p:cNvPr id="2049" name="ZoneTexte 54">
            <a:extLst>
              <a:ext uri="{FF2B5EF4-FFF2-40B4-BE49-F238E27FC236}">
                <a16:creationId xmlns:a16="http://schemas.microsoft.com/office/drawing/2014/main" id="{21C81C89-BFA2-16C1-3F88-7ACAE45361D0}"/>
              </a:ext>
            </a:extLst>
          </p:cNvPr>
          <p:cNvSpPr txBox="1"/>
          <p:nvPr/>
        </p:nvSpPr>
        <p:spPr>
          <a:xfrm>
            <a:off x="1112376" y="2289570"/>
            <a:ext cx="2497699" cy="369332"/>
          </a:xfrm>
          <a:prstGeom prst="rect">
            <a:avLst/>
          </a:prstGeom>
          <a:noFill/>
        </p:spPr>
        <p:txBody>
          <a:bodyPr wrap="square" lIns="91440" tIns="45720" rIns="91440" bIns="45720" anchor="t">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b="1" dirty="0"/>
              <a:t>Butée de roue intégrale</a:t>
            </a:r>
            <a:endParaRPr lang="fr-FR" dirty="0"/>
          </a:p>
        </p:txBody>
      </p:sp>
      <p:sp>
        <p:nvSpPr>
          <p:cNvPr id="2051" name="ZoneTexte 54">
            <a:extLst>
              <a:ext uri="{FF2B5EF4-FFF2-40B4-BE49-F238E27FC236}">
                <a16:creationId xmlns:a16="http://schemas.microsoft.com/office/drawing/2014/main" id="{475E4D31-EB9C-9104-3154-367ACFF292DD}"/>
              </a:ext>
            </a:extLst>
          </p:cNvPr>
          <p:cNvSpPr txBox="1"/>
          <p:nvPr/>
        </p:nvSpPr>
        <p:spPr>
          <a:xfrm>
            <a:off x="4962010" y="3564635"/>
            <a:ext cx="1480294" cy="369332"/>
          </a:xfrm>
          <a:prstGeom prst="rect">
            <a:avLst/>
          </a:prstGeom>
          <a:noFill/>
        </p:spPr>
        <p:txBody>
          <a:bodyPr wrap="square" lIns="91440" tIns="45720" rIns="91440" bIns="45720" anchor="t">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b="1" dirty="0"/>
              <a:t>Arceau triple</a:t>
            </a:r>
            <a:endParaRPr lang="fr-FR" dirty="0"/>
          </a:p>
        </p:txBody>
      </p:sp>
      <p:sp>
        <p:nvSpPr>
          <p:cNvPr id="2052" name="ZoneTexte 54">
            <a:extLst>
              <a:ext uri="{FF2B5EF4-FFF2-40B4-BE49-F238E27FC236}">
                <a16:creationId xmlns:a16="http://schemas.microsoft.com/office/drawing/2014/main" id="{25E9A93D-0ABE-6C9C-3F8C-9915282AB476}"/>
              </a:ext>
            </a:extLst>
          </p:cNvPr>
          <p:cNvSpPr txBox="1"/>
          <p:nvPr/>
        </p:nvSpPr>
        <p:spPr>
          <a:xfrm>
            <a:off x="8122838" y="3651064"/>
            <a:ext cx="1594500" cy="369332"/>
          </a:xfrm>
          <a:prstGeom prst="rect">
            <a:avLst/>
          </a:prstGeom>
          <a:noFill/>
        </p:spPr>
        <p:txBody>
          <a:bodyPr wrap="square" lIns="91440" tIns="45720" rIns="91440" bIns="45720" anchor="t">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b="1" dirty="0"/>
              <a:t>Arceau double</a:t>
            </a:r>
            <a:endParaRPr lang="fr-FR" dirty="0"/>
          </a:p>
        </p:txBody>
      </p:sp>
      <p:sp>
        <p:nvSpPr>
          <p:cNvPr id="2053" name="ZoneTexte 54">
            <a:extLst>
              <a:ext uri="{FF2B5EF4-FFF2-40B4-BE49-F238E27FC236}">
                <a16:creationId xmlns:a16="http://schemas.microsoft.com/office/drawing/2014/main" id="{FD8F480E-A83B-047F-42FD-2C186D65D1D9}"/>
              </a:ext>
            </a:extLst>
          </p:cNvPr>
          <p:cNvSpPr txBox="1"/>
          <p:nvPr/>
        </p:nvSpPr>
        <p:spPr>
          <a:xfrm>
            <a:off x="7061056" y="3593574"/>
            <a:ext cx="989044" cy="369332"/>
          </a:xfrm>
          <a:prstGeom prst="rect">
            <a:avLst/>
          </a:prstGeom>
          <a:noFill/>
        </p:spPr>
        <p:txBody>
          <a:bodyPr wrap="square" lIns="91440" tIns="45720" rIns="91440" bIns="45720" anchor="t">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b="1" dirty="0"/>
              <a:t>Potelet</a:t>
            </a:r>
          </a:p>
        </p:txBody>
      </p:sp>
      <p:sp>
        <p:nvSpPr>
          <p:cNvPr id="2054" name="ZoneTexte 54">
            <a:extLst>
              <a:ext uri="{FF2B5EF4-FFF2-40B4-BE49-F238E27FC236}">
                <a16:creationId xmlns:a16="http://schemas.microsoft.com/office/drawing/2014/main" id="{8695EFFA-49BC-46BB-ED24-2F60938ACF97}"/>
              </a:ext>
            </a:extLst>
          </p:cNvPr>
          <p:cNvSpPr txBox="1"/>
          <p:nvPr/>
        </p:nvSpPr>
        <p:spPr>
          <a:xfrm>
            <a:off x="10452423" y="5870186"/>
            <a:ext cx="1061861" cy="646331"/>
          </a:xfrm>
          <a:prstGeom prst="rect">
            <a:avLst/>
          </a:prstGeom>
          <a:noFill/>
        </p:spPr>
        <p:txBody>
          <a:bodyPr wrap="square" lIns="91440" tIns="45720" rIns="91440" bIns="45720" anchor="t">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b="1" dirty="0"/>
              <a:t>Panneau</a:t>
            </a:r>
          </a:p>
          <a:p>
            <a:pPr algn="ctr"/>
            <a:r>
              <a:rPr lang="fr-FR" b="1" dirty="0"/>
              <a:t>m8f</a:t>
            </a:r>
            <a:endParaRPr lang="fr-FR" dirty="0"/>
          </a:p>
        </p:txBody>
      </p:sp>
      <p:pic>
        <p:nvPicPr>
          <p:cNvPr id="2055" name="Picture 4">
            <a:extLst>
              <a:ext uri="{FF2B5EF4-FFF2-40B4-BE49-F238E27FC236}">
                <a16:creationId xmlns:a16="http://schemas.microsoft.com/office/drawing/2014/main" id="{DF9F6132-783E-52D0-D065-D04E1B16D4C3}"/>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640059" y="2860147"/>
            <a:ext cx="1438900" cy="550379"/>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6">
            <a:extLst>
              <a:ext uri="{FF2B5EF4-FFF2-40B4-BE49-F238E27FC236}">
                <a16:creationId xmlns:a16="http://schemas.microsoft.com/office/drawing/2014/main" id="{2C4D7A9D-CE43-F6D4-B203-AF5B1AE44F00}"/>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56128" y="1821186"/>
            <a:ext cx="3965263" cy="530354"/>
          </a:xfrm>
          <a:prstGeom prst="rect">
            <a:avLst/>
          </a:prstGeom>
          <a:noFill/>
          <a:extLst>
            <a:ext uri="{909E8E84-426E-40DD-AFC4-6F175D3DCCD1}">
              <a14:hiddenFill xmlns:a14="http://schemas.microsoft.com/office/drawing/2010/main">
                <a:solidFill>
                  <a:srgbClr val="FFFFFF"/>
                </a:solidFill>
              </a14:hiddenFill>
            </a:ext>
          </a:extLst>
        </p:spPr>
      </p:pic>
      <p:sp>
        <p:nvSpPr>
          <p:cNvPr id="2057" name="ZoneTexte 54">
            <a:extLst>
              <a:ext uri="{FF2B5EF4-FFF2-40B4-BE49-F238E27FC236}">
                <a16:creationId xmlns:a16="http://schemas.microsoft.com/office/drawing/2014/main" id="{64DC2533-7D53-B100-1672-541B9D8B8D76}"/>
              </a:ext>
            </a:extLst>
          </p:cNvPr>
          <p:cNvSpPr txBox="1"/>
          <p:nvPr/>
        </p:nvSpPr>
        <p:spPr>
          <a:xfrm>
            <a:off x="1173610" y="3394386"/>
            <a:ext cx="2497699" cy="369332"/>
          </a:xfrm>
          <a:prstGeom prst="rect">
            <a:avLst/>
          </a:prstGeom>
          <a:noFill/>
        </p:spPr>
        <p:txBody>
          <a:bodyPr wrap="square" lIns="91440" tIns="45720" rIns="91440" bIns="45720" anchor="t">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b="1" dirty="0"/>
              <a:t>Moitié de butée de roue</a:t>
            </a:r>
            <a:endParaRPr lang="fr-FR" dirty="0"/>
          </a:p>
        </p:txBody>
      </p:sp>
      <p:cxnSp>
        <p:nvCxnSpPr>
          <p:cNvPr id="2059" name="Connecteur droit 2058">
            <a:extLst>
              <a:ext uri="{FF2B5EF4-FFF2-40B4-BE49-F238E27FC236}">
                <a16:creationId xmlns:a16="http://schemas.microsoft.com/office/drawing/2014/main" id="{C5DA4E34-A074-E499-6E00-97C46D16491F}"/>
              </a:ext>
            </a:extLst>
          </p:cNvPr>
          <p:cNvCxnSpPr/>
          <p:nvPr/>
        </p:nvCxnSpPr>
        <p:spPr>
          <a:xfrm>
            <a:off x="5063624" y="4488501"/>
            <a:ext cx="6450660" cy="0"/>
          </a:xfrm>
          <a:prstGeom prst="line">
            <a:avLst/>
          </a:prstGeom>
          <a:ln w="2540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060" name="ZoneTexte 54">
            <a:extLst>
              <a:ext uri="{FF2B5EF4-FFF2-40B4-BE49-F238E27FC236}">
                <a16:creationId xmlns:a16="http://schemas.microsoft.com/office/drawing/2014/main" id="{9B423ACE-D0FE-609E-FA5E-914E20998D3B}"/>
              </a:ext>
            </a:extLst>
          </p:cNvPr>
          <p:cNvSpPr txBox="1"/>
          <p:nvPr/>
        </p:nvSpPr>
        <p:spPr>
          <a:xfrm>
            <a:off x="7177974" y="4655097"/>
            <a:ext cx="3297669" cy="369332"/>
          </a:xfrm>
          <a:prstGeom prst="rect">
            <a:avLst/>
          </a:prstGeom>
          <a:noFill/>
        </p:spPr>
        <p:txBody>
          <a:bodyPr wrap="square" lIns="91440" tIns="45720" rIns="91440" bIns="45720" anchor="t">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b="1" dirty="0"/>
              <a:t>Ligne stationnement </a:t>
            </a:r>
            <a:endParaRPr lang="fr-FR" dirty="0"/>
          </a:p>
        </p:txBody>
      </p:sp>
    </p:spTree>
    <p:extLst>
      <p:ext uri="{BB962C8B-B14F-4D97-AF65-F5344CB8AC3E}">
        <p14:creationId xmlns:p14="http://schemas.microsoft.com/office/powerpoint/2010/main" val="41787202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3FECE49C-6551-6AAA-64A4-D48EF9591184}"/>
              </a:ext>
            </a:extLst>
          </p:cNvPr>
          <p:cNvSpPr txBox="1">
            <a:spLocks/>
          </p:cNvSpPr>
          <p:nvPr/>
        </p:nvSpPr>
        <p:spPr>
          <a:xfrm>
            <a:off x="904118" y="1911096"/>
            <a:ext cx="10515600" cy="2040485"/>
          </a:xfrm>
          <a:prstGeom prst="rect">
            <a:avLst/>
          </a:prstGeom>
        </p:spPr>
        <p:txBody>
          <a:bodyPr vert="horz" lIns="360000" tIns="45720" rIns="540000" bIns="45720" rtlCol="0" anchor="ctr">
            <a:normAutofit/>
          </a:bodyPr>
          <a:lstStyle>
            <a:lvl1pPr marL="365125" indent="-365125" algn="l" defTabSz="914400" rtl="0" eaLnBrk="1" latinLnBrk="0" hangingPunct="1">
              <a:lnSpc>
                <a:spcPct val="90000"/>
              </a:lnSpc>
              <a:spcBef>
                <a:spcPct val="0"/>
              </a:spcBef>
              <a:buFont typeface="+mj-lt"/>
              <a:buAutoNum type="arabicPeriod"/>
              <a:tabLst/>
              <a:defRPr sz="3000" b="0" i="0" kern="1200">
                <a:solidFill>
                  <a:srgbClr val="1089FF"/>
                </a:solidFill>
                <a:latin typeface="Work Sans ExtraLight"/>
                <a:ea typeface="+mj-ea"/>
                <a:cs typeface="Work Sans ExtraLight"/>
              </a:defRPr>
            </a:lvl1pPr>
          </a:lstStyle>
          <a:p>
            <a:pPr marL="0" indent="0" algn="ctr">
              <a:buNone/>
            </a:pPr>
            <a:r>
              <a:rPr lang="fr-FR" sz="2400" b="1" dirty="0">
                <a:solidFill>
                  <a:schemeClr val="accent1"/>
                </a:solidFill>
              </a:rPr>
              <a:t>Fiche technique borne 1…</a:t>
            </a:r>
          </a:p>
        </p:txBody>
      </p:sp>
    </p:spTree>
    <p:extLst>
      <p:ext uri="{BB962C8B-B14F-4D97-AF65-F5344CB8AC3E}">
        <p14:creationId xmlns:p14="http://schemas.microsoft.com/office/powerpoint/2010/main" val="40099126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81925-3D20-81F0-95B9-188435CD8650}"/>
              </a:ext>
            </a:extLst>
          </p:cNvPr>
          <p:cNvSpPr>
            <a:spLocks noGrp="1"/>
          </p:cNvSpPr>
          <p:nvPr>
            <p:ph type="ctrTitle"/>
          </p:nvPr>
        </p:nvSpPr>
        <p:spPr/>
        <p:txBody>
          <a:bodyPr/>
          <a:lstStyle/>
          <a:p>
            <a:r>
              <a:rPr lang="fr-FR" dirty="0"/>
              <a:t>Annexe Images </a:t>
            </a:r>
          </a:p>
        </p:txBody>
      </p:sp>
      <p:sp>
        <p:nvSpPr>
          <p:cNvPr id="3" name="Text Placeholder 2">
            <a:extLst>
              <a:ext uri="{FF2B5EF4-FFF2-40B4-BE49-F238E27FC236}">
                <a16:creationId xmlns:a16="http://schemas.microsoft.com/office/drawing/2014/main" id="{E23C5EC1-1411-2A72-1DF5-AE7EBFC2C8CB}"/>
              </a:ext>
            </a:extLst>
          </p:cNvPr>
          <p:cNvSpPr>
            <a:spLocks noGrp="1"/>
          </p:cNvSpPr>
          <p:nvPr>
            <p:ph type="body" sz="quarter" idx="11"/>
          </p:nvPr>
        </p:nvSpPr>
        <p:spPr/>
        <p:txBody>
          <a:bodyPr/>
          <a:lstStyle/>
          <a:p>
            <a:r>
              <a:rPr lang="fr-FR" dirty="0"/>
              <a:t>A supprimer avant envoie client</a:t>
            </a:r>
          </a:p>
        </p:txBody>
      </p:sp>
    </p:spTree>
    <p:extLst>
      <p:ext uri="{BB962C8B-B14F-4D97-AF65-F5344CB8AC3E}">
        <p14:creationId xmlns:p14="http://schemas.microsoft.com/office/powerpoint/2010/main" val="3842987751"/>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28575">
          <a:solidFill>
            <a:srgbClr val="92D050"/>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a1102ece-9c89-40d2-9a2c-27d9929e8279">
      <Terms xmlns="http://schemas.microsoft.com/office/infopath/2007/PartnerControls"/>
    </lcf76f155ced4ddcb4097134ff3c332f>
    <TaxCatchAll xmlns="3d362b09-fb7a-4ffe-b2d8-2cde68c25db3" xsi:nil="true"/>
    <UniqueSourceRef xmlns="a1102ece-9c89-40d2-9a2c-27d9929e8279" xsi:nil="true"/>
    <FileHash xmlns="a1102ece-9c89-40d2-9a2c-27d9929e8279" xsi:nil="true"/>
    <CloudMigratorOriginId xmlns="a1102ece-9c89-40d2-9a2c-27d9929e8279" xsi:nil="true"/>
    <CloudMigratorVersion xmlns="a1102ece-9c89-40d2-9a2c-27d9929e8279"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F0ACF7CF757DC4094EE3C8029BBFF87" ma:contentTypeVersion="17" ma:contentTypeDescription="Crée un document." ma:contentTypeScope="" ma:versionID="e4941add2b7d5889b7155188c1132661">
  <xsd:schema xmlns:xsd="http://www.w3.org/2001/XMLSchema" xmlns:xs="http://www.w3.org/2001/XMLSchema" xmlns:p="http://schemas.microsoft.com/office/2006/metadata/properties" xmlns:ns2="a1102ece-9c89-40d2-9a2c-27d9929e8279" xmlns:ns3="3d362b09-fb7a-4ffe-b2d8-2cde68c25db3" targetNamespace="http://schemas.microsoft.com/office/2006/metadata/properties" ma:root="true" ma:fieldsID="f6b974aa2b127d8c88c06246f83f4eec" ns2:_="" ns3:_="">
    <xsd:import namespace="a1102ece-9c89-40d2-9a2c-27d9929e8279"/>
    <xsd:import namespace="3d362b09-fb7a-4ffe-b2d8-2cde68c25db3"/>
    <xsd:element name="properties">
      <xsd:complexType>
        <xsd:sequence>
          <xsd:element name="documentManagement">
            <xsd:complexType>
              <xsd:all>
                <xsd:element ref="ns2:CloudMigratorOriginId" minOccurs="0"/>
                <xsd:element ref="ns2:FileHash" minOccurs="0"/>
                <xsd:element ref="ns2:CloudMigratorVersion" minOccurs="0"/>
                <xsd:element ref="ns2:UniqueSourceRef" minOccurs="0"/>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ServiceLocatio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1102ece-9c89-40d2-9a2c-27d9929e8279" elementFormDefault="qualified">
    <xsd:import namespace="http://schemas.microsoft.com/office/2006/documentManagement/types"/>
    <xsd:import namespace="http://schemas.microsoft.com/office/infopath/2007/PartnerControls"/>
    <xsd:element name="CloudMigratorOriginId" ma:index="8" nillable="true" ma:displayName="CloudMigratorOriginId" ma:description="" ma:internalName="CloudMigratorOriginId">
      <xsd:simpleType>
        <xsd:restriction base="dms:Note">
          <xsd:maxLength value="255"/>
        </xsd:restriction>
      </xsd:simpleType>
    </xsd:element>
    <xsd:element name="FileHash" ma:index="9" nillable="true" ma:displayName="FileHash" ma:description="" ma:internalName="FileHash">
      <xsd:simpleType>
        <xsd:restriction base="dms:Note">
          <xsd:maxLength value="255"/>
        </xsd:restriction>
      </xsd:simpleType>
    </xsd:element>
    <xsd:element name="CloudMigratorVersion" ma:index="10" nillable="true" ma:displayName="CloudMigratorVersion" ma:description="" ma:internalName="CloudMigratorVersion">
      <xsd:simpleType>
        <xsd:restriction base="dms:Note">
          <xsd:maxLength value="255"/>
        </xsd:restriction>
      </xsd:simpleType>
    </xsd:element>
    <xsd:element name="UniqueSourceRef" ma:index="11" nillable="true" ma:displayName="UniqueSourceRef" ma:description="" ma:internalName="UniqueSourceRef">
      <xsd:simpleType>
        <xsd:restriction base="dms:Note">
          <xsd:maxLength value="255"/>
        </xsd:restriction>
      </xsd:simpleType>
    </xsd:element>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SearchProperties" ma:index="14" nillable="true" ma:displayName="MediaServiceSearchProperties" ma:hidden="true" ma:internalName="MediaServiceSearchProperties" ma:readOnly="true">
      <xsd:simpleType>
        <xsd:restriction base="dms:Note"/>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lcf76f155ced4ddcb4097134ff3c332f" ma:index="17" nillable="true" ma:taxonomy="true" ma:internalName="lcf76f155ced4ddcb4097134ff3c332f" ma:taxonomyFieldName="MediaServiceImageTags" ma:displayName="Balises d’images" ma:readOnly="false" ma:fieldId="{5cf76f15-5ced-4ddc-b409-7134ff3c332f}" ma:taxonomyMulti="true" ma:sspId="59cf8ae5-f3d2-4649-a1b0-e98408d2ff53" ma:termSetId="09814cd3-568e-fe90-9814-8d621ff8fb84" ma:anchorId="fba54fb3-c3e1-fe81-a776-ca4b69148c4d" ma:open="true" ma:isKeyword="false">
      <xsd:complexType>
        <xsd:sequence>
          <xsd:element ref="pc:Terms" minOccurs="0" maxOccurs="1"/>
        </xsd:sequence>
      </xsd:complexType>
    </xsd:element>
    <xsd:element name="MediaServiceDateTaken" ma:index="19" nillable="true" ma:displayName="MediaServiceDateTaken" ma:hidden="true" ma:indexed="true" ma:internalName="MediaServiceDateTaken"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Location" ma:index="23" nillable="true" ma:displayName="Location" ma:indexed="true" ma:internalName="MediaServiceLocation" ma:readOnly="true">
      <xsd:simpleType>
        <xsd:restriction base="dms:Text"/>
      </xsd:simpleType>
    </xsd:element>
    <xsd:element name="MediaLengthInSeconds" ma:index="24"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d362b09-fb7a-4ffe-b2d8-2cde68c25db3"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8dbcd010-1ed8-463d-a1b5-4731b69db7f1}" ma:internalName="TaxCatchAll" ma:showField="CatchAllData" ma:web="3d362b09-fb7a-4ffe-b2d8-2cde68c25db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902C16C-55CC-4522-939B-77D4344A9FB8}">
  <ds:schemaRefs>
    <ds:schemaRef ds:uri="http://schemas.microsoft.com/sharepoint/v3/contenttype/forms"/>
  </ds:schemaRefs>
</ds:datastoreItem>
</file>

<file path=customXml/itemProps2.xml><?xml version="1.0" encoding="utf-8"?>
<ds:datastoreItem xmlns:ds="http://schemas.openxmlformats.org/officeDocument/2006/customXml" ds:itemID="{43C16229-CA8D-436B-B8B0-B56A2376A037}">
  <ds:schemaRefs>
    <ds:schemaRef ds:uri="http://purl.org/dc/dcmitype/"/>
    <ds:schemaRef ds:uri="http://schemas.microsoft.com/office/infopath/2007/PartnerControls"/>
    <ds:schemaRef ds:uri="http://purl.org/dc/terms/"/>
    <ds:schemaRef ds:uri="21c52e5a-dd0a-4250-a541-0409107bf88d"/>
    <ds:schemaRef ds:uri="449a0abe-82f3-4067-a438-e63f2697b013"/>
    <ds:schemaRef ds:uri="http://schemas.microsoft.com/office/2006/documentManagement/types"/>
    <ds:schemaRef ds:uri="http://schemas.openxmlformats.org/package/2006/metadata/core-properties"/>
    <ds:schemaRef ds:uri="http://schemas.microsoft.com/office/2006/metadata/properties"/>
    <ds:schemaRef ds:uri="http://www.w3.org/XML/1998/namespace"/>
    <ds:schemaRef ds:uri="http://purl.org/dc/elements/1.1/"/>
    <ds:schemaRef ds:uri="a1102ece-9c89-40d2-9a2c-27d9929e8279"/>
    <ds:schemaRef ds:uri="3d362b09-fb7a-4ffe-b2d8-2cde68c25db3"/>
  </ds:schemaRefs>
</ds:datastoreItem>
</file>

<file path=customXml/itemProps3.xml><?xml version="1.0" encoding="utf-8"?>
<ds:datastoreItem xmlns:ds="http://schemas.openxmlformats.org/officeDocument/2006/customXml" ds:itemID="{98175C5A-9ECF-470D-86A3-D3BC093003C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1102ece-9c89-40d2-9a2c-27d9929e8279"/>
    <ds:schemaRef ds:uri="3d362b09-fb7a-4ffe-b2d8-2cde68c25db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e64cde9e-e5c3-4373-b819-2cd0b3d0819c}" enabled="1" method="Privileged" siteId="{0d7855b2-f644-451f-bd16-9f0d1fdd24b4}" removed="0"/>
</clbl:labelList>
</file>

<file path=docProps/app.xml><?xml version="1.0" encoding="utf-8"?>
<Properties xmlns="http://schemas.openxmlformats.org/officeDocument/2006/extended-properties" xmlns:vt="http://schemas.openxmlformats.org/officeDocument/2006/docPropsVTypes">
  <TotalTime>22</TotalTime>
  <Words>1861</Words>
  <Application>Microsoft Office PowerPoint</Application>
  <PresentationFormat>Widescreen</PresentationFormat>
  <Paragraphs>314</Paragraphs>
  <Slides>19</Slides>
  <Notes>7</Notes>
  <HiddenSlides>6</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Calibri</vt:lpstr>
      <vt:lpstr>Calibri Light</vt:lpstr>
      <vt:lpstr>Wingdings</vt:lpstr>
      <vt:lpstr>Work Sans</vt:lpstr>
      <vt:lpstr>Work Sans ExtraLight</vt:lpstr>
      <vt:lpstr>Thème Office</vt:lpstr>
      <vt:lpstr>PowerPoint Presentation</vt:lpstr>
      <vt:lpstr>PowerPoint Presentation</vt:lpstr>
      <vt:lpstr>Insérer le fond de plan d’implantation et le compléter :   Si l’installation est prévue en extérieur, le fond de plan doit être pris sur Google Maps en mode satellite, et complété avec les éléments de la légende ci-jointe.  Si l’installation est prévue en sous-sol/silo, le plan doit être réalisé sur fond de plan EXE/TQC fourni par le client, et complété avec les éléments de la légende ci-jointe.  Dans tous les cas, l’échelle doit être visible sur le fond de plan Google Maps ou sur le plan client   Toute modification prévue de l’installation existante doit être indiquée sur le plan d’implantation </vt:lpstr>
      <vt:lpstr>PowerPoint Presentation</vt:lpstr>
      <vt:lpstr>PowerPoint Presentation</vt:lpstr>
      <vt:lpstr>PowerPoint Presentation</vt:lpstr>
      <vt:lpstr>PowerPoint Presentation</vt:lpstr>
      <vt:lpstr>PowerPoint Presentation</vt:lpstr>
      <vt:lpstr>Rendu photo  Le rendu photo doit permettre de visualiser les travaux tels que réalisés une fois le chantier réceptionné. Le rapport doit contenir tous les éléments suivants :   - Photo du point de raccordement électrique (TGBT / PDL) - Photos des cheminements de câbles et des percements si il y en a -Positionnement des bornes, des éventuels TD/chambre de tirage - Positionnement de la signalisation horizontale et verticale - Positionnement des protections mécaniques</vt:lpstr>
      <vt:lpstr>Insérer les fiches techniques du matériel   - Fiche synthèse bornes  - Fiche synthèse Matériels CFA</vt:lpstr>
      <vt:lpstr>PowerPoint Presentation</vt:lpstr>
      <vt:lpstr>PowerPoint Presentation</vt:lpstr>
      <vt:lpstr>PowerPoint Presentation</vt:lpstr>
      <vt:lpstr>PowerPoint Presentation</vt:lpstr>
      <vt:lpstr>PowerPoint Presentation</vt:lpstr>
      <vt:lpstr>PowerPoint Presentation</vt:lpstr>
      <vt:lpstr>Eléments à utiliser pour le rendu photo de l’aménagement des places (Signalétique et protection)</vt:lpstr>
      <vt:lpstr>PowerPoint Presentation</vt:lpstr>
      <vt:lpstr>Annexe Images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Brice JEULAND</dc:creator>
  <cp:lastModifiedBy>Wajih TAZI</cp:lastModifiedBy>
  <cp:revision>120</cp:revision>
  <cp:lastPrinted>2023-04-26T09:59:58Z</cp:lastPrinted>
  <dcterms:created xsi:type="dcterms:W3CDTF">2023-01-11T15:43:55Z</dcterms:created>
  <dcterms:modified xsi:type="dcterms:W3CDTF">2026-10-09T09:32:32Z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64cde9e-e5c3-4373-b819-2cd0b3d0819c_Enabled">
    <vt:lpwstr>true</vt:lpwstr>
  </property>
  <property fmtid="{D5CDD505-2E9C-101B-9397-08002B2CF9AE}" pid="3" name="MSIP_Label_e64cde9e-e5c3-4373-b819-2cd0b3d0819c_SetDate">
    <vt:lpwstr>2023-01-11T16:40:53Z</vt:lpwstr>
  </property>
  <property fmtid="{D5CDD505-2E9C-101B-9397-08002B2CF9AE}" pid="4" name="MSIP_Label_e64cde9e-e5c3-4373-b819-2cd0b3d0819c_Method">
    <vt:lpwstr>Privileged</vt:lpwstr>
  </property>
  <property fmtid="{D5CDD505-2E9C-101B-9397-08002B2CF9AE}" pid="5" name="MSIP_Label_e64cde9e-e5c3-4373-b819-2cd0b3d0819c_Name">
    <vt:lpwstr>C1 - Interne</vt:lpwstr>
  </property>
  <property fmtid="{D5CDD505-2E9C-101B-9397-08002B2CF9AE}" pid="6" name="MSIP_Label_e64cde9e-e5c3-4373-b819-2cd0b3d0819c_SiteId">
    <vt:lpwstr>0d7855b2-f644-451f-bd16-9f0d1fdd24b4</vt:lpwstr>
  </property>
  <property fmtid="{D5CDD505-2E9C-101B-9397-08002B2CF9AE}" pid="7" name="MSIP_Label_e64cde9e-e5c3-4373-b819-2cd0b3d0819c_ActionId">
    <vt:lpwstr>f9029074-31a5-4564-8d5e-ef178f8b7979</vt:lpwstr>
  </property>
  <property fmtid="{D5CDD505-2E9C-101B-9397-08002B2CF9AE}" pid="8" name="MSIP_Label_e64cde9e-e5c3-4373-b819-2cd0b3d0819c_ContentBits">
    <vt:lpwstr>2</vt:lpwstr>
  </property>
  <property fmtid="{D5CDD505-2E9C-101B-9397-08002B2CF9AE}" pid="9" name="ClassificationContentMarkingFooterLocations">
    <vt:lpwstr>Thème Office:8</vt:lpwstr>
  </property>
  <property fmtid="{D5CDD505-2E9C-101B-9397-08002B2CF9AE}" pid="10" name="ClassificationContentMarkingFooterText">
    <vt:lpwstr>IZIVIA Classification : C1 - Interne</vt:lpwstr>
  </property>
  <property fmtid="{D5CDD505-2E9C-101B-9397-08002B2CF9AE}" pid="11" name="ContentTypeId">
    <vt:lpwstr>0x0101000F0ACF7CF757DC4094EE3C8029BBFF87</vt:lpwstr>
  </property>
  <property fmtid="{D5CDD505-2E9C-101B-9397-08002B2CF9AE}" pid="12" name="MediaServiceImageTags">
    <vt:lpwstr/>
  </property>
</Properties>
</file>