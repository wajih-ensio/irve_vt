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98" r:id="rId5"/>
    <p:sldId id="295" r:id="rId6"/>
    <p:sldId id="257" r:id="rId7"/>
    <p:sldId id="294" r:id="rId8"/>
    <p:sldId id="265" r:id="rId9"/>
    <p:sldId id="306" r:id="rId10"/>
    <p:sldId id="299" r:id="rId11"/>
    <p:sldId id="297" r:id="rId12"/>
    <p:sldId id="278" r:id="rId13"/>
    <p:sldId id="302" r:id="rId14"/>
    <p:sldId id="303" r:id="rId15"/>
    <p:sldId id="304" r:id="rId16"/>
    <p:sldId id="305" r:id="rId17"/>
    <p:sldId id="300" r:id="rId18"/>
    <p:sldId id="307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2D1D6-3A73-4E98-8A82-110ED65225C1}" type="datetimeFigureOut">
              <a:rPr lang="fr-FR" smtClean="0"/>
              <a:t>09/10/2026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6AB83-59B8-4B2D-8AA4-49A5489B85A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9218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6AB83-59B8-4B2D-8AA4-49A5489B85AF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5970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9C6BD-4275-4931-9928-F37BB27573BD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7137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02F58-2124-2C48-321A-608F9F502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CECA075-028D-C79A-21F9-84AA0FF6E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0C11E7E-EF85-E28D-62CB-BFAAEA7C7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AF5C3B-BCCD-99F5-C8F8-4EBB78631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9C6BD-4275-4931-9928-F37BB27573B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2179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7B09B-41D1-5955-FA9B-B669CD74E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9C35350-0692-11EF-1990-A1FC35F3F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9541166-44C7-B9EA-D48C-6827934D6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0BF2B7-73DD-0537-75AC-F5317C604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9C6BD-4275-4931-9928-F37BB27573BD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2740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DA803-683D-F0D6-15D2-19C140CC7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A156DB5-1528-071B-50FC-F7DD420F6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FAC1F7A-BA49-16F5-E6A3-70F3CB71F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098322-681E-24B1-8A7C-600A75D54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9C6BD-4275-4931-9928-F37BB27573BD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152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65CF2-6371-3E22-7284-B41AC4BE1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7DD2263-FF9F-3ECC-B9BF-A61BDEA8D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9AF7F34-60E9-2726-1285-B28F7DD2A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652B25-5FE5-FE2A-E4AA-02ABAAD7D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C9C6BD-4275-4931-9928-F37BB27573BD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298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1E8BD1-B324-56B3-1023-EA633C8B1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068804A-C472-DCE8-9375-72596916B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E134F5-665A-312B-ECA3-4A0E86A4B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57067-42AE-4550-833C-2D9C07BB4AC1}" type="datetime1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399B32-0B56-1E80-7C20-6D521837F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7B7026-9FED-33A0-84C7-7283FE487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454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15173E-266F-A022-6225-080C54E7E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BE259D-690B-A287-F60C-B504B9328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36A178-C175-6611-21C0-CD7B3DBE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026C2-7BB2-4277-A8CB-2EB6E430585A}" type="datetime1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C0EC81-7AF7-E3E8-C197-DC74963C1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DBEF40-F41E-4C03-C5D1-3B2E53D6A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40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09769A-5B40-C9AD-6474-43E839475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2714E67-C2F9-7925-8A17-70ECA3FF3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837485-EF7C-98A3-2433-DA99D200B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5F700-2851-41B9-8C54-EDF75C8F9282}" type="datetime1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2EC881-5B50-46C7-1005-8A9F5280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F5BF4E-3FA1-4858-AC57-1AF942C2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7815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9115AE-DCE1-A165-FEB8-016634B6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6FEB16-5C5E-D9D7-8CF1-95AEC8696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BEA3254-CE98-9810-3032-50673325C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C0E744-802B-1B0B-E3F0-3C20921BD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2E1F6-671B-4CB6-AE55-82577064F79F}" type="datetime1">
              <a:rPr lang="fr-FR" smtClean="0"/>
              <a:t>09/10/2026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654B1F1-8846-84D6-27FC-1E1615A18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AB5E98-801F-00B4-E649-D73B89A94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8871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90BD47-5E35-EEEC-14C6-C2EF1F023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03C6C0-203D-DF3D-1CDC-36EDFF15F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DC61C42-6E41-C5AC-C986-167CDB201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A2AC938-1FEC-2568-3D35-D2E8FBF227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6D723D7-E485-5C07-B1E9-F315CDE9D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1A38F88-B072-7E98-80BE-C37FAD1A0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CE4F-E9E4-4F30-8F0D-B10F60F99E98}" type="datetime1">
              <a:rPr lang="fr-FR" smtClean="0"/>
              <a:t>09/10/2026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79FAC5B-1C84-E730-3572-C1911428A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215589C-B206-3814-3D52-4EB61530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634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410C34-D5BD-FCDD-062C-373AF53D7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2593361-7CCE-3A8E-D72D-0A5F71563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A246-A904-4D20-95B3-4CE8076EF0DD}" type="datetime1">
              <a:rPr lang="fr-FR" smtClean="0"/>
              <a:t>09/10/2026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74298AA-2F65-C0E3-5EC3-1F8FCBC34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6728CE2-3DA6-D538-88DD-28A64D79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8483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92AAF76-A10A-143D-F359-B5C8F6C4A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E385D-6ED6-490C-92D9-69D4F2E73B30}" type="datetime1">
              <a:rPr lang="fr-FR" smtClean="0"/>
              <a:t>09/10/2026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CEEA0AE-8AB1-24D8-B5E2-A11928742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C6F2D3-821E-84B2-187C-02671398E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289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2DC3C9-E4DB-AEB2-F2DA-D89BBAF36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D475C4-FDDF-8D0C-C5B0-842CB129D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16F16D4-7800-6728-C376-23EE37A58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9B4251-8739-45E4-49A2-6556FB63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ED0C3-DB1A-4854-8470-43B13909C47C}" type="datetime1">
              <a:rPr lang="fr-FR" smtClean="0"/>
              <a:t>09/10/2026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A5CF24E-E110-0931-0F2D-4DDDE27A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BD11D8-96C5-8DB2-FDEA-DEC12AF0B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5088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A91AE-F464-873B-3A5D-B7BC48B35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6EDA7C6-EC9A-1792-702C-4E5EAA8BB8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6CFFE61-34B8-F6AE-1057-38F9914CD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3ACAD6-E8F7-D96C-C589-1459AD8A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8B8DC-19D1-4BCE-A0AC-EAE75B6F22B9}" type="datetime1">
              <a:rPr lang="fr-FR" smtClean="0"/>
              <a:t>09/10/2026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270F4FD-1C76-9C07-B218-6B26EA903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4843FC1-22E3-41F6-75C1-6205B144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172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05C83C-4C34-0162-2E50-92DF996C1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0013356-E12A-B678-42D5-059CDC43B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8D506E-0578-0946-77EA-3F9E5352D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5089D-ED80-40AC-95A1-AC6FC25F7C15}" type="datetime1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B1E46C-1BD0-8477-817F-570BC9FF4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DA3978-C603-63C5-5C54-5F4E176A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6405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9D1A9C5-E209-8DD3-16E1-D8FF22DF8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3134CA-5EA9-3139-A76F-73E3E98DA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85AA70-7A86-9168-3CA0-D3F32B0CB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CD77B-47FE-4668-B3CF-8C9A177B60F3}" type="datetime1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B1AE4A-DC01-65A1-D4F4-D08B55E91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79F61B-8534-1611-3C88-C1A04D4CE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210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EAD0F90-61EC-21BC-DFC6-ADF69AEB9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C0859C8-40C7-1F4C-94C1-42AE2BB35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539F6D-AE30-FAD0-04B6-F5065106E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1A3A86-1F1F-4D72-8B68-158E1E8B65ED}" type="datetime1">
              <a:rPr lang="fr-FR" smtClean="0"/>
              <a:t>09/10/2026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5C2C79-C2AC-BF75-AA20-5379BFC45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7537A2-12D1-EACB-6366-BAFA3AE62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E5E68-FB0E-4FE5-B34D-79718C15B07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5928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1E3DAC-A97D-3B3E-C367-0FE08CB16386}"/>
              </a:ext>
            </a:extLst>
          </p:cNvPr>
          <p:cNvSpPr/>
          <p:nvPr/>
        </p:nvSpPr>
        <p:spPr>
          <a:xfrm>
            <a:off x="3162300" y="3876066"/>
            <a:ext cx="5867400" cy="893747"/>
          </a:xfrm>
          <a:prstGeom prst="rect">
            <a:avLst/>
          </a:prstGeom>
          <a:solidFill>
            <a:schemeClr val="accent1">
              <a:lumMod val="40000"/>
              <a:lumOff val="6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Site : </a:t>
            </a:r>
            <a:r>
              <a:rPr lang="fr-FR" dirty="0">
                <a:solidFill>
                  <a:schemeClr val="tx1"/>
                </a:solidFill>
                <a:highlight>
                  <a:srgbClr val="FFFF00"/>
                </a:highlight>
              </a:rPr>
              <a:t>Site client</a:t>
            </a:r>
          </a:p>
          <a:p>
            <a:pPr algn="ctr"/>
            <a:r>
              <a:rPr lang="fr-FR" dirty="0">
                <a:solidFill>
                  <a:schemeClr val="tx1"/>
                </a:solidFill>
                <a:highlight>
                  <a:srgbClr val="FFFF00"/>
                </a:highlight>
              </a:rPr>
              <a:t>Adresse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F2CDFC6-0C07-51F1-B8EF-C30FBDAE014A}"/>
              </a:ext>
            </a:extLst>
          </p:cNvPr>
          <p:cNvSpPr txBox="1">
            <a:spLocks/>
          </p:cNvSpPr>
          <p:nvPr/>
        </p:nvSpPr>
        <p:spPr>
          <a:xfrm>
            <a:off x="4277251" y="14589"/>
            <a:ext cx="3637497" cy="1260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1" noProof="0" dirty="0">
                <a:solidFill>
                  <a:schemeClr val="tx1"/>
                </a:solidFill>
                <a:highlight>
                  <a:srgbClr val="FFFF00"/>
                </a:highlight>
              </a:rPr>
              <a:t>Donneur d’ordre</a:t>
            </a:r>
          </a:p>
          <a:p>
            <a:r>
              <a:rPr lang="fr-FR" sz="2000" b="1" noProof="0" dirty="0">
                <a:solidFill>
                  <a:schemeClr val="tx1"/>
                </a:solidFill>
              </a:rPr>
              <a:t>Avant-Projet Sommaire (APS)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75A8327-0A6D-B37A-7640-1D3BF2DF1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439" y="247901"/>
            <a:ext cx="1361645" cy="624755"/>
          </a:xfrm>
          <a:prstGeom prst="rect">
            <a:avLst/>
          </a:prstGeom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7D618FAB-7720-5BCF-CF9C-48668CCD9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716213"/>
              </p:ext>
            </p:extLst>
          </p:nvPr>
        </p:nvGraphicFramePr>
        <p:xfrm>
          <a:off x="416460" y="5145855"/>
          <a:ext cx="10574629" cy="1576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250">
                  <a:extLst>
                    <a:ext uri="{9D8B030D-6E8A-4147-A177-3AD203B41FA5}">
                      <a16:colId xmlns:a16="http://schemas.microsoft.com/office/drawing/2014/main" val="2575048365"/>
                    </a:ext>
                  </a:extLst>
                </a:gridCol>
                <a:gridCol w="971999">
                  <a:extLst>
                    <a:ext uri="{9D8B030D-6E8A-4147-A177-3AD203B41FA5}">
                      <a16:colId xmlns:a16="http://schemas.microsoft.com/office/drawing/2014/main" val="758305600"/>
                    </a:ext>
                  </a:extLst>
                </a:gridCol>
                <a:gridCol w="971999">
                  <a:extLst>
                    <a:ext uri="{9D8B030D-6E8A-4147-A177-3AD203B41FA5}">
                      <a16:colId xmlns:a16="http://schemas.microsoft.com/office/drawing/2014/main" val="226939960"/>
                    </a:ext>
                  </a:extLst>
                </a:gridCol>
                <a:gridCol w="7222381">
                  <a:extLst>
                    <a:ext uri="{9D8B030D-6E8A-4147-A177-3AD203B41FA5}">
                      <a16:colId xmlns:a16="http://schemas.microsoft.com/office/drawing/2014/main" val="3083915023"/>
                    </a:ext>
                  </a:extLst>
                </a:gridCol>
              </a:tblGrid>
              <a:tr h="315389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Date</a:t>
                      </a:r>
                    </a:p>
                  </a:txBody>
                  <a:tcPr marL="77234" marR="77234" marT="38617" marB="386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Indice</a:t>
                      </a:r>
                    </a:p>
                  </a:txBody>
                  <a:tcPr marL="77234" marR="77234" marT="38617" marB="386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Editeur</a:t>
                      </a:r>
                    </a:p>
                  </a:txBody>
                  <a:tcPr marL="77234" marR="77234" marT="38617" marB="38617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Description</a:t>
                      </a:r>
                    </a:p>
                  </a:txBody>
                  <a:tcPr marL="77234" marR="77234" marT="38617" marB="38617"/>
                </a:tc>
                <a:extLst>
                  <a:ext uri="{0D108BD9-81ED-4DB2-BD59-A6C34878D82A}">
                    <a16:rowId xmlns:a16="http://schemas.microsoft.com/office/drawing/2014/main" val="631626870"/>
                  </a:ext>
                </a:extLst>
              </a:tr>
              <a:tr h="3153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XX/XX/2026</a:t>
                      </a:r>
                    </a:p>
                  </a:txBody>
                  <a:tcPr marL="77234" marR="77234" marT="38617" marB="386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77234" marR="77234" marT="38617" marB="386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X.X.</a:t>
                      </a:r>
                    </a:p>
                  </a:txBody>
                  <a:tcPr marL="77234" marR="77234" marT="38617" marB="38617" anchor="ctr"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Création</a:t>
                      </a:r>
                    </a:p>
                  </a:txBody>
                  <a:tcPr marL="77234" marR="77234" marT="38617" marB="38617" anchor="ctr"/>
                </a:tc>
                <a:extLst>
                  <a:ext uri="{0D108BD9-81ED-4DB2-BD59-A6C34878D82A}">
                    <a16:rowId xmlns:a16="http://schemas.microsoft.com/office/drawing/2014/main" val="4087463858"/>
                  </a:ext>
                </a:extLst>
              </a:tr>
              <a:tr h="315389">
                <a:tc>
                  <a:txBody>
                    <a:bodyPr/>
                    <a:lstStyle/>
                    <a:p>
                      <a:pPr algn="ctr"/>
                      <a:endParaRPr lang="fr-FR" sz="1200" dirty="0"/>
                    </a:p>
                  </a:txBody>
                  <a:tcPr marL="77234" marR="77234" marT="38617" marB="38617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/>
                    </a:p>
                  </a:txBody>
                  <a:tcPr marL="77234" marR="77234" marT="38617" marB="38617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/>
                    </a:p>
                  </a:txBody>
                  <a:tcPr marL="77234" marR="77234" marT="38617" marB="38617" anchor="ctr"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 marL="77234" marR="77234" marT="38617" marB="38617" anchor="ctr"/>
                </a:tc>
                <a:extLst>
                  <a:ext uri="{0D108BD9-81ED-4DB2-BD59-A6C34878D82A}">
                    <a16:rowId xmlns:a16="http://schemas.microsoft.com/office/drawing/2014/main" val="3967944017"/>
                  </a:ext>
                </a:extLst>
              </a:tr>
              <a:tr h="315389">
                <a:tc>
                  <a:txBody>
                    <a:bodyPr/>
                    <a:lstStyle/>
                    <a:p>
                      <a:pPr algn="ctr"/>
                      <a:endParaRPr lang="fr-FR" sz="1200" dirty="0"/>
                    </a:p>
                  </a:txBody>
                  <a:tcPr marL="77234" marR="77234" marT="38617" marB="38617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/>
                    </a:p>
                  </a:txBody>
                  <a:tcPr marL="77234" marR="77234" marT="38617" marB="38617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/>
                    </a:p>
                  </a:txBody>
                  <a:tcPr marL="77234" marR="77234" marT="38617" marB="38617" anchor="ctr"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 marL="77234" marR="77234" marT="38617" marB="38617" anchor="ctr"/>
                </a:tc>
                <a:extLst>
                  <a:ext uri="{0D108BD9-81ED-4DB2-BD59-A6C34878D82A}">
                    <a16:rowId xmlns:a16="http://schemas.microsoft.com/office/drawing/2014/main" val="3427881378"/>
                  </a:ext>
                </a:extLst>
              </a:tr>
              <a:tr h="315389">
                <a:tc>
                  <a:txBody>
                    <a:bodyPr/>
                    <a:lstStyle/>
                    <a:p>
                      <a:pPr algn="ctr"/>
                      <a:endParaRPr lang="fr-FR" sz="1200" dirty="0"/>
                    </a:p>
                  </a:txBody>
                  <a:tcPr marL="77234" marR="77234" marT="38617" marB="38617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/>
                    </a:p>
                  </a:txBody>
                  <a:tcPr marL="77234" marR="77234" marT="38617" marB="38617"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/>
                    </a:p>
                  </a:txBody>
                  <a:tcPr marL="77234" marR="77234" marT="38617" marB="38617" anchor="ctr"/>
                </a:tc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 marL="77234" marR="77234" marT="38617" marB="38617" anchor="ctr"/>
                </a:tc>
                <a:extLst>
                  <a:ext uri="{0D108BD9-81ED-4DB2-BD59-A6C34878D82A}">
                    <a16:rowId xmlns:a16="http://schemas.microsoft.com/office/drawing/2014/main" val="186199046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0E20CC6-3159-2929-80A0-77CEB8DBD1BF}"/>
              </a:ext>
            </a:extLst>
          </p:cNvPr>
          <p:cNvSpPr/>
          <p:nvPr/>
        </p:nvSpPr>
        <p:spPr>
          <a:xfrm>
            <a:off x="3819143" y="1128457"/>
            <a:ext cx="4553712" cy="23865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Photo entrée site à intégrer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2B40074-FBB4-EAA4-AB5F-D241DDCADFF8}"/>
              </a:ext>
            </a:extLst>
          </p:cNvPr>
          <p:cNvSpPr txBox="1"/>
          <p:nvPr/>
        </p:nvSpPr>
        <p:spPr>
          <a:xfrm>
            <a:off x="416460" y="4773168"/>
            <a:ext cx="2793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N° d’opportunité : 000XXXXXVX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695D208E-96AB-1A28-A19A-D5B2DFD77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1</a:t>
            </a:fld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8979929-0292-5129-89B9-20E129C7F8E0}"/>
              </a:ext>
            </a:extLst>
          </p:cNvPr>
          <p:cNvSpPr txBox="1"/>
          <p:nvPr/>
        </p:nvSpPr>
        <p:spPr>
          <a:xfrm>
            <a:off x="576072" y="495463"/>
            <a:ext cx="1402948" cy="253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fr-FR" sz="1050" b="1" dirty="0">
                <a:solidFill>
                  <a:srgbClr val="FF0000"/>
                </a:solidFill>
              </a:rPr>
              <a:t>Logo donneur d’ordre</a:t>
            </a:r>
          </a:p>
        </p:txBody>
      </p:sp>
    </p:spTree>
    <p:extLst>
      <p:ext uri="{BB962C8B-B14F-4D97-AF65-F5344CB8AC3E}">
        <p14:creationId xmlns:p14="http://schemas.microsoft.com/office/powerpoint/2010/main" val="4253166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6">
            <a:extLst>
              <a:ext uri="{FF2B5EF4-FFF2-40B4-BE49-F238E27FC236}">
                <a16:creationId xmlns:a16="http://schemas.microsoft.com/office/drawing/2014/main" id="{A8049EFE-EC7F-B86E-A824-1C886BB62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744258"/>
              </p:ext>
            </p:extLst>
          </p:nvPr>
        </p:nvGraphicFramePr>
        <p:xfrm>
          <a:off x="290790" y="158085"/>
          <a:ext cx="11522519" cy="58798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6046">
                  <a:extLst>
                    <a:ext uri="{9D8B030D-6E8A-4147-A177-3AD203B41FA5}">
                      <a16:colId xmlns:a16="http://schemas.microsoft.com/office/drawing/2014/main" val="3627121043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31598604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37498043"/>
                    </a:ext>
                  </a:extLst>
                </a:gridCol>
                <a:gridCol w="452582">
                  <a:extLst>
                    <a:ext uri="{9D8B030D-6E8A-4147-A177-3AD203B41FA5}">
                      <a16:colId xmlns:a16="http://schemas.microsoft.com/office/drawing/2014/main" val="577620156"/>
                    </a:ext>
                  </a:extLst>
                </a:gridCol>
                <a:gridCol w="563419">
                  <a:extLst>
                    <a:ext uri="{9D8B030D-6E8A-4147-A177-3AD203B41FA5}">
                      <a16:colId xmlns:a16="http://schemas.microsoft.com/office/drawing/2014/main" val="2234295172"/>
                    </a:ext>
                  </a:extLst>
                </a:gridCol>
                <a:gridCol w="1644072">
                  <a:extLst>
                    <a:ext uri="{9D8B030D-6E8A-4147-A177-3AD203B41FA5}">
                      <a16:colId xmlns:a16="http://schemas.microsoft.com/office/drawing/2014/main" val="2533598297"/>
                    </a:ext>
                  </a:extLst>
                </a:gridCol>
              </a:tblGrid>
              <a:tr h="366387">
                <a:tc gridSpan="6">
                  <a:txBody>
                    <a:bodyPr/>
                    <a:lstStyle/>
                    <a:p>
                      <a:r>
                        <a:rPr lang="fr-FR" sz="1200" b="1" dirty="0">
                          <a:solidFill>
                            <a:schemeClr val="bg1"/>
                          </a:solidFill>
                          <a:latin typeface="Work Sans" panose="00000500000000000000" pitchFamily="2" charset="0"/>
                        </a:rPr>
                        <a:t>SPÉCIFICITÉS DU SITE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b="1" dirty="0">
                        <a:solidFill>
                          <a:schemeClr val="bg1"/>
                        </a:solidFill>
                        <a:latin typeface="Work Sans" panose="000005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031976"/>
                  </a:ext>
                </a:extLst>
              </a:tr>
              <a:tr h="3518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Jours et horaires d’ouverture du site : </a:t>
                      </a:r>
                    </a:p>
                  </a:txBody>
                  <a:tcPr marL="34925" marR="34925" marT="34925" marB="34925" anchor="ctr"/>
                </a:tc>
                <a:tc gridSpan="5">
                  <a:txBody>
                    <a:bodyPr/>
                    <a:lstStyle/>
                    <a:p>
                      <a:r>
                        <a:rPr lang="fr-FR" sz="1200" b="0" dirty="0">
                          <a:solidFill>
                            <a:srgbClr val="FF00FF"/>
                          </a:solidFill>
                          <a:highlight>
                            <a:srgbClr val="FFFF00"/>
                          </a:highlight>
                        </a:rPr>
                        <a:t>Lundi –Jeudi : 8H00 à 12H00 – 13H00 à 17H00</a:t>
                      </a:r>
                    </a:p>
                    <a:p>
                      <a:r>
                        <a:rPr lang="fr-FR" sz="1200" b="0" dirty="0">
                          <a:solidFill>
                            <a:srgbClr val="FF00FF"/>
                          </a:solidFill>
                          <a:highlight>
                            <a:srgbClr val="FFFF00"/>
                          </a:highlight>
                        </a:rPr>
                        <a:t>Vendredi : 8H00 à 12H00 – 13H00 à 16H00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dirty="0">
                        <a:latin typeface="Work Sans" panose="000005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898892"/>
                  </a:ext>
                </a:extLst>
              </a:tr>
              <a:tr h="44449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Modalités d’accès : </a:t>
                      </a:r>
                    </a:p>
                  </a:txBody>
                  <a:tcPr marL="34925" marR="34925" marT="34925" marB="34925" anchor="ctr"/>
                </a:tc>
                <a:tc gridSpan="5">
                  <a:txBody>
                    <a:bodyPr/>
                    <a:lstStyle/>
                    <a:p>
                      <a:r>
                        <a:rPr lang="fr-FR" sz="1200" b="0" dirty="0">
                          <a:solidFill>
                            <a:srgbClr val="FF00FF"/>
                          </a:solidFill>
                          <a:highlight>
                            <a:srgbClr val="FFFF00"/>
                          </a:highlight>
                        </a:rPr>
                        <a:t>Se présenter à l’accueil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dirty="0">
                        <a:latin typeface="Work Sans" panose="000005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640335"/>
                  </a:ext>
                </a:extLst>
              </a:tr>
              <a:tr h="351834">
                <a:tc gridSpan="6">
                  <a:txBody>
                    <a:bodyPr/>
                    <a:lstStyle/>
                    <a:p>
                      <a:r>
                        <a:rPr lang="fr-CA" sz="1200" b="1" dirty="0">
                          <a:solidFill>
                            <a:schemeClr val="bg1"/>
                          </a:solidFill>
                          <a:latin typeface="Work Sans" panose="00000500000000000000" pitchFamily="2" charset="0"/>
                        </a:rPr>
                        <a:t>TYPOLOGIE DE PARKING</a:t>
                      </a:r>
                      <a:endParaRPr lang="fr-FR" sz="1200" b="1" dirty="0">
                        <a:solidFill>
                          <a:schemeClr val="bg1"/>
                        </a:solidFill>
                        <a:latin typeface="Work Sans" panose="00000500000000000000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b="1" dirty="0">
                        <a:solidFill>
                          <a:schemeClr val="bg1"/>
                        </a:solidFill>
                        <a:latin typeface="Work Sans" panose="000005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880234"/>
                  </a:ext>
                </a:extLst>
              </a:tr>
              <a:tr h="41455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Type d’établissement :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Code du travail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ERP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IGH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q"/>
                      </a:pPr>
                      <a:endParaRPr lang="fr-FR" sz="1200" kern="1200" dirty="0">
                        <a:solidFill>
                          <a:schemeClr val="tx1"/>
                        </a:solidFill>
                        <a:latin typeface="Work Sans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Voirie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418824"/>
                  </a:ext>
                </a:extLst>
              </a:tr>
              <a:tr h="41455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Type de bail :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Locataire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Propriétaire 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0" indent="0"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Wingdings" panose="05000000000000000000" pitchFamily="2" charset="2"/>
                        <a:buNone/>
                      </a:pPr>
                      <a:endParaRPr lang="fr-FR" sz="1200" kern="1200" dirty="0">
                        <a:solidFill>
                          <a:schemeClr val="tx1"/>
                        </a:solidFill>
                        <a:latin typeface="Work Sans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837211"/>
                  </a:ext>
                </a:extLst>
              </a:tr>
              <a:tr h="3518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Type d’usage :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Employés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Flotte 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Visiteurs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053288"/>
                  </a:ext>
                </a:extLst>
              </a:tr>
              <a:tr h="35183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Type de Parking :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Souterrain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Silo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Extérieur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157538"/>
                  </a:ext>
                </a:extLst>
              </a:tr>
              <a:tr h="351834">
                <a:tc gridSpan="6">
                  <a:txBody>
                    <a:bodyPr/>
                    <a:lstStyle/>
                    <a:p>
                      <a:r>
                        <a:rPr lang="fr-FR" sz="1200" b="1" dirty="0">
                          <a:solidFill>
                            <a:schemeClr val="bg1"/>
                          </a:solidFill>
                          <a:latin typeface="Work Sans" panose="00000500000000000000" pitchFamily="2" charset="0"/>
                        </a:rPr>
                        <a:t>POINT DE RACCORDEMENT CFO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b="1" dirty="0">
                        <a:solidFill>
                          <a:schemeClr val="bg1"/>
                        </a:solidFill>
                        <a:latin typeface="Work Sans" panose="00000500000000000000" pitchFamily="2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53163"/>
                  </a:ext>
                </a:extLst>
              </a:tr>
              <a:tr h="62404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Type de source et puissance :</a:t>
                      </a:r>
                    </a:p>
                  </a:txBody>
                  <a:tcPr marL="34925" marR="34925" marT="34925" marB="34925" anchor="ctr"/>
                </a:tc>
                <a:tc gridSpan="5">
                  <a:txBody>
                    <a:bodyPr/>
                    <a:lstStyle/>
                    <a:p>
                      <a:r>
                        <a:rPr lang="fr-FR" sz="1200" b="0" dirty="0">
                          <a:solidFill>
                            <a:srgbClr val="FF00FF"/>
                          </a:solidFill>
                        </a:rPr>
                        <a:t>Tarif __ +Régime de neutre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0" dirty="0">
                          <a:solidFill>
                            <a:srgbClr val="FF00FF"/>
                          </a:solidFill>
                        </a:rPr>
                        <a:t>P souscrite : (code110, 111, 112)</a:t>
                      </a:r>
                    </a:p>
                    <a:p>
                      <a:r>
                        <a:rPr lang="fr-FR" sz="1200" b="0" dirty="0">
                          <a:solidFill>
                            <a:srgbClr val="FF00FF"/>
                          </a:solidFill>
                        </a:rPr>
                        <a:t>P soutirée max: (code160, 161, 162)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dirty="0">
                        <a:latin typeface="Work Sans" panose="000005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044594"/>
                  </a:ext>
                </a:extLst>
              </a:tr>
              <a:tr h="35659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Puissance disponible : </a:t>
                      </a:r>
                    </a:p>
                  </a:txBody>
                  <a:tcPr marL="34925" marR="34925" marT="34925" marB="34925" anchor="ctr"/>
                </a:tc>
                <a:tc gridSpan="5">
                  <a:txBody>
                    <a:bodyPr/>
                    <a:lstStyle/>
                    <a:p>
                      <a:r>
                        <a:rPr lang="fr-FR" sz="1200" b="0" dirty="0">
                          <a:solidFill>
                            <a:srgbClr val="FF00FF"/>
                          </a:solidFill>
                        </a:rPr>
                        <a:t>Ps-Pm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sz="1200" dirty="0">
                        <a:latin typeface="Work Sans" panose="000005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168184"/>
                  </a:ext>
                </a:extLst>
              </a:tr>
              <a:tr h="356596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Puissance nécessaire pour l’infrastructure IRVE </a:t>
                      </a:r>
                      <a:r>
                        <a:rPr lang="fr-FR" sz="1200" kern="120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: </a:t>
                      </a:r>
                      <a:endParaRPr lang="fr-FR" sz="1200" kern="1200" dirty="0">
                        <a:solidFill>
                          <a:schemeClr val="tx1"/>
                        </a:solidFill>
                        <a:latin typeface="Work Sans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 marL="34925" marR="34925" marT="34925" marB="34925" anchor="ctr"/>
                </a:tc>
                <a:tc gridSpan="5">
                  <a:txBody>
                    <a:bodyPr/>
                    <a:lstStyle/>
                    <a:p>
                      <a:endParaRPr lang="fr-FR" sz="1200" b="0" dirty="0">
                        <a:solidFill>
                          <a:srgbClr val="FF00FF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158719"/>
                  </a:ext>
                </a:extLst>
              </a:tr>
              <a:tr h="35659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Capacité théorique de se raccorder sur le point de raccordement en place ?* </a:t>
                      </a:r>
                    </a:p>
                  </a:txBody>
                  <a:tcPr marL="34925" marR="34925" marT="34925" marB="34925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Oui sans foisonnement </a:t>
                      </a: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Oui avec  foisonnement 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Non</a:t>
                      </a: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Non</a:t>
                      </a:r>
                      <a:endParaRPr lang="fr-FR" dirty="0"/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666013"/>
                  </a:ext>
                </a:extLst>
              </a:tr>
              <a:tr h="10527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Si « Non », quel type d’intervention par Enedis est nécessaire ?</a:t>
                      </a:r>
                    </a:p>
                  </a:txBody>
                  <a:tcPr marL="34925" marR="34925" marT="34925" marB="34925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Augmentation abonnement sans travaux</a:t>
                      </a: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Augmentation abonnement avec travaux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Création d’un PDL </a:t>
                      </a:r>
                      <a:r>
                        <a:rPr lang="fr-FR" sz="1200" b="0" kern="1200" dirty="0">
                          <a:solidFill>
                            <a:srgbClr val="FF0000"/>
                          </a:solidFill>
                          <a:latin typeface="Work Sans" panose="00000500000000000000" pitchFamily="2" charset="0"/>
                          <a:ea typeface="+mn-ea"/>
                          <a:cs typeface="+mn-cs"/>
                        </a:rPr>
                        <a:t>(Annexes à compléter)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246471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67D6B325-96E3-B4BB-0AC1-2E0EB335B3A4}"/>
              </a:ext>
            </a:extLst>
          </p:cNvPr>
          <p:cNvSpPr txBox="1"/>
          <p:nvPr/>
        </p:nvSpPr>
        <p:spPr>
          <a:xfrm>
            <a:off x="1339273" y="6488666"/>
            <a:ext cx="7370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* Cette capacité devra être confirmée par une étude détaillée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3DA3392-4FC6-DB2C-B51D-07EFF521B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1903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8;p2">
            <a:extLst>
              <a:ext uri="{FF2B5EF4-FFF2-40B4-BE49-F238E27FC236}">
                <a16:creationId xmlns:a16="http://schemas.microsoft.com/office/drawing/2014/main" id="{B8AED9F2-3080-3354-2F34-D65BA24EA6FE}"/>
              </a:ext>
            </a:extLst>
          </p:cNvPr>
          <p:cNvSpPr txBox="1"/>
          <p:nvPr/>
        </p:nvSpPr>
        <p:spPr>
          <a:xfrm>
            <a:off x="395535" y="188640"/>
            <a:ext cx="333308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Présentation du projet :</a:t>
            </a:r>
            <a:endParaRPr dirty="0"/>
          </a:p>
        </p:txBody>
      </p:sp>
      <p:sp>
        <p:nvSpPr>
          <p:cNvPr id="7" name="Google Shape;109;p2">
            <a:extLst>
              <a:ext uri="{FF2B5EF4-FFF2-40B4-BE49-F238E27FC236}">
                <a16:creationId xmlns:a16="http://schemas.microsoft.com/office/drawing/2014/main" id="{D5150D0F-6F07-86DD-134F-54ECA4A03FF6}"/>
              </a:ext>
            </a:extLst>
          </p:cNvPr>
          <p:cNvSpPr txBox="1"/>
          <p:nvPr/>
        </p:nvSpPr>
        <p:spPr>
          <a:xfrm>
            <a:off x="395535" y="793139"/>
            <a:ext cx="5255456" cy="1415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>
              <a:buFont typeface="Arial"/>
              <a:buNone/>
            </a:pPr>
            <a:r>
              <a:rPr lang="fr-FR" sz="1400" u="sng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Travaux CFO :</a:t>
            </a:r>
          </a:p>
          <a:p>
            <a:pPr marL="0" indent="0">
              <a:buFont typeface="Arial"/>
              <a:buNone/>
            </a:pPr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* Régime de Neutre : </a:t>
            </a:r>
            <a:r>
              <a:rPr lang="fr-FR" sz="1200" dirty="0">
                <a:solidFill>
                  <a:srgbClr val="FF00FF"/>
                </a:solidFill>
                <a:ea typeface="Calibri"/>
                <a:cs typeface="Calibri"/>
                <a:sym typeface="Calibri"/>
              </a:rPr>
              <a:t>(TT, TN, IT, …)</a:t>
            </a:r>
            <a:endParaRPr lang="fr-FR" sz="1200" dirty="0">
              <a:solidFill>
                <a:srgbClr val="FF00FF"/>
              </a:solidFill>
              <a:cs typeface="Calibri"/>
            </a:endParaRPr>
          </a:p>
          <a:p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* Origine de l'installation : </a:t>
            </a:r>
            <a:r>
              <a:rPr lang="fr-FR" sz="1200" dirty="0">
                <a:solidFill>
                  <a:srgbClr val="FF00FF"/>
                </a:solidFill>
                <a:cs typeface="Calibri"/>
                <a:sym typeface="Calibri"/>
              </a:rPr>
              <a:t>Tarif</a:t>
            </a:r>
          </a:p>
          <a:p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* Emplacement dans le TGBT : </a:t>
            </a:r>
            <a:r>
              <a:rPr lang="fr-FR" sz="1200" dirty="0">
                <a:solidFill>
                  <a:srgbClr val="FF00FF"/>
                </a:solidFill>
                <a:cs typeface="Calibri"/>
                <a:sym typeface="Calibri"/>
              </a:rPr>
              <a:t>Oui/Non</a:t>
            </a:r>
          </a:p>
          <a:p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* Coupure TGBT Générale : </a:t>
            </a:r>
            <a:r>
              <a:rPr lang="fr-FR" sz="1200" dirty="0">
                <a:solidFill>
                  <a:srgbClr val="FF00FF"/>
                </a:solidFill>
                <a:ea typeface="Calibri"/>
                <a:cs typeface="Calibri"/>
                <a:sym typeface="Calibri"/>
              </a:rPr>
              <a:t>Dates et horaires de coupure possible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* Installation d’un TD IRVE : </a:t>
            </a:r>
            <a:r>
              <a:rPr lang="fr-FR" sz="1200" dirty="0">
                <a:solidFill>
                  <a:srgbClr val="FF00FF"/>
                </a:solidFill>
                <a:cs typeface="Calibri"/>
                <a:sym typeface="Calibri"/>
              </a:rPr>
              <a:t>Oui/Non</a:t>
            </a:r>
            <a:endParaRPr lang="fr-FR" sz="1200" dirty="0">
              <a:solidFill>
                <a:srgbClr val="FF00FF"/>
              </a:solidFill>
              <a:cs typeface="Calibri"/>
            </a:endParaRP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CB81B580-2DD3-F717-692C-91836C722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3</a:t>
            </a:fld>
            <a:endParaRPr lang="fr-FR"/>
          </a:p>
        </p:txBody>
      </p:sp>
      <p:sp>
        <p:nvSpPr>
          <p:cNvPr id="9" name="Google Shape;109;p2">
            <a:extLst>
              <a:ext uri="{FF2B5EF4-FFF2-40B4-BE49-F238E27FC236}">
                <a16:creationId xmlns:a16="http://schemas.microsoft.com/office/drawing/2014/main" id="{1AC17E20-AFC4-9CBA-691B-525CAEE9DA11}"/>
              </a:ext>
            </a:extLst>
          </p:cNvPr>
          <p:cNvSpPr txBox="1"/>
          <p:nvPr/>
        </p:nvSpPr>
        <p:spPr>
          <a:xfrm>
            <a:off x="395535" y="5009014"/>
            <a:ext cx="5424239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400" u="sng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Personnes présente lors de la visite technique : </a:t>
            </a:r>
            <a:endParaRPr lang="fr-FR" sz="1400" u="sng" dirty="0">
              <a:solidFill>
                <a:srgbClr val="0070C0"/>
              </a:solidFill>
              <a:cs typeface="Calibri"/>
              <a:sym typeface="Calibri"/>
            </a:endParaRPr>
          </a:p>
          <a:p>
            <a:r>
              <a:rPr lang="fr-FR" sz="1200" dirty="0">
                <a:solidFill>
                  <a:srgbClr val="0070C0"/>
                </a:solidFill>
                <a:cs typeface="Calibri"/>
                <a:sym typeface="Calibri"/>
              </a:rPr>
              <a:t>-  Entreprise - Prénom NOM – Poste – adresse Mail – N° Tel</a:t>
            </a:r>
          </a:p>
          <a:p>
            <a:r>
              <a:rPr lang="fr-FR" sz="1200" dirty="0">
                <a:solidFill>
                  <a:srgbClr val="0070C0"/>
                </a:solidFill>
                <a:cs typeface="Calibri"/>
              </a:rPr>
              <a:t>-  E</a:t>
            </a:r>
            <a:r>
              <a:rPr lang="it-IT" sz="1200" dirty="0">
                <a:solidFill>
                  <a:srgbClr val="0070C0"/>
                </a:solidFill>
                <a:cs typeface="Calibri"/>
              </a:rPr>
              <a:t>NSIO - </a:t>
            </a:r>
            <a:r>
              <a:rPr lang="fr-FR" sz="1200" dirty="0">
                <a:solidFill>
                  <a:srgbClr val="0070C0"/>
                </a:solidFill>
                <a:cs typeface="Calibri"/>
                <a:sym typeface="Calibri"/>
              </a:rPr>
              <a:t>Prénom NOM – Poste – adresse Mail – N° Tel</a:t>
            </a:r>
            <a:endParaRPr lang="fr-FR" sz="1200" dirty="0">
              <a:solidFill>
                <a:srgbClr val="0070C0"/>
              </a:solidFill>
              <a:highlight>
                <a:srgbClr val="FFFF00"/>
              </a:highlight>
              <a:cs typeface="Calibri"/>
            </a:endParaRP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A07AF98E-1DDF-EFCD-7AA2-9A8581F7D1A4}"/>
              </a:ext>
            </a:extLst>
          </p:cNvPr>
          <p:cNvCxnSpPr>
            <a:cxnSpLocks/>
          </p:cNvCxnSpPr>
          <p:nvPr/>
        </p:nvCxnSpPr>
        <p:spPr>
          <a:xfrm>
            <a:off x="6086856" y="740664"/>
            <a:ext cx="0" cy="41330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9;p2">
            <a:extLst>
              <a:ext uri="{FF2B5EF4-FFF2-40B4-BE49-F238E27FC236}">
                <a16:creationId xmlns:a16="http://schemas.microsoft.com/office/drawing/2014/main" id="{16E5B481-430F-42BC-5BB8-766E5A5FE71B}"/>
              </a:ext>
            </a:extLst>
          </p:cNvPr>
          <p:cNvSpPr txBox="1"/>
          <p:nvPr/>
        </p:nvSpPr>
        <p:spPr>
          <a:xfrm>
            <a:off x="6541009" y="740664"/>
            <a:ext cx="5255456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>
              <a:buFont typeface="Arial"/>
              <a:buNone/>
            </a:pPr>
            <a:r>
              <a:rPr lang="fr-FR" sz="1400" u="sng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Travaux Borne :</a:t>
            </a:r>
          </a:p>
          <a:p>
            <a:pPr marL="0" lvl="0" indent="0">
              <a:buFont typeface="Arial"/>
              <a:buNone/>
            </a:pPr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* Puissance Bornes : </a:t>
            </a:r>
            <a:r>
              <a:rPr lang="fr-FR" sz="1200" dirty="0">
                <a:solidFill>
                  <a:srgbClr val="FF00FF"/>
                </a:solidFill>
                <a:ea typeface="Calibri"/>
                <a:cs typeface="Calibri"/>
                <a:sym typeface="Calibri"/>
              </a:rPr>
              <a:t>XX kW</a:t>
            </a:r>
          </a:p>
          <a:p>
            <a:pPr marL="0" lvl="0" indent="0">
              <a:buFont typeface="Arial"/>
              <a:buNone/>
            </a:pPr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* Nombre de Borne Double PDC = </a:t>
            </a:r>
            <a:r>
              <a:rPr lang="fr-FR" sz="1200" dirty="0">
                <a:solidFill>
                  <a:srgbClr val="FF00FF"/>
                </a:solidFill>
                <a:ea typeface="Calibri"/>
                <a:cs typeface="Calibri"/>
                <a:sym typeface="Calibri"/>
              </a:rPr>
              <a:t>X</a:t>
            </a:r>
          </a:p>
          <a:p>
            <a:pPr marL="0" lvl="0" indent="0">
              <a:buFont typeface="Arial"/>
              <a:buNone/>
            </a:pPr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* Nombre de Borne Simple PDC = </a:t>
            </a:r>
            <a:r>
              <a:rPr lang="fr-FR" sz="1200" dirty="0">
                <a:solidFill>
                  <a:srgbClr val="FF00FF"/>
                </a:solidFill>
                <a:ea typeface="Calibri"/>
                <a:cs typeface="Calibri"/>
                <a:sym typeface="Calibri"/>
              </a:rPr>
              <a:t>X</a:t>
            </a:r>
          </a:p>
          <a:p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* Nombre de pré équipement = </a:t>
            </a:r>
            <a:r>
              <a:rPr lang="fr-FR" sz="1200" dirty="0">
                <a:solidFill>
                  <a:srgbClr val="FF00FF"/>
                </a:solidFill>
                <a:ea typeface="Calibri"/>
                <a:cs typeface="Calibri"/>
                <a:sym typeface="Calibri"/>
              </a:rPr>
              <a:t>X</a:t>
            </a:r>
          </a:p>
          <a:p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* Marque/Modèle Borne =</a:t>
            </a:r>
            <a:r>
              <a:rPr lang="fr-FR" sz="1200" dirty="0">
                <a:solidFill>
                  <a:srgbClr val="FF00FF"/>
                </a:solidFill>
                <a:ea typeface="Calibri"/>
                <a:cs typeface="Calibri"/>
                <a:sym typeface="Calibri"/>
              </a:rPr>
              <a:t> </a:t>
            </a:r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endParaRPr lang="fr-FR" sz="1200" dirty="0">
              <a:solidFill>
                <a:srgbClr val="FF00FF"/>
              </a:solidFill>
              <a:cs typeface="Calibri"/>
              <a:sym typeface="Calibri"/>
            </a:endParaRPr>
          </a:p>
          <a:p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* Environnement des Bornes : </a:t>
            </a:r>
            <a:r>
              <a:rPr lang="fr-FR" sz="1200" dirty="0">
                <a:solidFill>
                  <a:srgbClr val="FF00FF"/>
                </a:solidFill>
                <a:ea typeface="Calibri"/>
                <a:cs typeface="Calibri"/>
                <a:sym typeface="Calibri"/>
              </a:rPr>
              <a:t>(Parking intérieur, Parking extérieur, Garage, …)</a:t>
            </a:r>
            <a:endParaRPr lang="fr-FR" sz="1200" dirty="0">
              <a:solidFill>
                <a:srgbClr val="FF00FF"/>
              </a:solidFill>
              <a:cs typeface="Calibri"/>
            </a:endParaRPr>
          </a:p>
          <a:p>
            <a:pPr marL="0" lvl="0" indent="0">
              <a:buFont typeface="Arial"/>
              <a:buNone/>
            </a:pPr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* Positionnement des Bornes : </a:t>
            </a:r>
            <a:r>
              <a:rPr lang="fr-FR" sz="1200" dirty="0">
                <a:solidFill>
                  <a:srgbClr val="FF00FF"/>
                </a:solidFill>
                <a:cs typeface="Calibri"/>
                <a:sym typeface="Calibri"/>
              </a:rPr>
              <a:t>Sur pied/Mural</a:t>
            </a:r>
            <a:endParaRPr sz="1200" dirty="0">
              <a:solidFill>
                <a:srgbClr val="FF00FF"/>
              </a:solidFill>
              <a:cs typeface="Calibri"/>
            </a:endParaRPr>
          </a:p>
        </p:txBody>
      </p:sp>
      <p:sp>
        <p:nvSpPr>
          <p:cNvPr id="4" name="Google Shape;109;p2">
            <a:extLst>
              <a:ext uri="{FF2B5EF4-FFF2-40B4-BE49-F238E27FC236}">
                <a16:creationId xmlns:a16="http://schemas.microsoft.com/office/drawing/2014/main" id="{D299AAB3-F057-9E96-54AA-C4BEEF79343C}"/>
              </a:ext>
            </a:extLst>
          </p:cNvPr>
          <p:cNvSpPr txBox="1"/>
          <p:nvPr/>
        </p:nvSpPr>
        <p:spPr>
          <a:xfrm>
            <a:off x="377248" y="2829639"/>
            <a:ext cx="5255456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fr-FR" sz="1400" u="sng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Travaux CFA 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Mode de communication CFA : </a:t>
            </a:r>
            <a:r>
              <a:rPr lang="fr-FR" sz="1200" dirty="0">
                <a:solidFill>
                  <a:srgbClr val="FF00FF"/>
                </a:solidFill>
                <a:ea typeface="Calibri"/>
                <a:cs typeface="Calibri"/>
                <a:sym typeface="Calibri"/>
              </a:rPr>
              <a:t>(Baie informatique, Box ADSL, Absent, TD IRVE CFO CFA, TD IRVE CFA, Carte SIM intégré dans borne, …)</a:t>
            </a:r>
          </a:p>
        </p:txBody>
      </p:sp>
      <p:sp>
        <p:nvSpPr>
          <p:cNvPr id="10" name="Google Shape;109;p2">
            <a:extLst>
              <a:ext uri="{FF2B5EF4-FFF2-40B4-BE49-F238E27FC236}">
                <a16:creationId xmlns:a16="http://schemas.microsoft.com/office/drawing/2014/main" id="{875FE152-0336-E72A-FF30-6E2F29CBE6D2}"/>
              </a:ext>
            </a:extLst>
          </p:cNvPr>
          <p:cNvSpPr txBox="1"/>
          <p:nvPr/>
        </p:nvSpPr>
        <p:spPr>
          <a:xfrm>
            <a:off x="6522722" y="3548507"/>
            <a:ext cx="5255456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>
              <a:buFont typeface="Arial"/>
              <a:buNone/>
            </a:pPr>
            <a:r>
              <a:rPr lang="fr-FR" sz="1400" u="sng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Travaux Génie Civil :</a:t>
            </a:r>
          </a:p>
          <a:p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* Signalisation Horizontale : </a:t>
            </a:r>
            <a:r>
              <a:rPr lang="fr-FR" sz="1200" dirty="0">
                <a:solidFill>
                  <a:srgbClr val="FF00FF"/>
                </a:solidFill>
                <a:cs typeface="Calibri"/>
                <a:sym typeface="Calibri"/>
              </a:rPr>
              <a:t>Oui/Non</a:t>
            </a:r>
            <a:endParaRPr lang="fr-FR" sz="1200" dirty="0">
              <a:solidFill>
                <a:srgbClr val="FF00FF"/>
              </a:solidFill>
            </a:endParaRPr>
          </a:p>
          <a:p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* Signalisation Verticale :</a:t>
            </a:r>
            <a:r>
              <a:rPr lang="fr-FR" sz="1200" dirty="0">
                <a:solidFill>
                  <a:srgbClr val="FF00FF"/>
                </a:solidFill>
                <a:cs typeface="Calibri"/>
                <a:sym typeface="Calibri"/>
              </a:rPr>
              <a:t> Oui/Non</a:t>
            </a:r>
            <a:endParaRPr lang="fr-FR" sz="1200" dirty="0">
              <a:solidFill>
                <a:srgbClr val="FF00FF"/>
              </a:solidFill>
              <a:ea typeface="Calibri"/>
              <a:cs typeface="Calibri"/>
              <a:sym typeface="Calibri"/>
            </a:endParaRPr>
          </a:p>
          <a:p>
            <a:pPr lvl="0"/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* Protection mécanique des Bornes :</a:t>
            </a:r>
            <a:r>
              <a:rPr lang="fr-FR" sz="1200" dirty="0">
                <a:solidFill>
                  <a:srgbClr val="FF00FF"/>
                </a:solidFill>
                <a:cs typeface="Calibri"/>
                <a:sym typeface="Calibri"/>
              </a:rPr>
              <a:t> Oui/Non</a:t>
            </a:r>
            <a:endParaRPr lang="fr-FR" sz="1200" dirty="0">
              <a:solidFill>
                <a:srgbClr val="FF00FF"/>
              </a:solidFill>
              <a:cs typeface="Calibri"/>
            </a:endParaRPr>
          </a:p>
          <a:p>
            <a:pPr lvl="0"/>
            <a:r>
              <a:rPr lang="fr-FR" sz="1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* Travaux VRD : </a:t>
            </a:r>
            <a:r>
              <a:rPr lang="fr-FR" sz="1200" dirty="0">
                <a:solidFill>
                  <a:srgbClr val="FF00FF"/>
                </a:solidFill>
                <a:cs typeface="Calibri"/>
                <a:sym typeface="Calibri"/>
              </a:rPr>
              <a:t>Oui/Non</a:t>
            </a:r>
          </a:p>
        </p:txBody>
      </p:sp>
    </p:spTree>
    <p:extLst>
      <p:ext uri="{BB962C8B-B14F-4D97-AF65-F5344CB8AC3E}">
        <p14:creationId xmlns:p14="http://schemas.microsoft.com/office/powerpoint/2010/main" val="3466152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BC4F9C7D-B56C-57DC-9DC9-50865A1239D2}"/>
              </a:ext>
            </a:extLst>
          </p:cNvPr>
          <p:cNvSpPr txBox="1">
            <a:spLocks/>
          </p:cNvSpPr>
          <p:nvPr/>
        </p:nvSpPr>
        <p:spPr>
          <a:xfrm>
            <a:off x="275953" y="3509279"/>
            <a:ext cx="4262712" cy="1873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67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67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67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67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67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fr-FR" b="1" u="sng" dirty="0"/>
              <a:t>Prestation ENSIO:</a:t>
            </a:r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highlight>
                  <a:srgbClr val="FFFF00"/>
                </a:highlight>
              </a:rPr>
              <a:t>Travaux  génie électrique</a:t>
            </a:r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highlight>
                  <a:srgbClr val="FFFF00"/>
                </a:highlight>
              </a:rPr>
              <a:t>Travaux génie civil</a:t>
            </a:r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highlight>
                  <a:srgbClr val="FFFF00"/>
                </a:highlight>
              </a:rPr>
              <a:t>Pose et raccordement des bornes</a:t>
            </a:r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highlight>
                  <a:srgbClr val="FFFF00"/>
                </a:highlight>
              </a:rPr>
              <a:t>Fourniture et pose du TD IRVE CFO </a:t>
            </a:r>
          </a:p>
          <a:p>
            <a:pPr marL="228600" lvl="0" indent="0">
              <a:lnSpc>
                <a:spcPct val="100000"/>
              </a:lnSpc>
            </a:pPr>
            <a:endParaRPr lang="fr-FR" sz="1200" dirty="0"/>
          </a:p>
          <a:p>
            <a:pPr marL="400050" lvl="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fr-FR" sz="1200" dirty="0"/>
          </a:p>
          <a:p>
            <a:pPr lvl="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fr-FR" sz="1200" dirty="0"/>
          </a:p>
          <a:p>
            <a:pPr marL="228600" indent="0"/>
            <a:endParaRPr lang="fr-FR" sz="120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8633C7-5F15-46BC-E022-3F5F2513DF64}"/>
              </a:ext>
            </a:extLst>
          </p:cNvPr>
          <p:cNvSpPr txBox="1">
            <a:spLocks/>
          </p:cNvSpPr>
          <p:nvPr/>
        </p:nvSpPr>
        <p:spPr>
          <a:xfrm>
            <a:off x="6353175" y="782499"/>
            <a:ext cx="2971830" cy="1724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67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67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67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67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67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fr-FR" b="1" u="sng" dirty="0"/>
              <a:t>Prestation </a:t>
            </a:r>
            <a:r>
              <a:rPr lang="fr-FR" b="1" u="sng" dirty="0">
                <a:highlight>
                  <a:srgbClr val="FFFF00"/>
                </a:highlight>
              </a:rPr>
              <a:t>Donneur Ordre</a:t>
            </a:r>
            <a:r>
              <a:rPr lang="fr-FR" b="1" u="sng" dirty="0"/>
              <a:t> :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FR" sz="1200" dirty="0"/>
              <a:t>Fourniture de </a:t>
            </a:r>
            <a:r>
              <a:rPr lang="fr-FR" sz="1200" dirty="0">
                <a:highlight>
                  <a:srgbClr val="FFFF00"/>
                </a:highlight>
              </a:rPr>
              <a:t>XX</a:t>
            </a:r>
            <a:r>
              <a:rPr lang="fr-FR" sz="1200" dirty="0"/>
              <a:t> bornes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FR" sz="1200" dirty="0"/>
              <a:t>Fourniture de </a:t>
            </a:r>
            <a:r>
              <a:rPr lang="fr-FR" sz="1200" dirty="0">
                <a:highlight>
                  <a:srgbClr val="FFFF00"/>
                </a:highlight>
              </a:rPr>
              <a:t>X</a:t>
            </a:r>
            <a:r>
              <a:rPr lang="fr-FR" sz="1200" dirty="0"/>
              <a:t> pieds de bornes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FR" sz="1200" dirty="0"/>
              <a:t>Supervision des bornes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fr-FR" sz="1200" dirty="0"/>
          </a:p>
          <a:p>
            <a:pPr marL="514350" indent="-285750">
              <a:buFont typeface="Arial" panose="020B0604020202020204" pitchFamily="34" charset="0"/>
              <a:buChar char="•"/>
            </a:pPr>
            <a:endParaRPr lang="fr-FR" sz="1200" dirty="0"/>
          </a:p>
          <a:p>
            <a:pPr marL="514350" indent="-285750">
              <a:buFont typeface="Arial" panose="020B0604020202020204" pitchFamily="34" charset="0"/>
              <a:buChar char="•"/>
            </a:pPr>
            <a:endParaRPr lang="fr-FR" sz="1200" dirty="0"/>
          </a:p>
          <a:p>
            <a:pPr marL="514350" indent="-285750">
              <a:buFont typeface="Arial" panose="020B0604020202020204" pitchFamily="34" charset="0"/>
              <a:buChar char="•"/>
            </a:pPr>
            <a:endParaRPr lang="fr-FR" sz="1200" dirty="0"/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EA012C86-1790-4E55-8EC6-B5EF09DEE7D7}"/>
              </a:ext>
            </a:extLst>
          </p:cNvPr>
          <p:cNvSpPr txBox="1">
            <a:spLocks/>
          </p:cNvSpPr>
          <p:nvPr/>
        </p:nvSpPr>
        <p:spPr>
          <a:xfrm>
            <a:off x="395536" y="777012"/>
            <a:ext cx="4016666" cy="1210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67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67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67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67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67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fr-FR" b="1" u="sng" dirty="0"/>
              <a:t>Prestation </a:t>
            </a:r>
            <a:r>
              <a:rPr lang="fr-FR" b="1" u="sng" dirty="0">
                <a:highlight>
                  <a:srgbClr val="FFFF00"/>
                </a:highlight>
              </a:rPr>
              <a:t>Client</a:t>
            </a:r>
            <a:r>
              <a:rPr lang="fr-FR" b="1" u="sng" dirty="0"/>
              <a:t> :</a:t>
            </a:r>
          </a:p>
          <a:p>
            <a:pPr marL="360000" lvl="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highlight>
                  <a:srgbClr val="FFFF00"/>
                </a:highlight>
              </a:rPr>
              <a:t>Mise à disposition de la zone de travaux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200" dirty="0"/>
          </a:p>
          <a:p>
            <a:pPr marL="514350" indent="-285750">
              <a:buFont typeface="Arial" panose="020B0604020202020204" pitchFamily="34" charset="0"/>
              <a:buChar char="•"/>
            </a:pPr>
            <a:endParaRPr lang="fr-FR" sz="1200" dirty="0"/>
          </a:p>
        </p:txBody>
      </p:sp>
      <p:sp>
        <p:nvSpPr>
          <p:cNvPr id="6" name="Google Shape;268;p6">
            <a:extLst>
              <a:ext uri="{FF2B5EF4-FFF2-40B4-BE49-F238E27FC236}">
                <a16:creationId xmlns:a16="http://schemas.microsoft.com/office/drawing/2014/main" id="{7FEF4A80-2E4E-536E-61ED-DD44316BC0BB}"/>
              </a:ext>
            </a:extLst>
          </p:cNvPr>
          <p:cNvSpPr txBox="1"/>
          <p:nvPr/>
        </p:nvSpPr>
        <p:spPr>
          <a:xfrm>
            <a:off x="395536" y="188639"/>
            <a:ext cx="40166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Limite de prestation :</a:t>
            </a:r>
            <a:endParaRPr lang="fr-FR" sz="2400" dirty="0"/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27271881-571F-6989-9D7D-7F1D85D59348}"/>
              </a:ext>
            </a:extLst>
          </p:cNvPr>
          <p:cNvSpPr txBox="1">
            <a:spLocks/>
          </p:cNvSpPr>
          <p:nvPr/>
        </p:nvSpPr>
        <p:spPr>
          <a:xfrm>
            <a:off x="6353175" y="3429000"/>
            <a:ext cx="4329384" cy="125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672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67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67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67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367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fr-FR" b="1" u="sng" dirty="0"/>
              <a:t>Constats techniques :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FR" sz="1200" dirty="0">
                <a:highlight>
                  <a:srgbClr val="FFFF00"/>
                </a:highlight>
              </a:rPr>
              <a:t>Absence cuivre nu 25² dans le massif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FR" sz="1200" dirty="0">
                <a:highlight>
                  <a:srgbClr val="FFFF00"/>
                </a:highlight>
              </a:rPr>
              <a:t>Augmentation Puissance souscrite</a:t>
            </a:r>
          </a:p>
          <a:p>
            <a:endParaRPr lang="fr-FR" sz="1400" b="1" u="sng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C178E96-9ACA-7E95-FC7A-B71DB306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4</a:t>
            </a:fld>
            <a:endParaRPr lang="fr-FR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7D3A418-CFFC-789B-051D-8ABBE580B6B1}"/>
              </a:ext>
            </a:extLst>
          </p:cNvPr>
          <p:cNvCxnSpPr>
            <a:cxnSpLocks/>
          </p:cNvCxnSpPr>
          <p:nvPr/>
        </p:nvCxnSpPr>
        <p:spPr>
          <a:xfrm>
            <a:off x="6086856" y="740664"/>
            <a:ext cx="0" cy="44409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998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ZoneTexte 29">
            <a:extLst>
              <a:ext uri="{FF2B5EF4-FFF2-40B4-BE49-F238E27FC236}">
                <a16:creationId xmlns:a16="http://schemas.microsoft.com/office/drawing/2014/main" id="{B86C031A-2F91-CC82-8281-69488C5FB283}"/>
              </a:ext>
            </a:extLst>
          </p:cNvPr>
          <p:cNvSpPr txBox="1"/>
          <p:nvPr/>
        </p:nvSpPr>
        <p:spPr>
          <a:xfrm>
            <a:off x="3443991" y="3244334"/>
            <a:ext cx="4090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Intégrer Photos plan </a:t>
            </a:r>
            <a:r>
              <a:rPr lang="fr-FR" dirty="0" err="1"/>
              <a:t>maps</a:t>
            </a:r>
            <a:r>
              <a:rPr lang="fr-FR" dirty="0"/>
              <a:t> ou Géoportail</a:t>
            </a:r>
          </a:p>
        </p:txBody>
      </p:sp>
      <p:sp>
        <p:nvSpPr>
          <p:cNvPr id="31" name="Espace réservé du numéro de diapositive 30">
            <a:extLst>
              <a:ext uri="{FF2B5EF4-FFF2-40B4-BE49-F238E27FC236}">
                <a16:creationId xmlns:a16="http://schemas.microsoft.com/office/drawing/2014/main" id="{584978BE-5508-D651-C09A-C0D9215E4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5</a:t>
            </a:fld>
            <a:endParaRPr lang="fr-FR"/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B432ECAE-A65B-58A8-1FC5-A65760D90AC1}"/>
              </a:ext>
            </a:extLst>
          </p:cNvPr>
          <p:cNvSpPr txBox="1"/>
          <p:nvPr/>
        </p:nvSpPr>
        <p:spPr>
          <a:xfrm>
            <a:off x="395535" y="188640"/>
            <a:ext cx="333308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d’ensemble projet</a:t>
            </a:r>
          </a:p>
        </p:txBody>
      </p:sp>
    </p:spTree>
    <p:extLst>
      <p:ext uri="{BB962C8B-B14F-4D97-AF65-F5344CB8AC3E}">
        <p14:creationId xmlns:p14="http://schemas.microsoft.com/office/powerpoint/2010/main" val="364451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0E96F-06E3-6FF5-5C23-1BDD5130F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ZoneTexte 29">
            <a:extLst>
              <a:ext uri="{FF2B5EF4-FFF2-40B4-BE49-F238E27FC236}">
                <a16:creationId xmlns:a16="http://schemas.microsoft.com/office/drawing/2014/main" id="{B449D46F-7E96-C2C4-B8B6-9AE9031A6F01}"/>
              </a:ext>
            </a:extLst>
          </p:cNvPr>
          <p:cNvSpPr txBox="1"/>
          <p:nvPr/>
        </p:nvSpPr>
        <p:spPr>
          <a:xfrm>
            <a:off x="929391" y="3180326"/>
            <a:ext cx="3079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Intégrer Photos plans cadastral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96599D2-23AC-F2EA-C6B5-6D8A643DA76A}"/>
              </a:ext>
            </a:extLst>
          </p:cNvPr>
          <p:cNvSpPr txBox="1"/>
          <p:nvPr/>
        </p:nvSpPr>
        <p:spPr>
          <a:xfrm>
            <a:off x="6836415" y="3180326"/>
            <a:ext cx="2917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Intégrer Photos plans ENEDIS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60ED38A2-53B1-A67B-971B-F78224F6238A}"/>
              </a:ext>
            </a:extLst>
          </p:cNvPr>
          <p:cNvCxnSpPr/>
          <p:nvPr/>
        </p:nvCxnSpPr>
        <p:spPr>
          <a:xfrm>
            <a:off x="6086856" y="740664"/>
            <a:ext cx="0" cy="5376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C04DE57-8F59-612E-23E1-2AED6FFD7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6</a:t>
            </a:fld>
            <a:endParaRPr lang="fr-FR"/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91FDC762-1B2A-65CC-4BE1-D020D2C14A65}"/>
              </a:ext>
            </a:extLst>
          </p:cNvPr>
          <p:cNvSpPr txBox="1"/>
          <p:nvPr/>
        </p:nvSpPr>
        <p:spPr>
          <a:xfrm>
            <a:off x="395535" y="188640"/>
            <a:ext cx="333308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Cadastral et ENEDIS</a:t>
            </a:r>
          </a:p>
        </p:txBody>
      </p:sp>
    </p:spTree>
    <p:extLst>
      <p:ext uri="{BB962C8B-B14F-4D97-AF65-F5344CB8AC3E}">
        <p14:creationId xmlns:p14="http://schemas.microsoft.com/office/powerpoint/2010/main" val="1328282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E2FA3EFB-C06B-EA7C-7373-A09A71F79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97" y="1206724"/>
            <a:ext cx="6445052" cy="2333181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A4E68988-57B0-0B71-C59F-F5C74A130B4B}"/>
              </a:ext>
            </a:extLst>
          </p:cNvPr>
          <p:cNvSpPr txBox="1"/>
          <p:nvPr/>
        </p:nvSpPr>
        <p:spPr>
          <a:xfrm>
            <a:off x="768096" y="4261104"/>
            <a:ext cx="220015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highlight>
                  <a:srgbClr val="FFFF00"/>
                </a:highlight>
              </a:rPr>
              <a:t>Création TD IRVE XXXA</a:t>
            </a:r>
          </a:p>
          <a:p>
            <a:r>
              <a:rPr lang="fr-FR" sz="1400" dirty="0">
                <a:solidFill>
                  <a:srgbClr val="FF0000"/>
                </a:solidFill>
                <a:highlight>
                  <a:srgbClr val="FFFF00"/>
                </a:highlight>
              </a:rPr>
              <a:t>(ou)</a:t>
            </a:r>
          </a:p>
          <a:p>
            <a:r>
              <a:rPr lang="fr-FR" sz="1600" dirty="0">
                <a:highlight>
                  <a:srgbClr val="FFFF00"/>
                </a:highlight>
              </a:rPr>
              <a:t>Ajout départ TGBT XXXA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7139F0-631E-A78D-2ABB-4B6B50908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7</a:t>
            </a:fld>
            <a:endParaRPr lang="fr-FR"/>
          </a:p>
        </p:txBody>
      </p:sp>
      <p:sp>
        <p:nvSpPr>
          <p:cNvPr id="15" name="Google Shape;108;p2">
            <a:extLst>
              <a:ext uri="{FF2B5EF4-FFF2-40B4-BE49-F238E27FC236}">
                <a16:creationId xmlns:a16="http://schemas.microsoft.com/office/drawing/2014/main" id="{050590C3-DC79-7012-9DAA-77838F0E87E7}"/>
              </a:ext>
            </a:extLst>
          </p:cNvPr>
          <p:cNvSpPr txBox="1"/>
          <p:nvPr/>
        </p:nvSpPr>
        <p:spPr>
          <a:xfrm>
            <a:off x="395534" y="188640"/>
            <a:ext cx="495370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Bilan de puissance</a:t>
            </a:r>
          </a:p>
        </p:txBody>
      </p:sp>
    </p:spTree>
    <p:extLst>
      <p:ext uri="{BB962C8B-B14F-4D97-AF65-F5344CB8AC3E}">
        <p14:creationId xmlns:p14="http://schemas.microsoft.com/office/powerpoint/2010/main" val="196196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9EC634-1CA1-DED4-AFF5-A620FFA3D589}"/>
              </a:ext>
            </a:extLst>
          </p:cNvPr>
          <p:cNvSpPr/>
          <p:nvPr/>
        </p:nvSpPr>
        <p:spPr>
          <a:xfrm>
            <a:off x="7342632" y="1024128"/>
            <a:ext cx="3346704" cy="44074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fr-FR" dirty="0"/>
              <a:t>Synoptique CFA</a:t>
            </a:r>
          </a:p>
          <a:p>
            <a:pPr algn="r"/>
            <a:endParaRPr lang="fr-FR" dirty="0"/>
          </a:p>
          <a:p>
            <a:pPr algn="r"/>
            <a:r>
              <a:rPr lang="fr-FR" dirty="0"/>
              <a:t>Baie Info</a:t>
            </a:r>
          </a:p>
          <a:p>
            <a:pPr algn="r"/>
            <a:r>
              <a:rPr lang="fr-FR" dirty="0"/>
              <a:t>TD IRVE</a:t>
            </a:r>
          </a:p>
          <a:p>
            <a:pPr algn="r"/>
            <a:r>
              <a:rPr lang="fr-FR" dirty="0"/>
              <a:t>bornes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0916F27-6AC5-17CA-27E6-6D1E2CB22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8</a:t>
            </a:fld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BC668986-A590-E6AF-F1F5-C1C4434FC380}"/>
              </a:ext>
            </a:extLst>
          </p:cNvPr>
          <p:cNvSpPr/>
          <p:nvPr/>
        </p:nvSpPr>
        <p:spPr>
          <a:xfrm>
            <a:off x="7658100" y="3512857"/>
            <a:ext cx="1124712" cy="50292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ysClr val="windowText" lastClr="000000"/>
                </a:solidFill>
              </a:rPr>
              <a:t>TD IRVE CFO CFA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8CB2290B-E2E0-6077-D414-9FA7ED1A65E2}"/>
              </a:ext>
            </a:extLst>
          </p:cNvPr>
          <p:cNvSpPr/>
          <p:nvPr/>
        </p:nvSpPr>
        <p:spPr>
          <a:xfrm>
            <a:off x="8947404" y="4436401"/>
            <a:ext cx="1476756" cy="336767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ysClr val="windowText" lastClr="000000"/>
                </a:solidFill>
              </a:rPr>
              <a:t>4 Bornes 22kW</a:t>
            </a:r>
          </a:p>
        </p:txBody>
      </p:sp>
      <p:cxnSp>
        <p:nvCxnSpPr>
          <p:cNvPr id="12" name="Connecteur : en angle 11">
            <a:extLst>
              <a:ext uri="{FF2B5EF4-FFF2-40B4-BE49-F238E27FC236}">
                <a16:creationId xmlns:a16="http://schemas.microsoft.com/office/drawing/2014/main" id="{58CABEA9-4F0A-C7D9-B352-3EE62AE1B6C7}"/>
              </a:ext>
            </a:extLst>
          </p:cNvPr>
          <p:cNvCxnSpPr>
            <a:cxnSpLocks/>
            <a:stCxn id="8" idx="2"/>
            <a:endCxn id="11" idx="1"/>
          </p:cNvCxnSpPr>
          <p:nvPr/>
        </p:nvCxnSpPr>
        <p:spPr>
          <a:xfrm rot="16200000" flipH="1">
            <a:off x="8289426" y="3946807"/>
            <a:ext cx="589008" cy="726948"/>
          </a:xfrm>
          <a:prstGeom prst="bentConnector2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B9F855A-0536-E4EF-8085-A7164E206578}"/>
              </a:ext>
            </a:extLst>
          </p:cNvPr>
          <p:cNvSpPr/>
          <p:nvPr/>
        </p:nvSpPr>
        <p:spPr>
          <a:xfrm>
            <a:off x="9173718" y="3512857"/>
            <a:ext cx="1124712" cy="50292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ysClr val="windowText" lastClr="000000"/>
                </a:solidFill>
              </a:rPr>
              <a:t>Baie Info existante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FE38F373-5538-D5D4-BD29-16A6228DCBC6}"/>
              </a:ext>
            </a:extLst>
          </p:cNvPr>
          <p:cNvCxnSpPr>
            <a:stCxn id="8" idx="3"/>
            <a:endCxn id="14" idx="1"/>
          </p:cNvCxnSpPr>
          <p:nvPr/>
        </p:nvCxnSpPr>
        <p:spPr>
          <a:xfrm>
            <a:off x="8782812" y="3764317"/>
            <a:ext cx="390906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C31C3FC-F847-2067-36F9-07976D1941AF}"/>
              </a:ext>
            </a:extLst>
          </p:cNvPr>
          <p:cNvSpPr/>
          <p:nvPr/>
        </p:nvSpPr>
        <p:spPr>
          <a:xfrm>
            <a:off x="1639062" y="921572"/>
            <a:ext cx="3346704" cy="4976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fr-FR" dirty="0"/>
              <a:t>Synoptique CFO</a:t>
            </a:r>
          </a:p>
          <a:p>
            <a:pPr algn="r"/>
            <a:endParaRPr lang="fr-FR" dirty="0"/>
          </a:p>
          <a:p>
            <a:pPr algn="r"/>
            <a:r>
              <a:rPr lang="fr-FR" dirty="0"/>
              <a:t>Origine (PDL…)</a:t>
            </a:r>
          </a:p>
          <a:p>
            <a:pPr algn="r"/>
            <a:r>
              <a:rPr lang="fr-FR" dirty="0"/>
              <a:t>TGBT</a:t>
            </a:r>
          </a:p>
          <a:p>
            <a:pPr algn="r"/>
            <a:r>
              <a:rPr lang="fr-FR" dirty="0"/>
              <a:t>TD IRVE</a:t>
            </a:r>
          </a:p>
          <a:p>
            <a:pPr algn="r"/>
            <a:r>
              <a:rPr lang="fr-FR" dirty="0"/>
              <a:t>bornes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BDE56E9-23F6-A139-439A-880E8ED74685}"/>
              </a:ext>
            </a:extLst>
          </p:cNvPr>
          <p:cNvSpPr/>
          <p:nvPr/>
        </p:nvSpPr>
        <p:spPr>
          <a:xfrm>
            <a:off x="2045639" y="1499615"/>
            <a:ext cx="1124712" cy="50292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ysClr val="windowText" lastClr="000000"/>
                </a:solidFill>
              </a:rPr>
              <a:t>PDL C4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04D92F0-DACB-DA4B-B77E-4D6C15CAAA79}"/>
              </a:ext>
            </a:extLst>
          </p:cNvPr>
          <p:cNvSpPr/>
          <p:nvPr/>
        </p:nvSpPr>
        <p:spPr>
          <a:xfrm>
            <a:off x="2045639" y="2499880"/>
            <a:ext cx="1124712" cy="502920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ysClr val="windowText" lastClr="000000"/>
                </a:solidFill>
              </a:rPr>
              <a:t>TGBT existant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77B11019-4782-E8BB-EAF0-29B0522D9F62}"/>
              </a:ext>
            </a:extLst>
          </p:cNvPr>
          <p:cNvSpPr/>
          <p:nvPr/>
        </p:nvSpPr>
        <p:spPr>
          <a:xfrm>
            <a:off x="2045639" y="3503713"/>
            <a:ext cx="1124712" cy="502920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ysClr val="windowText" lastClr="000000"/>
                </a:solidFill>
              </a:rPr>
              <a:t>TD IRVE CFO CFA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281201A1-4429-F443-0C79-AA53F3003287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2607995" y="2002535"/>
            <a:ext cx="0" cy="4973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C3F8396F-3F72-0368-7C33-849B37AC4D5A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2607995" y="3002800"/>
            <a:ext cx="0" cy="50091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C82B77DD-3CFA-1AE5-5780-B958EB655DF1}"/>
              </a:ext>
            </a:extLst>
          </p:cNvPr>
          <p:cNvSpPr/>
          <p:nvPr/>
        </p:nvSpPr>
        <p:spPr>
          <a:xfrm>
            <a:off x="3334943" y="4427257"/>
            <a:ext cx="1476756" cy="336767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ysClr val="windowText" lastClr="000000"/>
                </a:solidFill>
              </a:rPr>
              <a:t>4 Bornes 22kW</a:t>
            </a:r>
          </a:p>
        </p:txBody>
      </p:sp>
      <p:cxnSp>
        <p:nvCxnSpPr>
          <p:cNvPr id="17" name="Connecteur : en angle 16">
            <a:extLst>
              <a:ext uri="{FF2B5EF4-FFF2-40B4-BE49-F238E27FC236}">
                <a16:creationId xmlns:a16="http://schemas.microsoft.com/office/drawing/2014/main" id="{C20FCCFF-23AE-CDC6-5F45-ABF10C69B88C}"/>
              </a:ext>
            </a:extLst>
          </p:cNvPr>
          <p:cNvCxnSpPr>
            <a:cxnSpLocks/>
            <a:stCxn id="9" idx="2"/>
            <a:endCxn id="15" idx="1"/>
          </p:cNvCxnSpPr>
          <p:nvPr/>
        </p:nvCxnSpPr>
        <p:spPr>
          <a:xfrm rot="16200000" flipH="1">
            <a:off x="2676965" y="3937663"/>
            <a:ext cx="589008" cy="726948"/>
          </a:xfrm>
          <a:prstGeom prst="bentConnector2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108;p2">
            <a:extLst>
              <a:ext uri="{FF2B5EF4-FFF2-40B4-BE49-F238E27FC236}">
                <a16:creationId xmlns:a16="http://schemas.microsoft.com/office/drawing/2014/main" id="{BE451563-7C81-D0D3-F55A-1E4735BF45C4}"/>
              </a:ext>
            </a:extLst>
          </p:cNvPr>
          <p:cNvSpPr txBox="1"/>
          <p:nvPr/>
        </p:nvSpPr>
        <p:spPr>
          <a:xfrm>
            <a:off x="395534" y="188640"/>
            <a:ext cx="495370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Synoptique CFO et CFA</a:t>
            </a:r>
          </a:p>
        </p:txBody>
      </p:sp>
    </p:spTree>
    <p:extLst>
      <p:ext uri="{BB962C8B-B14F-4D97-AF65-F5344CB8AC3E}">
        <p14:creationId xmlns:p14="http://schemas.microsoft.com/office/powerpoint/2010/main" val="4220937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5746E3C-A190-206D-7145-ABEC3135D895}"/>
              </a:ext>
            </a:extLst>
          </p:cNvPr>
          <p:cNvSpPr txBox="1"/>
          <p:nvPr/>
        </p:nvSpPr>
        <p:spPr>
          <a:xfrm>
            <a:off x="4356486" y="3244334"/>
            <a:ext cx="2047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Intégrer Photos PDL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2B9E760-83A0-2A80-EE50-0F63E5A98A8A}"/>
              </a:ext>
            </a:extLst>
          </p:cNvPr>
          <p:cNvSpPr txBox="1"/>
          <p:nvPr/>
        </p:nvSpPr>
        <p:spPr>
          <a:xfrm>
            <a:off x="8494776" y="1435608"/>
            <a:ext cx="2270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Photos Disjoncteur AB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9E26C22-ABD6-D097-CAD3-A18FBF4CA018}"/>
              </a:ext>
            </a:extLst>
          </p:cNvPr>
          <p:cNvSpPr txBox="1"/>
          <p:nvPr/>
        </p:nvSpPr>
        <p:spPr>
          <a:xfrm>
            <a:off x="8494776" y="2304288"/>
            <a:ext cx="2704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Photos puissance souscrite</a:t>
            </a:r>
          </a:p>
          <a:p>
            <a:r>
              <a:rPr lang="fr-FR" dirty="0"/>
              <a:t>110-111-112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F188EDE-1292-21C8-B576-61A8C47E3116}"/>
              </a:ext>
            </a:extLst>
          </p:cNvPr>
          <p:cNvSpPr txBox="1"/>
          <p:nvPr/>
        </p:nvSpPr>
        <p:spPr>
          <a:xfrm>
            <a:off x="8494776" y="3294734"/>
            <a:ext cx="22529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Photos puissance max</a:t>
            </a:r>
          </a:p>
          <a:p>
            <a:r>
              <a:rPr lang="fr-FR" dirty="0"/>
              <a:t>160-161-162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3D25FF0E-D6BE-3C6E-515E-44F70754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9</a:t>
            </a:fld>
            <a:endParaRPr lang="fr-FR"/>
          </a:p>
        </p:txBody>
      </p:sp>
      <p:sp>
        <p:nvSpPr>
          <p:cNvPr id="5" name="Google Shape;108;p2">
            <a:extLst>
              <a:ext uri="{FF2B5EF4-FFF2-40B4-BE49-F238E27FC236}">
                <a16:creationId xmlns:a16="http://schemas.microsoft.com/office/drawing/2014/main" id="{2501514B-C45C-3331-488B-C555A73584FE}"/>
              </a:ext>
            </a:extLst>
          </p:cNvPr>
          <p:cNvSpPr txBox="1"/>
          <p:nvPr/>
        </p:nvSpPr>
        <p:spPr>
          <a:xfrm>
            <a:off x="395534" y="188640"/>
            <a:ext cx="495370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PDL </a:t>
            </a:r>
            <a:r>
              <a:rPr lang="fr-FR" sz="2400" b="1" u="sng" dirty="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(C4, C5, C3… à préciser)</a:t>
            </a:r>
          </a:p>
        </p:txBody>
      </p:sp>
    </p:spTree>
    <p:extLst>
      <p:ext uri="{BB962C8B-B14F-4D97-AF65-F5344CB8AC3E}">
        <p14:creationId xmlns:p14="http://schemas.microsoft.com/office/powerpoint/2010/main" val="238167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81EEE-6AD7-42DB-6B5A-4B548A792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E511F40-257D-1CC0-D806-6A3ED7A65BB0}"/>
              </a:ext>
            </a:extLst>
          </p:cNvPr>
          <p:cNvSpPr txBox="1"/>
          <p:nvPr/>
        </p:nvSpPr>
        <p:spPr>
          <a:xfrm>
            <a:off x="5318511" y="3244334"/>
            <a:ext cx="2167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Intégrer Photos Local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F4EF53-5460-5448-5821-2BBE52A60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10</a:t>
            </a:fld>
            <a:endParaRPr lang="fr-FR"/>
          </a:p>
        </p:txBody>
      </p:sp>
      <p:sp>
        <p:nvSpPr>
          <p:cNvPr id="5" name="Google Shape;108;p2">
            <a:extLst>
              <a:ext uri="{FF2B5EF4-FFF2-40B4-BE49-F238E27FC236}">
                <a16:creationId xmlns:a16="http://schemas.microsoft.com/office/drawing/2014/main" id="{41B23AA1-4A76-C346-A3A4-FFD30D4E144D}"/>
              </a:ext>
            </a:extLst>
          </p:cNvPr>
          <p:cNvSpPr txBox="1"/>
          <p:nvPr/>
        </p:nvSpPr>
        <p:spPr>
          <a:xfrm>
            <a:off x="395534" y="188640"/>
            <a:ext cx="495370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TGBT</a:t>
            </a:r>
          </a:p>
        </p:txBody>
      </p:sp>
    </p:spTree>
    <p:extLst>
      <p:ext uri="{BB962C8B-B14F-4D97-AF65-F5344CB8AC3E}">
        <p14:creationId xmlns:p14="http://schemas.microsoft.com/office/powerpoint/2010/main" val="914443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76744-8461-103F-0C4D-C1252E324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9715039-9A06-E756-CD0E-9550C12EAA9B}"/>
              </a:ext>
            </a:extLst>
          </p:cNvPr>
          <p:cNvSpPr txBox="1"/>
          <p:nvPr/>
        </p:nvSpPr>
        <p:spPr>
          <a:xfrm>
            <a:off x="3443991" y="3244334"/>
            <a:ext cx="5041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Intégrer Photos emplacement disponible dans TGBT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076598D-1570-76F0-494C-276475F51D6F}"/>
              </a:ext>
            </a:extLst>
          </p:cNvPr>
          <p:cNvSpPr txBox="1"/>
          <p:nvPr/>
        </p:nvSpPr>
        <p:spPr>
          <a:xfrm>
            <a:off x="3443991" y="3738110"/>
            <a:ext cx="431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Intégrer Photos Jeu de Barres ou répartiteur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6509AD4-EE92-E721-DEF6-FD1DF38FC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11</a:t>
            </a:fld>
            <a:endParaRPr lang="fr-FR"/>
          </a:p>
        </p:txBody>
      </p:sp>
      <p:sp>
        <p:nvSpPr>
          <p:cNvPr id="6" name="Google Shape;108;p2">
            <a:extLst>
              <a:ext uri="{FF2B5EF4-FFF2-40B4-BE49-F238E27FC236}">
                <a16:creationId xmlns:a16="http://schemas.microsoft.com/office/drawing/2014/main" id="{15F27D5A-15C3-94DD-D109-30CB05BDC7BA}"/>
              </a:ext>
            </a:extLst>
          </p:cNvPr>
          <p:cNvSpPr txBox="1"/>
          <p:nvPr/>
        </p:nvSpPr>
        <p:spPr>
          <a:xfrm>
            <a:off x="395534" y="188640"/>
            <a:ext cx="495370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TGBT</a:t>
            </a:r>
          </a:p>
        </p:txBody>
      </p:sp>
    </p:spTree>
    <p:extLst>
      <p:ext uri="{BB962C8B-B14F-4D97-AF65-F5344CB8AC3E}">
        <p14:creationId xmlns:p14="http://schemas.microsoft.com/office/powerpoint/2010/main" val="783838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514FC-5117-53CA-B4FA-491A94A29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1149CB8-0F87-30CB-DF9D-1412197AA1D4}"/>
              </a:ext>
            </a:extLst>
          </p:cNvPr>
          <p:cNvSpPr txBox="1"/>
          <p:nvPr/>
        </p:nvSpPr>
        <p:spPr>
          <a:xfrm>
            <a:off x="3443991" y="3244334"/>
            <a:ext cx="7210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Intégrer Photos Cheminements (Tube, </a:t>
            </a:r>
            <a:r>
              <a:rPr lang="fr-FR" dirty="0" err="1"/>
              <a:t>CdC</a:t>
            </a:r>
            <a:r>
              <a:rPr lang="fr-FR" dirty="0"/>
              <a:t>, Tranchée, Chambre de tirage…)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DB5A7AF-EDE7-7CE2-5EDC-DA47FED41C85}"/>
              </a:ext>
            </a:extLst>
          </p:cNvPr>
          <p:cNvSpPr txBox="1"/>
          <p:nvPr/>
        </p:nvSpPr>
        <p:spPr>
          <a:xfrm>
            <a:off x="4394967" y="3747254"/>
            <a:ext cx="2793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Intégrer Photos Percements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9B8C09-4E3D-7ADD-6EE7-1E6769257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12</a:t>
            </a:fld>
            <a:endParaRPr lang="fr-FR"/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5B185814-7461-5762-C7A3-5C1D1178F15D}"/>
              </a:ext>
            </a:extLst>
          </p:cNvPr>
          <p:cNvSpPr txBox="1"/>
          <p:nvPr/>
        </p:nvSpPr>
        <p:spPr>
          <a:xfrm>
            <a:off x="395534" y="188640"/>
            <a:ext cx="495370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Cheminement vers Bornes</a:t>
            </a:r>
          </a:p>
        </p:txBody>
      </p:sp>
    </p:spTree>
    <p:extLst>
      <p:ext uri="{BB962C8B-B14F-4D97-AF65-F5344CB8AC3E}">
        <p14:creationId xmlns:p14="http://schemas.microsoft.com/office/powerpoint/2010/main" val="1471794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381FE-6AE7-6CA5-ECFA-2396D0F6A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7347F5FA-43DD-3529-3453-B2B4A23C1FD6}"/>
              </a:ext>
            </a:extLst>
          </p:cNvPr>
          <p:cNvSpPr txBox="1"/>
          <p:nvPr/>
        </p:nvSpPr>
        <p:spPr>
          <a:xfrm>
            <a:off x="3443991" y="3244334"/>
            <a:ext cx="4719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Intégrer Photos Bornes repéré + parking nommé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953E8BA-2E6D-3B2F-A08B-25197FB30FC2}"/>
              </a:ext>
            </a:extLst>
          </p:cNvPr>
          <p:cNvSpPr txBox="1"/>
          <p:nvPr/>
        </p:nvSpPr>
        <p:spPr>
          <a:xfrm>
            <a:off x="4120647" y="3701534"/>
            <a:ext cx="562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Intégrer Photos Marquage au sol et protection mécanique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501F58D-C167-BA97-A766-FB30C3ED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13</a:t>
            </a:fld>
            <a:endParaRPr lang="fr-FR"/>
          </a:p>
        </p:txBody>
      </p:sp>
      <p:sp>
        <p:nvSpPr>
          <p:cNvPr id="6" name="Google Shape;108;p2">
            <a:extLst>
              <a:ext uri="{FF2B5EF4-FFF2-40B4-BE49-F238E27FC236}">
                <a16:creationId xmlns:a16="http://schemas.microsoft.com/office/drawing/2014/main" id="{3B512996-4BF7-B879-6DC4-A894FFB03BFA}"/>
              </a:ext>
            </a:extLst>
          </p:cNvPr>
          <p:cNvSpPr txBox="1"/>
          <p:nvPr/>
        </p:nvSpPr>
        <p:spPr>
          <a:xfrm>
            <a:off x="395534" y="188640"/>
            <a:ext cx="495370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Implantation Bornes</a:t>
            </a:r>
          </a:p>
        </p:txBody>
      </p:sp>
    </p:spTree>
    <p:extLst>
      <p:ext uri="{BB962C8B-B14F-4D97-AF65-F5344CB8AC3E}">
        <p14:creationId xmlns:p14="http://schemas.microsoft.com/office/powerpoint/2010/main" val="819045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829403D-CEA1-0A73-98ED-988DB9B1C483}"/>
              </a:ext>
            </a:extLst>
          </p:cNvPr>
          <p:cNvSpPr txBox="1"/>
          <p:nvPr/>
        </p:nvSpPr>
        <p:spPr>
          <a:xfrm>
            <a:off x="4005072" y="2734056"/>
            <a:ext cx="321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 demander au donneur d’ordre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D84BAE-F153-0FCD-6B9D-47649643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14</a:t>
            </a:fld>
            <a:endParaRPr lang="fr-FR"/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3507C51C-4AB7-ED1E-BADE-E08DADD6A444}"/>
              </a:ext>
            </a:extLst>
          </p:cNvPr>
          <p:cNvSpPr txBox="1"/>
          <p:nvPr/>
        </p:nvSpPr>
        <p:spPr>
          <a:xfrm>
            <a:off x="395534" y="188640"/>
            <a:ext cx="495370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technique bornes de recharge</a:t>
            </a:r>
          </a:p>
        </p:txBody>
      </p:sp>
    </p:spTree>
    <p:extLst>
      <p:ext uri="{BB962C8B-B14F-4D97-AF65-F5344CB8AC3E}">
        <p14:creationId xmlns:p14="http://schemas.microsoft.com/office/powerpoint/2010/main" val="3398939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41DC1-246F-5E76-B839-B9A15A735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6B5FFE9-769A-EC10-2FD0-2FF0DE9130BF}"/>
              </a:ext>
            </a:extLst>
          </p:cNvPr>
          <p:cNvSpPr txBox="1"/>
          <p:nvPr/>
        </p:nvSpPr>
        <p:spPr>
          <a:xfrm>
            <a:off x="4005072" y="2734056"/>
            <a:ext cx="3179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 supprimer avant envoie Client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4EF296-0B1F-E868-ED4E-6F96CAEF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E5E68-FB0E-4FE5-B34D-79718C15B07B}" type="slidenum">
              <a:rPr lang="fr-FR" smtClean="0"/>
              <a:t>15</a:t>
            </a:fld>
            <a:endParaRPr lang="fr-FR"/>
          </a:p>
        </p:txBody>
      </p:sp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DBB42CFB-7EB5-3C8C-7E6A-FC681D5EA1D9}"/>
              </a:ext>
            </a:extLst>
          </p:cNvPr>
          <p:cNvSpPr txBox="1"/>
          <p:nvPr/>
        </p:nvSpPr>
        <p:spPr>
          <a:xfrm>
            <a:off x="395534" y="188640"/>
            <a:ext cx="4953705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Annexe Photo.</a:t>
            </a:r>
          </a:p>
        </p:txBody>
      </p:sp>
    </p:spTree>
    <p:extLst>
      <p:ext uri="{BB962C8B-B14F-4D97-AF65-F5344CB8AC3E}">
        <p14:creationId xmlns:p14="http://schemas.microsoft.com/office/powerpoint/2010/main" val="15863933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362b09-fb7a-4ffe-b2d8-2cde68c25db3" xsi:nil="true"/>
    <UniqueSourceRef xmlns="a1102ece-9c89-40d2-9a2c-27d9929e8279" xsi:nil="true"/>
    <FileHash xmlns="a1102ece-9c89-40d2-9a2c-27d9929e8279" xsi:nil="true"/>
    <lcf76f155ced4ddcb4097134ff3c332f xmlns="a1102ece-9c89-40d2-9a2c-27d9929e8279">
      <Terms xmlns="http://schemas.microsoft.com/office/infopath/2007/PartnerControls"/>
    </lcf76f155ced4ddcb4097134ff3c332f>
    <CloudMigratorOriginId xmlns="a1102ece-9c89-40d2-9a2c-27d9929e8279" xsi:nil="true"/>
    <CloudMigratorVersion xmlns="a1102ece-9c89-40d2-9a2c-27d9929e827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0ACF7CF757DC4094EE3C8029BBFF87" ma:contentTypeVersion="17" ma:contentTypeDescription="Crée un document." ma:contentTypeScope="" ma:versionID="e4941add2b7d5889b7155188c1132661">
  <xsd:schema xmlns:xsd="http://www.w3.org/2001/XMLSchema" xmlns:xs="http://www.w3.org/2001/XMLSchema" xmlns:p="http://schemas.microsoft.com/office/2006/metadata/properties" xmlns:ns2="a1102ece-9c89-40d2-9a2c-27d9929e8279" xmlns:ns3="3d362b09-fb7a-4ffe-b2d8-2cde68c25db3" targetNamespace="http://schemas.microsoft.com/office/2006/metadata/properties" ma:root="true" ma:fieldsID="f6b974aa2b127d8c88c06246f83f4eec" ns2:_="" ns3:_="">
    <xsd:import namespace="a1102ece-9c89-40d2-9a2c-27d9929e8279"/>
    <xsd:import namespace="3d362b09-fb7a-4ffe-b2d8-2cde68c25db3"/>
    <xsd:element name="properties">
      <xsd:complexType>
        <xsd:sequence>
          <xsd:element name="documentManagement">
            <xsd:complexType>
              <xsd:all>
                <xsd:element ref="ns2:CloudMigratorOriginId" minOccurs="0"/>
                <xsd:element ref="ns2:FileHash" minOccurs="0"/>
                <xsd:element ref="ns2:CloudMigratorVersion" minOccurs="0"/>
                <xsd:element ref="ns2:UniqueSourceRe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102ece-9c89-40d2-9a2c-27d9929e8279" elementFormDefault="qualified">
    <xsd:import namespace="http://schemas.microsoft.com/office/2006/documentManagement/types"/>
    <xsd:import namespace="http://schemas.microsoft.com/office/infopath/2007/PartnerControls"/>
    <xsd:element name="CloudMigratorOriginId" ma:index="8" nillable="true" ma:displayName="CloudMigratorOriginId" ma:description="" ma:internalName="CloudMigratorOriginId">
      <xsd:simpleType>
        <xsd:restriction base="dms:Note">
          <xsd:maxLength value="255"/>
        </xsd:restriction>
      </xsd:simpleType>
    </xsd:element>
    <xsd:element name="FileHash" ma:index="9" nillable="true" ma:displayName="FileHash" ma:description="" ma:internalName="FileHash">
      <xsd:simpleType>
        <xsd:restriction base="dms:Note">
          <xsd:maxLength value="255"/>
        </xsd:restriction>
      </xsd:simpleType>
    </xsd:element>
    <xsd:element name="CloudMigratorVersion" ma:index="10" nillable="true" ma:displayName="CloudMigratorVersion" ma:description="" ma:internalName="CloudMigratorVersion">
      <xsd:simpleType>
        <xsd:restriction base="dms:Note">
          <xsd:maxLength value="255"/>
        </xsd:restriction>
      </xsd:simpleType>
    </xsd:element>
    <xsd:element name="UniqueSourceRef" ma:index="11" nillable="true" ma:displayName="UniqueSourceRef" ma:description="" ma:internalName="UniqueSourceRef">
      <xsd:simpleType>
        <xsd:restriction base="dms:Note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59cf8ae5-f3d2-4649-a1b0-e98408d2ff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362b09-fb7a-4ffe-b2d8-2cde68c25db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bcd010-1ed8-463d-a1b5-4731b69db7f1}" ma:internalName="TaxCatchAll" ma:showField="CatchAllData" ma:web="3d362b09-fb7a-4ffe-b2d8-2cde68c25d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A89642-75DB-42A1-B655-287FD922BE12}">
  <ds:schemaRefs>
    <ds:schemaRef ds:uri="http://schemas.microsoft.com/office/2006/metadata/properties"/>
    <ds:schemaRef ds:uri="http://schemas.microsoft.com/office/infopath/2007/PartnerControls"/>
    <ds:schemaRef ds:uri="3d362b09-fb7a-4ffe-b2d8-2cde68c25db3"/>
    <ds:schemaRef ds:uri="a1102ece-9c89-40d2-9a2c-27d9929e8279"/>
  </ds:schemaRefs>
</ds:datastoreItem>
</file>

<file path=customXml/itemProps2.xml><?xml version="1.0" encoding="utf-8"?>
<ds:datastoreItem xmlns:ds="http://schemas.openxmlformats.org/officeDocument/2006/customXml" ds:itemID="{9D5BE7E8-E5D5-4C81-8BB8-10DB0E4C86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102ece-9c89-40d2-9a2c-27d9929e8279"/>
    <ds:schemaRef ds:uri="3d362b09-fb7a-4ffe-b2d8-2cde68c25d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E33437-BF3A-4BC4-8C4D-DC68D3A3AE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Microsoft Office PowerPoint</Application>
  <PresentationFormat>Widescreen</PresentationFormat>
  <Paragraphs>171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Work Sans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Duquesnoy</dc:creator>
  <cp:lastModifiedBy>Wajih TAZI</cp:lastModifiedBy>
  <cp:revision>82</cp:revision>
  <dcterms:created xsi:type="dcterms:W3CDTF">2024-09-13T07:55:01Z</dcterms:created>
  <dcterms:modified xsi:type="dcterms:W3CDTF">2026-10-09T09:34:38Z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0x0101000F0ACF7CF757DC4094EE3C8029BBFF87</vt:lpwstr>
  </property>
</Properties>
</file>