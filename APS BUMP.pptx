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6858000" cy="9144000"/>
  <p:embeddedFontLst>
    <p:embeddedFont>
      <p:font typeface="DM Sans" pitchFamily="2" charset="0"/>
      <p:regular r:id="rId21"/>
      <p:bold r:id="rId22"/>
    </p:embeddedFont>
    <p:embeddedFont>
      <p:font typeface="DM Sans SemiBold" panose="020B0604020202020204" charset="0"/>
      <p:regular r:id="rId23"/>
      <p:bold r:id="rId24"/>
      <p:italic r:id="rId25"/>
      <p:boldItalic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Inter Medium" panose="020B0604020202020204" charset="0"/>
      <p:regular r:id="rId31"/>
      <p:bold r:id="rId32"/>
      <p:italic r:id="rId33"/>
      <p:boldItalic r:id="rId34"/>
    </p:embeddedFont>
    <p:embeddedFont>
      <p:font typeface="Inter SemiBold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1j9oZ5O3lpsH/DtiAgaJrflxrT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is Normand" initials="" lastIdx="3" clrIdx="0"/>
  <p:cmAuthor id="1" name="Francois Hers" initials="" lastIdx="2" clrIdx="1"/>
  <p:cmAuthor id="2" name="Julie ENJALBERT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6280A-81D6-6EE9-E8FA-20EF26295CB5}" v="1" dt="2026-09-23T11:22:21.451"/>
  </p1510:revLst>
</p1510:revInfo>
</file>

<file path=ppt/tableStyles.xml><?xml version="1.0" encoding="utf-8"?>
<a:tblStyleLst xmlns:a="http://schemas.openxmlformats.org/drawingml/2006/main" def="{312DF80A-4CAD-4B3A-9A1A-665FECB37874}">
  <a:tblStyle styleId="{312DF80A-4CAD-4B3A-9A1A-665FECB378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1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customschemas.google.com/relationships/presentationmetadata" Target="metadata"/><Relationship Id="rId20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3-27T13:21:30.318" idx="1">
    <p:pos x="6000" y="0"/>
    <p:text>@julie.enjalbert@bump-charge.com tu peux ajouter la slide VL comme ça on un seul support et on supprime la slide en fonction du type de client
_Reassigned to julie.enjalbert@bump-charge.com_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2kLklL4"/>
      </p:ext>
    </p:extLst>
  </p:cm>
  <p:cm authorId="1" dt="2026-03-27T09:30:34.491" idx="1">
    <p:pos x="6000" y="0"/>
    <p:text>Est-ce qu'il serait pas plus judicieux d'avoir 2 CRVT distincts ? On utilise celui-ci pour le PL - borne DC, camion détouré, logo PL pour le plan etc. il faut garder (et pê maj le CRVT VL et on aura 2 docs pertinents sans avoir à supprimer la moitié des slides ? Qu-en pensez-vous ? cc @julie.enjalbert@bump-charge.com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2k9u8e4"/>
      </p:ext>
    </p:extLst>
  </p:cm>
  <p:cm authorId="0" dt="2026-03-27T10:39:06.475" idx="2">
    <p:pos x="6000" y="0"/>
    <p:text>c'est ce que je me disais au début. vasy feu pour ça car il y a pas forcément les mêmes slides/détails à mettre. @julie.enjalbert@bump-charge.com tu prends le sujet ?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2lm7Kic"/>
      </p:ext>
    </p:extLst>
  </p:cm>
  <p:cm authorId="1" dt="2026-03-27T11:11:15.790" idx="2">
    <p:pos x="6000" y="0"/>
    <p:text>Yes top, on peut faire bosser un stagiaire sur ça, tu peux voir avec Lucie @julie.enjalbert@bump-charge.com ?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2lm7Kis"/>
      </p:ext>
    </p:extLst>
  </p:cm>
  <p:cm authorId="2" dt="2026-03-27T13:21:30.318" idx="1">
    <p:pos x="6000" y="0"/>
    <p:text>cc @lucie.dabas@bump-charge.com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2lwnGOk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3-26T17:19:37.454" idx="3">
    <p:pos x="6000" y="0"/>
    <p:text>@julie.enjalbert@bump-charge.com on pourrait mettre une photo plus sexy d'un vrai coffret enedis
_Assigned to julie.enjalbert@bump-charge.com_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2kLklL8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69260789b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" name="Google Shape;55;g3669260789b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a53b08c1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a53b08c1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3db13dfb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d3db13dfb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c2511297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cc2511297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15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c25112971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cc25112971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c25112971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cc25112971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c2511297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cc2511297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" name="Google Shape;2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1 2">
  <p:cSld name="TITLE_1_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4"/>
          <p:cNvPicPr preferRelativeResize="0"/>
          <p:nvPr/>
        </p:nvPicPr>
        <p:blipFill rotWithShape="1">
          <a:blip r:embed="rId2">
            <a:alphaModFix/>
          </a:blip>
          <a:srcRect l="39" r="49"/>
          <a:stretch/>
        </p:blipFill>
        <p:spPr>
          <a:xfrm>
            <a:off x="9525" y="0"/>
            <a:ext cx="91358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4"/>
          <p:cNvSpPr txBox="1">
            <a:spLocks noGrp="1"/>
          </p:cNvSpPr>
          <p:nvPr>
            <p:ph type="title"/>
          </p:nvPr>
        </p:nvSpPr>
        <p:spPr>
          <a:xfrm>
            <a:off x="510231" y="1581150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DM Sans"/>
              <a:buNone/>
              <a:defRPr sz="1400" b="1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title" idx="2"/>
          </p:nvPr>
        </p:nvSpPr>
        <p:spPr>
          <a:xfrm>
            <a:off x="510231" y="2867025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DM Sans"/>
              <a:buNone/>
              <a:defRPr sz="3200" b="1">
                <a:solidFill>
                  <a:srgbClr val="1D293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15" name="Google Shape;1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231" y="457200"/>
            <a:ext cx="1463040" cy="32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1 1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92168" y="381000"/>
            <a:ext cx="30669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DM Sans"/>
              <a:buNone/>
              <a:defRPr sz="8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title" idx="2"/>
          </p:nvPr>
        </p:nvSpPr>
        <p:spPr>
          <a:xfrm>
            <a:off x="492168" y="2586625"/>
            <a:ext cx="77247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600"/>
              <a:buFont typeface="Inter SemiBold"/>
              <a:buNone/>
              <a:defRPr sz="1600" b="1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eft (light) 1">
  <p:cSld name="TITLE_AND_BODY_4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504825" y="314722"/>
            <a:ext cx="40671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  <a:defRPr sz="220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eft 1">
  <p:cSld name="TITLE_AND_BODY_5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cc25112971_1_92"/>
          <p:cNvSpPr txBox="1">
            <a:spLocks noGrp="1"/>
          </p:cNvSpPr>
          <p:nvPr>
            <p:ph type="title"/>
          </p:nvPr>
        </p:nvSpPr>
        <p:spPr>
          <a:xfrm>
            <a:off x="504900" y="605363"/>
            <a:ext cx="44385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  <a:defRPr sz="220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g3cc25112971_1_92"/>
          <p:cNvSpPr txBox="1">
            <a:spLocks noGrp="1"/>
          </p:cNvSpPr>
          <p:nvPr>
            <p:ph type="title" idx="2"/>
          </p:nvPr>
        </p:nvSpPr>
        <p:spPr>
          <a:xfrm>
            <a:off x="504825" y="265113"/>
            <a:ext cx="4438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DM Sans"/>
              <a:buNone/>
              <a:defRPr sz="1400" b="1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" name="Google Shape;26;g3cc25112971_1_92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3"/>
          <p:cNvPicPr preferRelativeResize="0"/>
          <p:nvPr/>
        </p:nvPicPr>
        <p:blipFill rotWithShape="1">
          <a:blip r:embed="rId2">
            <a:alphaModFix/>
          </a:blip>
          <a:srcRect l="39" r="49"/>
          <a:stretch/>
        </p:blipFill>
        <p:spPr>
          <a:xfrm>
            <a:off x="9525" y="0"/>
            <a:ext cx="91358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3600" y="1314450"/>
            <a:ext cx="5020399" cy="382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231" y="457200"/>
            <a:ext cx="1463040" cy="32713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3"/>
          <p:cNvSpPr txBox="1">
            <a:spLocks noGrp="1"/>
          </p:cNvSpPr>
          <p:nvPr>
            <p:ph type="title"/>
          </p:nvPr>
        </p:nvSpPr>
        <p:spPr>
          <a:xfrm>
            <a:off x="510231" y="1581150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DM Sans"/>
              <a:buNone/>
              <a:defRPr sz="1400" b="1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title" idx="2"/>
          </p:nvPr>
        </p:nvSpPr>
        <p:spPr>
          <a:xfrm>
            <a:off x="510231" y="2867025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DM Sans"/>
              <a:buNone/>
              <a:defRPr sz="3200" b="1">
                <a:solidFill>
                  <a:srgbClr val="1D293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1 2 1">
  <p:cSld name="TITLE_1_2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5"/>
          <p:cNvPicPr preferRelativeResize="0"/>
          <p:nvPr/>
        </p:nvPicPr>
        <p:blipFill rotWithShape="1">
          <a:blip r:embed="rId2">
            <a:alphaModFix/>
          </a:blip>
          <a:srcRect l="39" r="49"/>
          <a:stretch/>
        </p:blipFill>
        <p:spPr>
          <a:xfrm>
            <a:off x="9525" y="0"/>
            <a:ext cx="91358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510231" y="1581150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DM Sans"/>
              <a:buNone/>
              <a:defRPr sz="1400" b="1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title" idx="2"/>
          </p:nvPr>
        </p:nvSpPr>
        <p:spPr>
          <a:xfrm>
            <a:off x="510231" y="2867025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DM Sans"/>
              <a:buNone/>
              <a:defRPr sz="3200" b="1">
                <a:solidFill>
                  <a:srgbClr val="1D293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37" name="Google Shape;3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231" y="457200"/>
            <a:ext cx="1463040" cy="32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eft (light) 1 1">
  <p:cSld name="TITLE_AND_BODY_4_1_1">
    <p:bg>
      <p:bgPr>
        <a:solidFill>
          <a:srgbClr val="1D2939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2" y="-2"/>
            <a:ext cx="9144000" cy="5143500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504825" y="457200"/>
            <a:ext cx="40671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DM Sans SemiBold"/>
              <a:buNone/>
              <a:defRPr sz="2200">
                <a:solidFill>
                  <a:srgbClr val="FFFFFF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enter Description 1 1">
  <p:cSld name="TITLE_AND_BODY_1_3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504825" y="329138"/>
            <a:ext cx="81345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  <a:defRPr sz="220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title" idx="2"/>
          </p:nvPr>
        </p:nvSpPr>
        <p:spPr>
          <a:xfrm>
            <a:off x="504825" y="808013"/>
            <a:ext cx="81345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 1">
  <p:cSld name="TITLE_AND_BODY_1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enter 2">
  <p:cSld name="TITLE_AND_BODY_3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38128" y="4669525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504825" y="797450"/>
            <a:ext cx="81342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DM Sans SemiBold"/>
              <a:buNone/>
              <a:defRPr sz="240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sldNum" idx="2"/>
          </p:nvPr>
        </p:nvSpPr>
        <p:spPr>
          <a:xfrm>
            <a:off x="8638128" y="4669525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title" idx="3"/>
          </p:nvPr>
        </p:nvSpPr>
        <p:spPr>
          <a:xfrm>
            <a:off x="504825" y="457200"/>
            <a:ext cx="8134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DM Sans"/>
              <a:buNone/>
              <a:defRPr sz="1400" b="1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"/>
          <p:cNvPicPr preferRelativeResize="0"/>
          <p:nvPr/>
        </p:nvPicPr>
        <p:blipFill rotWithShape="1">
          <a:blip r:embed="rId12">
            <a:alphaModFix/>
          </a:blip>
          <a:srcRect l="39" r="49"/>
          <a:stretch/>
        </p:blipFill>
        <p:spPr>
          <a:xfrm>
            <a:off x="9525" y="0"/>
            <a:ext cx="91358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"/>
          <p:cNvSpPr/>
          <p:nvPr/>
        </p:nvSpPr>
        <p:spPr>
          <a:xfrm>
            <a:off x="8638125" y="4669525"/>
            <a:ext cx="274200" cy="274200"/>
          </a:xfrm>
          <a:prstGeom prst="roundRect">
            <a:avLst>
              <a:gd name="adj" fmla="val 35120"/>
            </a:avLst>
          </a:prstGeom>
          <a:solidFill>
            <a:srgbClr val="FF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9"/>
          <p:cNvSpPr txBox="1">
            <a:spLocks noGrp="1"/>
          </p:cNvSpPr>
          <p:nvPr>
            <p:ph type="title"/>
          </p:nvPr>
        </p:nvSpPr>
        <p:spPr>
          <a:xfrm>
            <a:off x="504825" y="445025"/>
            <a:ext cx="8134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  <a:defRPr sz="2200" b="0" i="0" u="none" strike="noStrike" cap="none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body" idx="1"/>
          </p:nvPr>
        </p:nvSpPr>
        <p:spPr>
          <a:xfrm>
            <a:off x="504900" y="1152475"/>
            <a:ext cx="8134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800"/>
              <a:buFont typeface="Inter"/>
              <a:buChar char="●"/>
              <a:defRPr sz="18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38128" y="4669525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">
          <p15:clr>
            <a:srgbClr val="E46962"/>
          </p15:clr>
        </p15:guide>
        <p15:guide id="2" orient="horz" pos="2937">
          <p15:clr>
            <a:srgbClr val="E46962"/>
          </p15:clr>
        </p15:guide>
        <p15:guide id="3" pos="5442">
          <p15:clr>
            <a:srgbClr val="E46962"/>
          </p15:clr>
        </p15:guide>
        <p15:guide id="4" pos="2880">
          <p15:clr>
            <a:srgbClr val="E46962"/>
          </p15:clr>
        </p15:guide>
        <p15:guide id="5" pos="31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comments" Target="../comments/commen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9260789b_1_16"/>
          <p:cNvSpPr txBox="1">
            <a:spLocks noGrp="1"/>
          </p:cNvSpPr>
          <p:nvPr>
            <p:ph type="title"/>
          </p:nvPr>
        </p:nvSpPr>
        <p:spPr>
          <a:xfrm>
            <a:off x="510231" y="1581150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Nouveau Client x Bump</a:t>
            </a:r>
            <a:endParaRPr/>
          </a:p>
        </p:txBody>
      </p:sp>
      <p:sp>
        <p:nvSpPr>
          <p:cNvPr id="58" name="Google Shape;58;g3669260789b_1_16"/>
          <p:cNvSpPr txBox="1"/>
          <p:nvPr/>
        </p:nvSpPr>
        <p:spPr>
          <a:xfrm>
            <a:off x="528075" y="4008525"/>
            <a:ext cx="303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DM Sans"/>
              <a:buNone/>
            </a:pPr>
            <a:r>
              <a:rPr lang="fr-FR" sz="1400" b="0" i="0" u="none" strike="noStrike" cap="none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Date XX.XX.XXXX</a:t>
            </a:r>
            <a:endParaRPr sz="1400" b="0" i="0" u="none" strike="noStrike" cap="none">
              <a:solidFill>
                <a:srgbClr val="1D2939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9" name="Google Shape;59;g3669260789b_1_16"/>
          <p:cNvSpPr/>
          <p:nvPr/>
        </p:nvSpPr>
        <p:spPr>
          <a:xfrm>
            <a:off x="2333050" y="331025"/>
            <a:ext cx="1798800" cy="5217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Logo client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g3669260789b_1_16"/>
          <p:cNvSpPr txBox="1">
            <a:spLocks noGrp="1"/>
          </p:cNvSpPr>
          <p:nvPr>
            <p:ph type="title" idx="2"/>
          </p:nvPr>
        </p:nvSpPr>
        <p:spPr>
          <a:xfrm>
            <a:off x="510231" y="2867025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-FR"/>
              <a:t>Compte Rendu de Visite Technique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cxnSp>
        <p:nvCxnSpPr>
          <p:cNvPr id="61" name="Google Shape;61;g3669260789b_1_16"/>
          <p:cNvCxnSpPr/>
          <p:nvPr/>
        </p:nvCxnSpPr>
        <p:spPr>
          <a:xfrm>
            <a:off x="2173425" y="418625"/>
            <a:ext cx="0" cy="346500"/>
          </a:xfrm>
          <a:prstGeom prst="straightConnector1">
            <a:avLst/>
          </a:prstGeom>
          <a:noFill/>
          <a:ln w="9525" cap="flat" cmpd="sng">
            <a:solidFill>
              <a:srgbClr val="D8DEE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>
            <a:spLocks noGrp="1"/>
          </p:cNvSpPr>
          <p:nvPr>
            <p:ph type="title"/>
          </p:nvPr>
        </p:nvSpPr>
        <p:spPr>
          <a:xfrm>
            <a:off x="375225" y="444350"/>
            <a:ext cx="813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fr-FR" sz="3000" dirty="0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rPr>
              <a:t>Le Projet</a:t>
            </a:r>
            <a:endParaRPr dirty="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" name="Google Shape;67;p2"/>
          <p:cNvGrpSpPr/>
          <p:nvPr/>
        </p:nvGrpSpPr>
        <p:grpSpPr>
          <a:xfrm>
            <a:off x="375225" y="1319803"/>
            <a:ext cx="3937500" cy="946153"/>
            <a:chOff x="375224" y="1835007"/>
            <a:chExt cx="3937500" cy="946153"/>
          </a:xfrm>
        </p:grpSpPr>
        <p:sp>
          <p:nvSpPr>
            <p:cNvPr id="68" name="Google Shape;68;p2"/>
            <p:cNvSpPr/>
            <p:nvPr/>
          </p:nvSpPr>
          <p:spPr>
            <a:xfrm>
              <a:off x="375224" y="1994260"/>
              <a:ext cx="3937500" cy="786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Client – Fonction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85725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client@client.fr / 0612345678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03825" y="1835007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Contact Client </a:t>
              </a:r>
              <a:endParaRPr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0" name="Google Shape;70;p2"/>
          <p:cNvGrpSpPr/>
          <p:nvPr/>
        </p:nvGrpSpPr>
        <p:grpSpPr>
          <a:xfrm>
            <a:off x="375225" y="2524920"/>
            <a:ext cx="3937581" cy="946293"/>
            <a:chOff x="375224" y="1835007"/>
            <a:chExt cx="3937581" cy="946293"/>
          </a:xfrm>
        </p:grpSpPr>
        <p:sp>
          <p:nvSpPr>
            <p:cNvPr id="71" name="Google Shape;71;p2"/>
            <p:cNvSpPr/>
            <p:nvPr/>
          </p:nvSpPr>
          <p:spPr>
            <a:xfrm>
              <a:off x="375224" y="1994260"/>
              <a:ext cx="3937581" cy="78704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Monoprix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5725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5 Av. du Maréchal Foch, 92210 Saint-Cloud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3825" y="1835007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Adresse du site</a:t>
              </a:r>
              <a:endParaRPr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3" name="Google Shape;73;p2"/>
          <p:cNvGrpSpPr/>
          <p:nvPr/>
        </p:nvGrpSpPr>
        <p:grpSpPr>
          <a:xfrm>
            <a:off x="375225" y="3730037"/>
            <a:ext cx="3937581" cy="765159"/>
            <a:chOff x="375224" y="1835007"/>
            <a:chExt cx="3937581" cy="765159"/>
          </a:xfrm>
        </p:grpSpPr>
        <p:sp>
          <p:nvSpPr>
            <p:cNvPr id="74" name="Google Shape;74;p2"/>
            <p:cNvSpPr/>
            <p:nvPr/>
          </p:nvSpPr>
          <p:spPr>
            <a:xfrm>
              <a:off x="375224" y="1994260"/>
              <a:ext cx="3937581" cy="605906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Parking extérieur, ouvert au public 24h/24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3825" y="1835007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Type de site</a:t>
              </a:r>
              <a:endParaRPr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9081F8-B5FE-F04F-FC7A-1D07DDCFCAC2}"/>
              </a:ext>
            </a:extLst>
          </p:cNvPr>
          <p:cNvSpPr/>
          <p:nvPr/>
        </p:nvSpPr>
        <p:spPr>
          <a:xfrm>
            <a:off x="4768922" y="1411604"/>
            <a:ext cx="3937498" cy="31462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 Information 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825" y="927125"/>
            <a:ext cx="5217900" cy="3648600"/>
          </a:xfrm>
          <a:prstGeom prst="roundRect">
            <a:avLst>
              <a:gd name="adj" fmla="val 3845"/>
            </a:avLst>
          </a:prstGeom>
          <a:noFill/>
          <a:ln w="9525" cap="flat" cmpd="sng">
            <a:solidFill>
              <a:srgbClr val="FF525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3" name="Google Shape;83;p4"/>
          <p:cNvSpPr txBox="1">
            <a:spLocks noGrp="1"/>
          </p:cNvSpPr>
          <p:nvPr>
            <p:ph type="sldNum" idx="12"/>
          </p:nvPr>
        </p:nvSpPr>
        <p:spPr>
          <a:xfrm>
            <a:off x="8573674" y="467846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881275" y="927125"/>
            <a:ext cx="2757900" cy="1732255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BEEF2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10588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  <a:t>Légende</a:t>
            </a:r>
            <a:b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 b="1" i="0" u="none" strike="noStrike" cap="none">
              <a:solidFill>
                <a:srgbClr val="919AA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7432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   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27432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27432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881275" y="2795175"/>
            <a:ext cx="2757900" cy="1780500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10588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  <a:t>Installation</a:t>
            </a:r>
            <a:b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 b="1" i="0" u="none" strike="noStrike" cap="none">
              <a:solidFill>
                <a:srgbClr val="919AA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2163" y="1341555"/>
            <a:ext cx="328558" cy="2181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" name="Google Shape;87;p4"/>
          <p:cNvGraphicFramePr/>
          <p:nvPr/>
        </p:nvGraphicFramePr>
        <p:xfrm>
          <a:off x="5881263" y="3092225"/>
          <a:ext cx="2692425" cy="1450825"/>
        </p:xfrm>
        <a:graphic>
          <a:graphicData uri="http://schemas.openxmlformats.org/drawingml/2006/table">
            <a:tbl>
              <a:tblPr>
                <a:noFill/>
                <a:tableStyleId>{312DF80A-4CAD-4B3A-9A1A-665FECB37874}</a:tableStyleId>
              </a:tblPr>
              <a:tblGrid>
                <a:gridCol w="115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Type de borne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solidFill>
                            <a:srgbClr val="0070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22kW</a:t>
                      </a:r>
                      <a:endParaRPr sz="1000" b="1" u="none" strike="noStrike" cap="none">
                        <a:solidFill>
                          <a:srgbClr val="0070C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solidFill>
                            <a:srgbClr val="FF525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150 kW</a:t>
                      </a:r>
                      <a:endParaRPr sz="1000" b="1" u="none" strike="noStrike" cap="none">
                        <a:solidFill>
                          <a:srgbClr val="FF525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PDC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Foisonnement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1000" b="0" u="none" strike="noStrike" cap="non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Puissance nécessaire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22kVA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150 kVA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375225" y="198000"/>
            <a:ext cx="813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fr-FR" sz="3000" b="1">
                <a:latin typeface="DM Sans"/>
                <a:ea typeface="DM Sans"/>
                <a:cs typeface="DM Sans"/>
                <a:sym typeface="DM Sans"/>
              </a:rPr>
              <a:t>Plan </a:t>
            </a:r>
            <a:r>
              <a:rPr lang="fr-FR" sz="3000" b="1">
                <a:latin typeface="Inter"/>
                <a:ea typeface="Inter"/>
                <a:cs typeface="Inter"/>
                <a:sym typeface="Inter"/>
              </a:rPr>
              <a:t>d'implantation</a:t>
            </a:r>
            <a:r>
              <a:rPr lang="fr-FR" sz="3000" b="1">
                <a:latin typeface="DM Sans"/>
                <a:ea typeface="DM Sans"/>
                <a:cs typeface="DM Sans"/>
                <a:sym typeface="DM Sans"/>
              </a:rPr>
              <a:t> de la station</a:t>
            </a:r>
            <a:endParaRPr sz="3000"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1375" y="3517971"/>
            <a:ext cx="388669" cy="34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4"/>
          <p:cNvCxnSpPr/>
          <p:nvPr/>
        </p:nvCxnSpPr>
        <p:spPr>
          <a:xfrm>
            <a:off x="6143242" y="2055575"/>
            <a:ext cx="206400" cy="0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4"/>
          <p:cNvSpPr/>
          <p:nvPr/>
        </p:nvSpPr>
        <p:spPr>
          <a:xfrm>
            <a:off x="1454725" y="2693650"/>
            <a:ext cx="2195950" cy="1030550"/>
          </a:xfrm>
          <a:custGeom>
            <a:avLst/>
            <a:gdLst/>
            <a:ahLst/>
            <a:cxnLst/>
            <a:rect l="l" t="t" r="r" b="b"/>
            <a:pathLst>
              <a:path w="87838" h="41222" extrusionOk="0">
                <a:moveTo>
                  <a:pt x="0" y="16284"/>
                </a:moveTo>
                <a:lnTo>
                  <a:pt x="55317" y="0"/>
                </a:lnTo>
                <a:lnTo>
                  <a:pt x="84790" y="40390"/>
                </a:lnTo>
                <a:lnTo>
                  <a:pt x="87838" y="41222"/>
                </a:lnTo>
              </a:path>
            </a:pathLst>
          </a:custGeom>
          <a:noFill/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6169" y="2981463"/>
            <a:ext cx="429966" cy="31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1134" y="1619233"/>
            <a:ext cx="270616" cy="26773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6513490" y="1341555"/>
            <a:ext cx="1493469" cy="2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PDL Enedis / TGBT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513490" y="1647245"/>
            <a:ext cx="1493469" cy="2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TD IRVE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513490" y="1944295"/>
            <a:ext cx="1493469" cy="2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Raccordement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513490" y="2249985"/>
            <a:ext cx="1493469" cy="2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Place à électrifier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272498" y="2243576"/>
            <a:ext cx="135591" cy="218100"/>
          </a:xfrm>
          <a:prstGeom prst="roundRect">
            <a:avLst>
              <a:gd name="adj" fmla="val 3634"/>
            </a:avLst>
          </a:prstGeom>
          <a:solidFill>
            <a:srgbClr val="FF5252">
              <a:alpha val="60784"/>
            </a:srgbClr>
          </a:solidFill>
          <a:ln w="28575" cap="flat" cmpd="sng">
            <a:solidFill>
              <a:srgbClr val="FF52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328149" y="52004"/>
            <a:ext cx="2127251" cy="144024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fr-FR" sz="900" b="0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Zoom zone d’implantation de la slide précédente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fr-FR" sz="900" b="0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Image google </a:t>
            </a:r>
            <a:r>
              <a:rPr lang="fr-FR" sz="900" b="0" i="0" u="none" strike="noStrike" cap="none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earth</a:t>
            </a:r>
            <a:r>
              <a:rPr lang="fr-FR" sz="900" b="0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fr-FR" sz="900" b="0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Rogner bords arrondis même rayon que les boites blanches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fr-FR" sz="900" b="0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Contour fin trait rose </a:t>
            </a:r>
            <a:r>
              <a:rPr lang="fr-FR" sz="900" b="0" i="0" u="none" strike="noStrike" cap="none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bump</a:t>
            </a:r>
            <a:endParaRPr sz="900" b="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4"/>
          <p:cNvSpPr/>
          <p:nvPr/>
        </p:nvSpPr>
        <p:spPr>
          <a:xfrm rot="-1945607">
            <a:off x="4208113" y="3049726"/>
            <a:ext cx="445338" cy="465724"/>
          </a:xfrm>
          <a:prstGeom prst="roundRect">
            <a:avLst>
              <a:gd name="adj" fmla="val 3634"/>
            </a:avLst>
          </a:prstGeom>
          <a:solidFill>
            <a:srgbClr val="FF5252">
              <a:alpha val="60392"/>
            </a:srgbClr>
          </a:solidFill>
          <a:ln w="28575" cap="flat" cmpd="sng">
            <a:solidFill>
              <a:srgbClr val="FF52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072846" y="2243576"/>
            <a:ext cx="135591" cy="218100"/>
          </a:xfrm>
          <a:prstGeom prst="roundRect">
            <a:avLst>
              <a:gd name="adj" fmla="val 3634"/>
            </a:avLst>
          </a:prstGeom>
          <a:solidFill>
            <a:schemeClr val="accent1">
              <a:alpha val="60784"/>
            </a:schemeClr>
          </a:solidFill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4"/>
          <p:cNvSpPr/>
          <p:nvPr/>
        </p:nvSpPr>
        <p:spPr>
          <a:xfrm rot="-1945741">
            <a:off x="4574610" y="2700129"/>
            <a:ext cx="812860" cy="465724"/>
          </a:xfrm>
          <a:prstGeom prst="roundRect">
            <a:avLst>
              <a:gd name="adj" fmla="val 3634"/>
            </a:avLst>
          </a:prstGeom>
          <a:solidFill>
            <a:schemeClr val="accent1">
              <a:alpha val="60392"/>
            </a:schemeClr>
          </a:solidFill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53337F-DB40-E9CB-9D77-7680DE084529}"/>
              </a:ext>
            </a:extLst>
          </p:cNvPr>
          <p:cNvSpPr/>
          <p:nvPr/>
        </p:nvSpPr>
        <p:spPr>
          <a:xfrm>
            <a:off x="641735" y="974016"/>
            <a:ext cx="914400" cy="26935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Exemple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a53b08c12_0_5"/>
          <p:cNvSpPr txBox="1">
            <a:spLocks noGrp="1"/>
          </p:cNvSpPr>
          <p:nvPr>
            <p:ph type="title"/>
          </p:nvPr>
        </p:nvSpPr>
        <p:spPr>
          <a:xfrm>
            <a:off x="504825" y="314722"/>
            <a:ext cx="40671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fr-FR" sz="3000" b="1">
                <a:latin typeface="DM Sans"/>
                <a:ea typeface="DM Sans"/>
                <a:cs typeface="DM Sans"/>
                <a:sym typeface="DM Sans"/>
              </a:rPr>
              <a:t>Raccordement</a:t>
            </a:r>
            <a:r>
              <a:rPr lang="fr-FR" sz="2600"/>
              <a:t> </a:t>
            </a:r>
            <a:r>
              <a:rPr lang="fr-FR" sz="3000" b="1">
                <a:latin typeface="DM Sans"/>
                <a:ea typeface="DM Sans"/>
                <a:cs typeface="DM Sans"/>
                <a:sym typeface="DM Sans"/>
              </a:rPr>
              <a:t>TGBT </a:t>
            </a:r>
            <a:endParaRPr sz="2600"/>
          </a:p>
        </p:txBody>
      </p:sp>
      <p:sp>
        <p:nvSpPr>
          <p:cNvPr id="108" name="Google Shape;108;g3ca53b08c12_0_5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sp>
        <p:nvSpPr>
          <p:cNvPr id="109" name="Google Shape;109;g3ca53b08c12_0_5"/>
          <p:cNvSpPr/>
          <p:nvPr/>
        </p:nvSpPr>
        <p:spPr>
          <a:xfrm>
            <a:off x="5377925" y="1231825"/>
            <a:ext cx="2757900" cy="3189900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10588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  <a:t>Installation</a:t>
            </a:r>
            <a:b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 b="1" i="0" u="none" strike="noStrike" cap="none">
              <a:solidFill>
                <a:srgbClr val="919AA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110" name="Google Shape;110;g3ca53b08c12_0_5"/>
          <p:cNvGraphicFramePr/>
          <p:nvPr/>
        </p:nvGraphicFramePr>
        <p:xfrm>
          <a:off x="5479526" y="1854225"/>
          <a:ext cx="2381675" cy="2119500"/>
        </p:xfrm>
        <a:graphic>
          <a:graphicData uri="http://schemas.openxmlformats.org/drawingml/2006/table">
            <a:tbl>
              <a:tblPr>
                <a:noFill/>
                <a:tableStyleId>{312DF80A-4CAD-4B3A-9A1A-665FECB37874}</a:tableStyleId>
              </a:tblPr>
              <a:tblGrid>
                <a:gridCol w="13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Puissance Souscrite (kW)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Puissance Max (KW)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Augmentation nécessaire 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Puissance à souscrire (kW)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1" name="Google Shape;111;g3ca53b08c12_0_5"/>
          <p:cNvSpPr/>
          <p:nvPr/>
        </p:nvSpPr>
        <p:spPr>
          <a:xfrm>
            <a:off x="630075" y="1685675"/>
            <a:ext cx="4350600" cy="263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52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 Disjoncteur général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>
            <a:spLocks noGrp="1"/>
          </p:cNvSpPr>
          <p:nvPr>
            <p:ph type="sldNum" idx="12"/>
          </p:nvPr>
        </p:nvSpPr>
        <p:spPr>
          <a:xfrm>
            <a:off x="8573674" y="467846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5881275" y="927125"/>
            <a:ext cx="2757900" cy="1693801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BEEF2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1098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  <a:t>Légende</a:t>
            </a:r>
            <a:b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 b="1" i="0" u="none" strike="noStrike" cap="none">
              <a:solidFill>
                <a:srgbClr val="919AA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7432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   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27432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27432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2163" y="1673159"/>
            <a:ext cx="328558" cy="21814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"/>
          <p:cNvSpPr txBox="1">
            <a:spLocks noGrp="1"/>
          </p:cNvSpPr>
          <p:nvPr>
            <p:ph type="title"/>
          </p:nvPr>
        </p:nvSpPr>
        <p:spPr>
          <a:xfrm>
            <a:off x="375225" y="198000"/>
            <a:ext cx="813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fr-FR" sz="3000" b="1">
                <a:latin typeface="Inter"/>
                <a:ea typeface="Inter"/>
                <a:cs typeface="Inter"/>
                <a:sym typeface="Inter"/>
              </a:rPr>
              <a:t>Hypothèse de raccordement ENEDIS</a:t>
            </a:r>
            <a:endParaRPr sz="300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6513490" y="1341555"/>
            <a:ext cx="1493469" cy="2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Site client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6513490" y="1647245"/>
            <a:ext cx="2060184" cy="2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Point de livraison souhaité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6513490" y="1944295"/>
            <a:ext cx="2087585" cy="2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Poste de transformation Public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9328149" y="52004"/>
            <a:ext cx="2127300" cy="14403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fr-FR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Image carto enedis</a:t>
            </a:r>
            <a:endParaRPr sz="9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fr-FR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Rogner bords arrondis même rayon que les boites blanches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fr-FR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Contour fin trait bleu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6174442" y="1998922"/>
            <a:ext cx="144000" cy="145204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/>
          <p:nvPr/>
        </p:nvSpPr>
        <p:spPr>
          <a:xfrm rot="8149015">
            <a:off x="6180845" y="1315572"/>
            <a:ext cx="144000" cy="144000"/>
          </a:xfrm>
          <a:prstGeom prst="teardrop">
            <a:avLst>
              <a:gd name="adj" fmla="val 200000"/>
            </a:avLst>
          </a:prstGeom>
          <a:solidFill>
            <a:srgbClr val="FF000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6513490" y="2241345"/>
            <a:ext cx="2087585" cy="2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Raccordement supposé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>
            <a:off x="6143242" y="2347967"/>
            <a:ext cx="206400" cy="0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8" name="Google Shape;1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464" y="924258"/>
            <a:ext cx="5223655" cy="3648549"/>
          </a:xfrm>
          <a:prstGeom prst="roundRect">
            <a:avLst>
              <a:gd name="adj" fmla="val 384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9" name="Google Shape;129;p1"/>
          <p:cNvSpPr/>
          <p:nvPr/>
        </p:nvSpPr>
        <p:spPr>
          <a:xfrm rot="8149015">
            <a:off x="4644440" y="1843077"/>
            <a:ext cx="144000" cy="144000"/>
          </a:xfrm>
          <a:prstGeom prst="teardrop">
            <a:avLst>
              <a:gd name="adj" fmla="val 200000"/>
            </a:avLst>
          </a:prstGeom>
          <a:solidFill>
            <a:srgbClr val="FF000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2750533" y="1816100"/>
            <a:ext cx="1550534" cy="1635309"/>
          </a:xfrm>
          <a:custGeom>
            <a:avLst/>
            <a:gdLst/>
            <a:ahLst/>
            <a:cxnLst/>
            <a:rect l="l" t="t" r="r" b="b"/>
            <a:pathLst>
              <a:path w="1550534" h="1635309" extrusionOk="0">
                <a:moveTo>
                  <a:pt x="30767" y="1634067"/>
                </a:moveTo>
                <a:cubicBezTo>
                  <a:pt x="-2042" y="1637947"/>
                  <a:pt x="-34850" y="1641828"/>
                  <a:pt x="81567" y="1494367"/>
                </a:cubicBezTo>
                <a:cubicBezTo>
                  <a:pt x="197984" y="1346906"/>
                  <a:pt x="533828" y="955322"/>
                  <a:pt x="729267" y="749300"/>
                </a:cubicBezTo>
                <a:cubicBezTo>
                  <a:pt x="924706" y="543278"/>
                  <a:pt x="1117322" y="383116"/>
                  <a:pt x="1254200" y="258233"/>
                </a:cubicBezTo>
                <a:cubicBezTo>
                  <a:pt x="1391078" y="133350"/>
                  <a:pt x="1470806" y="66675"/>
                  <a:pt x="1550534" y="0"/>
                </a:cubicBezTo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8847" y="1729063"/>
            <a:ext cx="203628" cy="1573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F4B22B-3A80-E091-6802-911525E7BBD3}"/>
              </a:ext>
            </a:extLst>
          </p:cNvPr>
          <p:cNvSpPr/>
          <p:nvPr/>
        </p:nvSpPr>
        <p:spPr>
          <a:xfrm>
            <a:off x="641735" y="974016"/>
            <a:ext cx="914400" cy="26935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Exemple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375225" y="198000"/>
            <a:ext cx="813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225" y="1107367"/>
            <a:ext cx="5649546" cy="3492133"/>
          </a:xfrm>
          <a:prstGeom prst="roundRect">
            <a:avLst>
              <a:gd name="adj" fmla="val 2766"/>
            </a:avLst>
          </a:prstGeom>
          <a:noFill/>
          <a:ln w="9525" cap="flat" cmpd="sng">
            <a:solidFill>
              <a:srgbClr val="FF525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39" name="Google Shape;139;p5"/>
          <p:cNvCxnSpPr/>
          <p:nvPr/>
        </p:nvCxnSpPr>
        <p:spPr>
          <a:xfrm>
            <a:off x="6403048" y="1291433"/>
            <a:ext cx="0" cy="3124001"/>
          </a:xfrm>
          <a:prstGeom prst="straightConnector1">
            <a:avLst/>
          </a:prstGeom>
          <a:noFill/>
          <a:ln w="9525" cap="flat" cmpd="sng">
            <a:solidFill>
              <a:srgbClr val="1D293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0" name="Google Shape;140;p5"/>
          <p:cNvGrpSpPr/>
          <p:nvPr/>
        </p:nvGrpSpPr>
        <p:grpSpPr>
          <a:xfrm>
            <a:off x="6781326" y="383323"/>
            <a:ext cx="1810698" cy="1017384"/>
            <a:chOff x="375226" y="1835007"/>
            <a:chExt cx="2502439" cy="1017384"/>
          </a:xfrm>
        </p:grpSpPr>
        <p:sp>
          <p:nvSpPr>
            <p:cNvPr id="141" name="Google Shape;141;p5"/>
            <p:cNvSpPr/>
            <p:nvPr/>
          </p:nvSpPr>
          <p:spPr>
            <a:xfrm>
              <a:off x="375226" y="1994260"/>
              <a:ext cx="2502439" cy="858131"/>
            </a:xfrm>
            <a:prstGeom prst="roundRect">
              <a:avLst>
                <a:gd name="adj" fmla="val 9266"/>
              </a:avLst>
            </a:prstGeom>
            <a:solidFill>
              <a:schemeClr val="lt1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Validé avec Enedis lors de la visite technique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603825" y="1835007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Emplacement</a:t>
              </a:r>
              <a:endParaRPr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3" name="Google Shape;143;p5"/>
          <p:cNvGrpSpPr/>
          <p:nvPr/>
        </p:nvGrpSpPr>
        <p:grpSpPr>
          <a:xfrm>
            <a:off x="6781326" y="1610858"/>
            <a:ext cx="1810698" cy="1200273"/>
            <a:chOff x="375225" y="1835007"/>
            <a:chExt cx="2760166" cy="1200273"/>
          </a:xfrm>
        </p:grpSpPr>
        <p:sp>
          <p:nvSpPr>
            <p:cNvPr id="144" name="Google Shape;144;p5"/>
            <p:cNvSpPr/>
            <p:nvPr/>
          </p:nvSpPr>
          <p:spPr>
            <a:xfrm>
              <a:off x="375225" y="1994260"/>
              <a:ext cx="2760166" cy="1041020"/>
            </a:xfrm>
            <a:prstGeom prst="roundRect">
              <a:avLst>
                <a:gd name="adj" fmla="val 9266"/>
              </a:avLst>
            </a:prstGeom>
            <a:solidFill>
              <a:schemeClr val="lt1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La découpe du grillage est à prévoir pour implanter le coffret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603825" y="1835007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Travaux Préparatoires</a:t>
              </a:r>
              <a:endParaRPr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6" name="Google Shape;146;p5"/>
          <p:cNvGrpSpPr/>
          <p:nvPr/>
        </p:nvGrpSpPr>
        <p:grpSpPr>
          <a:xfrm>
            <a:off x="6766028" y="2988903"/>
            <a:ext cx="1825996" cy="1943926"/>
            <a:chOff x="6747677" y="3125499"/>
            <a:chExt cx="1825996" cy="1943926"/>
          </a:xfrm>
        </p:grpSpPr>
        <p:sp>
          <p:nvSpPr>
            <p:cNvPr id="147" name="Google Shape;147;p5"/>
            <p:cNvSpPr/>
            <p:nvPr/>
          </p:nvSpPr>
          <p:spPr>
            <a:xfrm>
              <a:off x="6762974" y="3214599"/>
              <a:ext cx="1810699" cy="1843318"/>
            </a:xfrm>
            <a:prstGeom prst="roundRect">
              <a:avLst>
                <a:gd name="adj" fmla="val 5101"/>
              </a:avLst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6747677" y="4710532"/>
              <a:ext cx="1392753" cy="3588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9" name="Google Shape;149;p5" descr="Armoire BPS + AGCP 400A differentiel + coffret comptage Seifel"/>
            <p:cNvPicPr preferRelativeResize="0"/>
            <p:nvPr/>
          </p:nvPicPr>
          <p:blipFill rotWithShape="1">
            <a:blip r:embed="rId4">
              <a:alphaModFix/>
            </a:blip>
            <a:srcRect l="-1" r="1"/>
            <a:stretch/>
          </p:blipFill>
          <p:spPr>
            <a:xfrm>
              <a:off x="7138258" y="3421685"/>
              <a:ext cx="1049554" cy="1641986"/>
            </a:xfrm>
            <a:prstGeom prst="roundRect">
              <a:avLst>
                <a:gd name="adj" fmla="val 11287"/>
              </a:avLst>
            </a:prstGeom>
            <a:noFill/>
            <a:ln>
              <a:noFill/>
            </a:ln>
          </p:spPr>
        </p:pic>
        <p:sp>
          <p:nvSpPr>
            <p:cNvPr id="150" name="Google Shape;150;p5"/>
            <p:cNvSpPr/>
            <p:nvPr/>
          </p:nvSpPr>
          <p:spPr>
            <a:xfrm>
              <a:off x="6936026" y="3125499"/>
              <a:ext cx="1251786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Dimensions</a:t>
              </a:r>
              <a:endParaRPr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1" name="Google Shape;151;p5"/>
          <p:cNvSpPr txBox="1"/>
          <p:nvPr/>
        </p:nvSpPr>
        <p:spPr>
          <a:xfrm>
            <a:off x="398525" y="198000"/>
            <a:ext cx="6382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fr-FR" sz="3000" b="1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rPr>
              <a:t>Emplacement coffret ENEDIS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19379" y="1971525"/>
            <a:ext cx="1017374" cy="10173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C6EFC7-91CC-DB6C-2686-0B9184FE13D8}"/>
              </a:ext>
            </a:extLst>
          </p:cNvPr>
          <p:cNvSpPr/>
          <p:nvPr/>
        </p:nvSpPr>
        <p:spPr>
          <a:xfrm>
            <a:off x="461626" y="1156754"/>
            <a:ext cx="914400" cy="26935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Exemple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747677" y="4710532"/>
            <a:ext cx="1392753" cy="358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375225" y="387350"/>
            <a:ext cx="813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fr-FR" sz="3000" b="1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rPr>
              <a:t>Cheminement</a:t>
            </a:r>
            <a:r>
              <a:rPr lang="fr-FR" sz="3000" b="1" i="0" u="none" strike="noStrike" cap="none">
                <a:solidFill>
                  <a:srgbClr val="1D2939"/>
                </a:solidFill>
                <a:latin typeface="DM Sans"/>
                <a:ea typeface="DM Sans"/>
                <a:cs typeface="DM Sans"/>
                <a:sym typeface="DM Sans"/>
              </a:rPr>
              <a:t> TGBT- Borne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225" y="1406959"/>
            <a:ext cx="7206675" cy="3470515"/>
          </a:xfrm>
          <a:prstGeom prst="roundRect">
            <a:avLst>
              <a:gd name="adj" fmla="val 6791"/>
            </a:avLst>
          </a:prstGeom>
          <a:noFill/>
          <a:ln w="9525" cap="flat" cmpd="sng">
            <a:solidFill>
              <a:srgbClr val="FF525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8"/>
          <p:cNvSpPr/>
          <p:nvPr/>
        </p:nvSpPr>
        <p:spPr>
          <a:xfrm>
            <a:off x="1914601" y="2532101"/>
            <a:ext cx="2786956" cy="860235"/>
          </a:xfrm>
          <a:custGeom>
            <a:avLst/>
            <a:gdLst/>
            <a:ahLst/>
            <a:cxnLst/>
            <a:rect l="l" t="t" r="r" b="b"/>
            <a:pathLst>
              <a:path w="2150533" h="651933" extrusionOk="0">
                <a:moveTo>
                  <a:pt x="2150533" y="6519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C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8"/>
          <p:cNvGrpSpPr/>
          <p:nvPr/>
        </p:nvGrpSpPr>
        <p:grpSpPr>
          <a:xfrm>
            <a:off x="6010875" y="266026"/>
            <a:ext cx="2757900" cy="859342"/>
            <a:chOff x="5881275" y="927126"/>
            <a:chExt cx="2757900" cy="859342"/>
          </a:xfrm>
        </p:grpSpPr>
        <p:sp>
          <p:nvSpPr>
            <p:cNvPr id="163" name="Google Shape;163;p8"/>
            <p:cNvSpPr/>
            <p:nvPr/>
          </p:nvSpPr>
          <p:spPr>
            <a:xfrm>
              <a:off x="5881275" y="927126"/>
              <a:ext cx="2757900" cy="859342"/>
            </a:xfrm>
            <a:prstGeom prst="roundRect">
              <a:avLst>
                <a:gd name="adj" fmla="val 7507"/>
              </a:avLst>
            </a:prstGeom>
            <a:solidFill>
              <a:srgbClr val="F9FAFB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57213" dist="200025" dir="5400000" algn="bl" rotWithShape="0">
                <a:srgbClr val="1D2939">
                  <a:alpha val="10588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 b="1" i="0" u="none" strike="noStrike" cap="none">
                  <a:solidFill>
                    <a:srgbClr val="919AAC"/>
                  </a:solidFill>
                  <a:latin typeface="Inter"/>
                  <a:ea typeface="Inter"/>
                  <a:cs typeface="Inter"/>
                  <a:sym typeface="Inter"/>
                </a:rPr>
                <a:t>Légende</a:t>
              </a:r>
              <a:br>
                <a:rPr lang="fr-FR" sz="900" b="1" i="0" u="none" strike="noStrike" cap="none">
                  <a:solidFill>
                    <a:srgbClr val="919AAC"/>
                  </a:solidFill>
                  <a:latin typeface="Inter"/>
                  <a:ea typeface="Inter"/>
                  <a:cs typeface="Inter"/>
                  <a:sym typeface="Inter"/>
                </a:rPr>
              </a:br>
              <a:endParaRPr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7432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    </a:t>
              </a:r>
              <a:endParaRPr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27432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endParaRPr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27432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  </a:t>
              </a:r>
              <a:endParaRPr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cxnSp>
          <p:nvCxnSpPr>
            <p:cNvPr id="164" name="Google Shape;164;p8"/>
            <p:cNvCxnSpPr/>
            <p:nvPr/>
          </p:nvCxnSpPr>
          <p:spPr>
            <a:xfrm>
              <a:off x="6100909" y="1434720"/>
              <a:ext cx="206400" cy="0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5" name="Google Shape;165;p8"/>
            <p:cNvSpPr/>
            <p:nvPr/>
          </p:nvSpPr>
          <p:spPr>
            <a:xfrm>
              <a:off x="6471157" y="1323440"/>
              <a:ext cx="1493469" cy="218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Tranchée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4279" y="2633525"/>
            <a:ext cx="1017374" cy="10173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D11CF7-9B6F-9550-62C2-89B76BF7D553}"/>
              </a:ext>
            </a:extLst>
          </p:cNvPr>
          <p:cNvSpPr/>
          <p:nvPr/>
        </p:nvSpPr>
        <p:spPr>
          <a:xfrm>
            <a:off x="461626" y="1496190"/>
            <a:ext cx="914400" cy="26935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Exemple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6747677" y="4710532"/>
            <a:ext cx="1392753" cy="358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375225" y="198000"/>
            <a:ext cx="813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fr-FR" sz="3000" b="1" i="0" u="none" strike="noStrike" cap="none">
                <a:solidFill>
                  <a:srgbClr val="1D2939"/>
                </a:solidFill>
                <a:latin typeface="DM Sans"/>
                <a:ea typeface="DM Sans"/>
                <a:cs typeface="DM Sans"/>
                <a:sym typeface="DM Sans"/>
              </a:rPr>
              <a:t>Plan </a:t>
            </a:r>
            <a:r>
              <a:rPr lang="fr-FR" sz="3000" b="1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rPr>
              <a:t>d'implantation</a:t>
            </a:r>
            <a:r>
              <a:rPr lang="fr-FR" sz="3000" b="1" i="0" u="none" strike="noStrike" cap="none">
                <a:solidFill>
                  <a:srgbClr val="1D2939"/>
                </a:solidFill>
                <a:latin typeface="DM Sans"/>
                <a:ea typeface="DM Sans"/>
                <a:cs typeface="DM Sans"/>
                <a:sym typeface="DM Sans"/>
              </a:rPr>
              <a:t> de la station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475" y="1348628"/>
            <a:ext cx="8850900" cy="2446200"/>
          </a:xfrm>
          <a:prstGeom prst="roundRect">
            <a:avLst>
              <a:gd name="adj" fmla="val 8360"/>
            </a:avLst>
          </a:prstGeom>
          <a:noFill/>
          <a:ln w="9525" cap="flat" cmpd="sng">
            <a:solidFill>
              <a:srgbClr val="F14D4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5" name="Google Shape;175;p10"/>
          <p:cNvSpPr/>
          <p:nvPr/>
        </p:nvSpPr>
        <p:spPr>
          <a:xfrm>
            <a:off x="4351169" y="2258207"/>
            <a:ext cx="441488" cy="627083"/>
          </a:xfrm>
          <a:prstGeom prst="cube">
            <a:avLst>
              <a:gd name="adj" fmla="val 14535"/>
            </a:avLst>
          </a:prstGeom>
          <a:solidFill>
            <a:srgbClr val="DDDDDD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0" descr="Une image contenant texte, pompe à essence, machine, rouge&#10;&#10;Description générée automatiqueme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2093" y="2282533"/>
            <a:ext cx="379058" cy="762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0" descr="Une image contenant pompe à essence&#10;&#10;Description générée automatique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42051" y="2040052"/>
            <a:ext cx="762175" cy="1004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6225" y="2408600"/>
            <a:ext cx="762175" cy="7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38287" y="973624"/>
            <a:ext cx="1205699" cy="159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7655124" y="1869263"/>
            <a:ext cx="1096025" cy="152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0425" y="2639975"/>
            <a:ext cx="762176" cy="76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88050" y="2885300"/>
            <a:ext cx="762175" cy="7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flipH="1">
            <a:off x="3834654" y="2903099"/>
            <a:ext cx="608325" cy="10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0" title="pied borne.jpg"/>
          <p:cNvPicPr preferRelativeResize="0"/>
          <p:nvPr/>
        </p:nvPicPr>
        <p:blipFill rotWithShape="1">
          <a:blip r:embed="rId11">
            <a:alphaModFix/>
          </a:blip>
          <a:srcRect t="1920" b="-1920"/>
          <a:stretch/>
        </p:blipFill>
        <p:spPr>
          <a:xfrm>
            <a:off x="-51925" y="2249975"/>
            <a:ext cx="1205700" cy="12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 title="Borne Scheider ChargePro.jp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1276" y="2232025"/>
            <a:ext cx="499300" cy="4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C9C6E87-4280-DDBF-A7E8-D5A0116BE4F0}"/>
              </a:ext>
            </a:extLst>
          </p:cNvPr>
          <p:cNvSpPr/>
          <p:nvPr/>
        </p:nvSpPr>
        <p:spPr>
          <a:xfrm>
            <a:off x="461626" y="1156754"/>
            <a:ext cx="914400" cy="26935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Exemple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3db13dfbf_0_3"/>
          <p:cNvSpPr txBox="1">
            <a:spLocks noGrp="1"/>
          </p:cNvSpPr>
          <p:nvPr>
            <p:ph type="sldNum" idx="12"/>
          </p:nvPr>
        </p:nvSpPr>
        <p:spPr>
          <a:xfrm>
            <a:off x="8573674" y="467846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sp>
        <p:nvSpPr>
          <p:cNvPr id="191" name="Google Shape;191;g3d3db13dfbf_0_3"/>
          <p:cNvSpPr txBox="1">
            <a:spLocks noGrp="1"/>
          </p:cNvSpPr>
          <p:nvPr>
            <p:ph type="title"/>
          </p:nvPr>
        </p:nvSpPr>
        <p:spPr>
          <a:xfrm>
            <a:off x="375225" y="198000"/>
            <a:ext cx="87162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1">
                <a:latin typeface="DM Sans"/>
                <a:ea typeface="DM Sans"/>
                <a:cs typeface="DM Sans"/>
                <a:sym typeface="DM Sans"/>
              </a:rPr>
              <a:t>Plan</a:t>
            </a:r>
            <a:r>
              <a:rPr lang="fr-FR" sz="2300" b="1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fr-FR" sz="3000" b="1">
                <a:latin typeface="DM Sans"/>
                <a:ea typeface="DM Sans"/>
                <a:cs typeface="DM Sans"/>
                <a:sym typeface="DM Sans"/>
              </a:rPr>
              <a:t>d'implantation</a:t>
            </a:r>
            <a:r>
              <a:rPr lang="fr-FR" sz="2300" b="1">
                <a:latin typeface="DM Sans"/>
                <a:ea typeface="DM Sans"/>
                <a:cs typeface="DM Sans"/>
                <a:sym typeface="DM Sans"/>
              </a:rPr>
              <a:t> - </a:t>
            </a:r>
            <a:endParaRPr sz="230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30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30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g3d3db13dfbf_0_3"/>
          <p:cNvSpPr/>
          <p:nvPr/>
        </p:nvSpPr>
        <p:spPr>
          <a:xfrm>
            <a:off x="5881275" y="927125"/>
            <a:ext cx="2757900" cy="2890800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BEEF2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745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   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27432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27432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3" name="Google Shape;193;g3d3db13dfbf_0_3"/>
          <p:cNvSpPr/>
          <p:nvPr/>
        </p:nvSpPr>
        <p:spPr>
          <a:xfrm>
            <a:off x="6170678" y="735789"/>
            <a:ext cx="1302600" cy="382200"/>
          </a:xfrm>
          <a:prstGeom prst="roundRect">
            <a:avLst>
              <a:gd name="adj" fmla="val 28629"/>
            </a:avLst>
          </a:prstGeom>
          <a:solidFill>
            <a:srgbClr val="1D2939"/>
          </a:solidFill>
          <a:ln>
            <a:noFill/>
          </a:ln>
          <a:effectLst>
            <a:outerShdw blurRad="557213" dist="200025" dir="5400000" algn="bl" rotWithShape="0">
              <a:srgbClr val="1D2939">
                <a:alpha val="98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Commentaires</a:t>
            </a:r>
            <a:endParaRPr sz="10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g3d3db13dfbf_0_3"/>
          <p:cNvSpPr/>
          <p:nvPr/>
        </p:nvSpPr>
        <p:spPr>
          <a:xfrm>
            <a:off x="643300" y="2897400"/>
            <a:ext cx="3650425" cy="339100"/>
          </a:xfrm>
          <a:custGeom>
            <a:avLst/>
            <a:gdLst/>
            <a:ahLst/>
            <a:cxnLst/>
            <a:rect l="l" t="t" r="r" b="b"/>
            <a:pathLst>
              <a:path w="146017" h="13564" extrusionOk="0">
                <a:moveTo>
                  <a:pt x="146017" y="199"/>
                </a:moveTo>
                <a:lnTo>
                  <a:pt x="145219" y="13564"/>
                </a:lnTo>
                <a:lnTo>
                  <a:pt x="0" y="11769"/>
                </a:lnTo>
                <a:lnTo>
                  <a:pt x="48074" y="0"/>
                </a:lnTo>
                <a:close/>
              </a:path>
            </a:pathLst>
          </a:custGeom>
          <a:solidFill>
            <a:srgbClr val="FF5252">
              <a:alpha val="4684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95" name="Google Shape;195;g3d3db13dfbf_0_3"/>
          <p:cNvSpPr/>
          <p:nvPr/>
        </p:nvSpPr>
        <p:spPr>
          <a:xfrm>
            <a:off x="2363800" y="2857500"/>
            <a:ext cx="2063025" cy="36350"/>
          </a:xfrm>
          <a:custGeom>
            <a:avLst/>
            <a:gdLst/>
            <a:ahLst/>
            <a:cxnLst/>
            <a:rect l="l" t="t" r="r" b="b"/>
            <a:pathLst>
              <a:path w="82521" h="1454" extrusionOk="0">
                <a:moveTo>
                  <a:pt x="82521" y="0"/>
                </a:moveTo>
                <a:lnTo>
                  <a:pt x="76510" y="1454"/>
                </a:lnTo>
                <a:lnTo>
                  <a:pt x="0" y="598"/>
                </a:lnTo>
              </a:path>
            </a:pathLst>
          </a:custGeom>
          <a:noFill/>
          <a:ln w="1905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fr-FR"/>
          </a:p>
        </p:txBody>
      </p:sp>
      <p:pic>
        <p:nvPicPr>
          <p:cNvPr id="196" name="Google Shape;196;g3d3db13dfbf_0_3"/>
          <p:cNvPicPr preferRelativeResize="0"/>
          <p:nvPr/>
        </p:nvPicPr>
        <p:blipFill rotWithShape="1">
          <a:blip r:embed="rId3">
            <a:alphaModFix/>
          </a:blip>
          <a:srcRect b="6881"/>
          <a:stretch/>
        </p:blipFill>
        <p:spPr>
          <a:xfrm>
            <a:off x="2155475" y="2349376"/>
            <a:ext cx="437449" cy="54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g3d3db13dfbf_0_3"/>
          <p:cNvCxnSpPr>
            <a:endCxn id="198" idx="2"/>
          </p:cNvCxnSpPr>
          <p:nvPr/>
        </p:nvCxnSpPr>
        <p:spPr>
          <a:xfrm rot="10800000" flipH="1">
            <a:off x="3465886" y="2948775"/>
            <a:ext cx="208200" cy="282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g3d3db13dfbf_0_3"/>
          <p:cNvCxnSpPr/>
          <p:nvPr/>
        </p:nvCxnSpPr>
        <p:spPr>
          <a:xfrm rot="10800000">
            <a:off x="1727625" y="2930200"/>
            <a:ext cx="2565600" cy="15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g3d3db13dfbf_0_3"/>
          <p:cNvCxnSpPr/>
          <p:nvPr/>
        </p:nvCxnSpPr>
        <p:spPr>
          <a:xfrm rot="10800000" flipH="1">
            <a:off x="1686225" y="2936450"/>
            <a:ext cx="628200" cy="261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g3d3db13dfbf_0_3"/>
          <p:cNvCxnSpPr/>
          <p:nvPr/>
        </p:nvCxnSpPr>
        <p:spPr>
          <a:xfrm rot="10800000" flipH="1">
            <a:off x="2594600" y="2945925"/>
            <a:ext cx="410700" cy="269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2" name="Google Shape;202;g3d3db13dfbf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7925" y="2945925"/>
            <a:ext cx="367726" cy="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d3db13dfbf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3200" y="2945925"/>
            <a:ext cx="367726" cy="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3db13dfbf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6400" y="2936450"/>
            <a:ext cx="367726" cy="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d3db13dfbf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4875" y="2936450"/>
            <a:ext cx="367726" cy="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d3db13dfbf_0_3" descr="Borne anti-belier diam 14 x H 153 cm pei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7162" y="2643350"/>
            <a:ext cx="339100" cy="3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d3db13dfbf_0_3" descr="Borne anti-belier diam 14 x H 153 cm pei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5387" y="2643350"/>
            <a:ext cx="339100" cy="3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d3db13dfbf_0_3"/>
          <p:cNvSpPr/>
          <p:nvPr/>
        </p:nvSpPr>
        <p:spPr>
          <a:xfrm>
            <a:off x="4455900" y="2781150"/>
            <a:ext cx="174500" cy="112700"/>
          </a:xfrm>
          <a:custGeom>
            <a:avLst/>
            <a:gdLst/>
            <a:ahLst/>
            <a:cxnLst/>
            <a:rect l="l" t="t" r="r" b="b"/>
            <a:pathLst>
              <a:path w="6980" h="4508" extrusionOk="0">
                <a:moveTo>
                  <a:pt x="0" y="3345"/>
                </a:moveTo>
                <a:lnTo>
                  <a:pt x="6980" y="4508"/>
                </a:lnTo>
                <a:lnTo>
                  <a:pt x="6980" y="0"/>
                </a:lnTo>
              </a:path>
            </a:pathLst>
          </a:custGeom>
          <a:noFill/>
          <a:ln w="1905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fr-FR"/>
          </a:p>
        </p:txBody>
      </p:sp>
      <p:pic>
        <p:nvPicPr>
          <p:cNvPr id="209" name="Google Shape;209;g3d3db13dfbf_0_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8500" y="2539325"/>
            <a:ext cx="321874" cy="32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d3db13dfbf_0_3"/>
          <p:cNvPicPr preferRelativeResize="0"/>
          <p:nvPr/>
        </p:nvPicPr>
        <p:blipFill rotWithShape="1">
          <a:blip r:embed="rId3">
            <a:alphaModFix/>
          </a:blip>
          <a:srcRect b="6881"/>
          <a:stretch/>
        </p:blipFill>
        <p:spPr>
          <a:xfrm>
            <a:off x="3454225" y="2368401"/>
            <a:ext cx="437449" cy="54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d3db13dfbf_0_3" descr="Borne anti-belier diam 14 x H 153 cm pei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9600" y="2643350"/>
            <a:ext cx="339100" cy="3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d3db13dfbf_0_3" descr="Borne anti-belier diam 14 x H 153 cm pein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7825" y="2643350"/>
            <a:ext cx="339100" cy="3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d3db13dfbf_0_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341629" y="2530576"/>
            <a:ext cx="291196" cy="40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d3db13dfbf_0_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89588" y="2421150"/>
            <a:ext cx="255425" cy="50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d3db13dfbf_0_3"/>
          <p:cNvSpPr txBox="1">
            <a:spLocks noGrp="1"/>
          </p:cNvSpPr>
          <p:nvPr>
            <p:ph type="title"/>
          </p:nvPr>
        </p:nvSpPr>
        <p:spPr>
          <a:xfrm>
            <a:off x="787125" y="3996750"/>
            <a:ext cx="48081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fr-FR" sz="23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CONFIGURATION 1</a:t>
            </a:r>
            <a:endParaRPr sz="23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c25112971_1_0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0000"/>
              <a:buFont typeface="Arial"/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221" name="Google Shape;221;g3cc25112971_1_0"/>
          <p:cNvSpPr txBox="1">
            <a:spLocks noGrp="1"/>
          </p:cNvSpPr>
          <p:nvPr>
            <p:ph type="title"/>
          </p:nvPr>
        </p:nvSpPr>
        <p:spPr>
          <a:xfrm>
            <a:off x="428700" y="300575"/>
            <a:ext cx="840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fr-FR" sz="3000" b="1">
                <a:latin typeface="DM Sans"/>
                <a:ea typeface="DM Sans"/>
                <a:cs typeface="DM Sans"/>
                <a:sym typeface="DM Sans"/>
              </a:rPr>
              <a:t>Notre proposition de bornes AC </a:t>
            </a:r>
            <a:endParaRPr sz="300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g3cc25112971_1_0"/>
          <p:cNvSpPr/>
          <p:nvPr/>
        </p:nvSpPr>
        <p:spPr>
          <a:xfrm>
            <a:off x="4326574" y="1338450"/>
            <a:ext cx="3906300" cy="3007800"/>
          </a:xfrm>
          <a:prstGeom prst="roundRect">
            <a:avLst>
              <a:gd name="adj" fmla="val 12138"/>
            </a:avLst>
          </a:prstGeom>
          <a:gradFill>
            <a:gsLst>
              <a:gs pos="0">
                <a:schemeClr val="lt1"/>
              </a:gs>
              <a:gs pos="100000">
                <a:srgbClr val="F9FAFB">
                  <a:alpha val="69803"/>
                </a:srgbClr>
              </a:gs>
            </a:gsLst>
            <a:lin ang="5400700" scaled="0"/>
          </a:gra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0" dist="304800" dir="5400000" algn="bl" rotWithShape="0">
              <a:srgbClr val="919AAC">
                <a:alpha val="10196"/>
              </a:srgbClr>
            </a:outerShdw>
          </a:effectLst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g3cc25112971_1_0"/>
          <p:cNvSpPr txBox="1"/>
          <p:nvPr/>
        </p:nvSpPr>
        <p:spPr>
          <a:xfrm>
            <a:off x="4438999" y="1167650"/>
            <a:ext cx="4305300" cy="22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53778"/>
                </a:solidFill>
                <a:latin typeface="Inter Medium"/>
                <a:ea typeface="Inter Medium"/>
                <a:cs typeface="Inter Medium"/>
                <a:sym typeface="Inter Medium"/>
              </a:rPr>
              <a:t>🌐  </a:t>
            </a: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Communicante 4G ou Ethernet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53778"/>
                </a:solidFill>
                <a:latin typeface="Inter Medium"/>
                <a:ea typeface="Inter Medium"/>
                <a:cs typeface="Inter Medium"/>
                <a:sym typeface="Inter Medium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⚡️  </a:t>
            </a: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Équilibrage dynamique de la charge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53778"/>
                </a:solidFill>
                <a:latin typeface="Inter Medium"/>
                <a:ea typeface="Inter Medium"/>
                <a:cs typeface="Inter Medium"/>
                <a:sym typeface="Inter Medium"/>
              </a:rPr>
              <a:t>🗳️  </a:t>
            </a: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OCPP 1.6 et compteur MID certifié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🔋 Compatible Plug &amp; Charge 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🔒 Garantie 3 ans hors vandalisme (extension à 5 ans)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♻️ Recyclabilité en fin de vie (80%)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rgbClr val="1D2939"/>
                </a:solidFill>
                <a:latin typeface="Inter Medium"/>
                <a:ea typeface="Inter Medium"/>
                <a:cs typeface="Inter Medium"/>
                <a:sym typeface="Inter Medium"/>
              </a:rPr>
              <a:t>💳  Authentification par Badge / QR Code</a:t>
            </a: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24" name="Google Shape;224;g3cc25112971_1_0"/>
          <p:cNvPicPr preferRelativeResize="0"/>
          <p:nvPr/>
        </p:nvPicPr>
        <p:blipFill rotWithShape="1">
          <a:blip r:embed="rId3">
            <a:alphaModFix/>
          </a:blip>
          <a:srcRect t="23023" b="18439"/>
          <a:stretch/>
        </p:blipFill>
        <p:spPr>
          <a:xfrm>
            <a:off x="1348650" y="1209101"/>
            <a:ext cx="1582975" cy="3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cc25112971_1_0"/>
          <p:cNvSpPr txBox="1"/>
          <p:nvPr/>
        </p:nvSpPr>
        <p:spPr>
          <a:xfrm>
            <a:off x="949894" y="1509017"/>
            <a:ext cx="2449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0" i="1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AC Maxi charger</a:t>
            </a:r>
            <a:endParaRPr sz="1600" b="0" i="1" u="none" strike="noStrike" cap="none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6" name="Google Shape;226;g3cc25112971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4950" y="2418550"/>
            <a:ext cx="1403400" cy="140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7" name="Google Shape;227;g3cc25112971_1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88399" y="1940050"/>
            <a:ext cx="1071850" cy="19488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cc25112971_1_0"/>
          <p:cNvSpPr txBox="1"/>
          <p:nvPr/>
        </p:nvSpPr>
        <p:spPr>
          <a:xfrm>
            <a:off x="152400" y="3998300"/>
            <a:ext cx="414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300" b="0" i="1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 configurations possibles avec ces bornes</a:t>
            </a:r>
            <a:endParaRPr sz="1300" b="0" i="1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g3cc25112971_1_0"/>
          <p:cNvSpPr/>
          <p:nvPr/>
        </p:nvSpPr>
        <p:spPr>
          <a:xfrm>
            <a:off x="469175" y="4346125"/>
            <a:ext cx="1250100" cy="518700"/>
          </a:xfrm>
          <a:prstGeom prst="roundRect">
            <a:avLst>
              <a:gd name="adj" fmla="val 27176"/>
            </a:avLst>
          </a:prstGeom>
          <a:gradFill>
            <a:gsLst>
              <a:gs pos="0">
                <a:srgbClr val="E6F4F3"/>
              </a:gs>
              <a:gs pos="100000">
                <a:srgbClr val="ECEFF3">
                  <a:alpha val="0"/>
                </a:srgbClr>
              </a:gs>
            </a:gsLst>
            <a:lin ang="5400012" scaled="0"/>
          </a:gra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357188" dist="123825" dir="5400000" algn="bl" rotWithShape="0">
              <a:srgbClr val="1D2939">
                <a:alpha val="74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7,4 </a:t>
            </a:r>
            <a:r>
              <a:rPr lang="fr-FR" sz="1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kW</a:t>
            </a:r>
            <a:endParaRPr sz="11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g3cc25112971_1_0"/>
          <p:cNvSpPr/>
          <p:nvPr/>
        </p:nvSpPr>
        <p:spPr>
          <a:xfrm>
            <a:off x="1777737" y="4346125"/>
            <a:ext cx="1162200" cy="518700"/>
          </a:xfrm>
          <a:prstGeom prst="roundRect">
            <a:avLst>
              <a:gd name="adj" fmla="val 26100"/>
            </a:avLst>
          </a:prstGeom>
          <a:gradFill>
            <a:gsLst>
              <a:gs pos="0">
                <a:srgbClr val="E6F4F3"/>
              </a:gs>
              <a:gs pos="100000">
                <a:srgbClr val="ECEFF3">
                  <a:alpha val="0"/>
                </a:srgbClr>
              </a:gs>
            </a:gsLst>
            <a:lin ang="5400012" scaled="0"/>
          </a:gra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357188" dist="123825" dir="5400000" algn="bl" rotWithShape="0">
              <a:srgbClr val="1D2939">
                <a:alpha val="74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11 </a:t>
            </a:r>
            <a:r>
              <a:rPr lang="fr-FR" sz="1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kW</a:t>
            </a:r>
            <a:endParaRPr sz="11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g3cc25112971_1_0"/>
          <p:cNvSpPr/>
          <p:nvPr/>
        </p:nvSpPr>
        <p:spPr>
          <a:xfrm>
            <a:off x="2998425" y="4346125"/>
            <a:ext cx="1022700" cy="518700"/>
          </a:xfrm>
          <a:prstGeom prst="roundRect">
            <a:avLst>
              <a:gd name="adj" fmla="val 22430"/>
            </a:avLst>
          </a:prstGeom>
          <a:gradFill>
            <a:gsLst>
              <a:gs pos="0">
                <a:srgbClr val="E6F4F3"/>
              </a:gs>
              <a:gs pos="100000">
                <a:srgbClr val="ECEFF3">
                  <a:alpha val="0"/>
                </a:srgbClr>
              </a:gs>
            </a:gsLst>
            <a:lin ang="5400012" scaled="0"/>
          </a:gra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357188" dist="123825" dir="5400000" algn="bl" rotWithShape="0">
              <a:srgbClr val="1D2939">
                <a:alpha val="74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22 </a:t>
            </a:r>
            <a:r>
              <a:rPr lang="fr-FR" sz="1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kW</a:t>
            </a:r>
            <a:endParaRPr sz="1300" b="0" i="0" u="none" strike="noStrike" cap="none">
              <a:solidFill>
                <a:srgbClr val="1D293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c25112971_0_212"/>
          <p:cNvSpPr/>
          <p:nvPr/>
        </p:nvSpPr>
        <p:spPr>
          <a:xfrm>
            <a:off x="12599625" y="-8843"/>
            <a:ext cx="51435" cy="2571750"/>
          </a:xfrm>
          <a:custGeom>
            <a:avLst/>
            <a:gdLst/>
            <a:ahLst/>
            <a:cxnLst/>
            <a:rect l="l" t="t" r="r" b="b"/>
            <a:pathLst>
              <a:path w="102870" h="5143500" extrusionOk="0">
                <a:moveTo>
                  <a:pt x="0" y="0"/>
                </a:moveTo>
                <a:lnTo>
                  <a:pt x="102870" y="0"/>
                </a:lnTo>
                <a:lnTo>
                  <a:pt x="10287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cc25112971_0_212"/>
          <p:cNvSpPr txBox="1">
            <a:spLocks noGrp="1"/>
          </p:cNvSpPr>
          <p:nvPr>
            <p:ph type="title"/>
          </p:nvPr>
        </p:nvSpPr>
        <p:spPr>
          <a:xfrm>
            <a:off x="375225" y="198000"/>
            <a:ext cx="76098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</a:pPr>
            <a:r>
              <a:rPr lang="fr-FR" sz="3000"/>
              <a:t>Présentation des bornes de recharges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endParaRPr sz="3000">
              <a:solidFill>
                <a:srgbClr val="1D2939"/>
              </a:solidFill>
            </a:endParaRPr>
          </a:p>
        </p:txBody>
      </p:sp>
      <p:sp>
        <p:nvSpPr>
          <p:cNvPr id="238" name="Google Shape;238;g3cc25112971_0_212"/>
          <p:cNvSpPr/>
          <p:nvPr/>
        </p:nvSpPr>
        <p:spPr>
          <a:xfrm>
            <a:off x="3411213" y="1920413"/>
            <a:ext cx="2362500" cy="1780500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3921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  <a:t>Installation</a:t>
            </a:r>
            <a:b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 b="1" i="0" u="none" strike="noStrike" cap="none">
              <a:solidFill>
                <a:srgbClr val="919AA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239" name="Google Shape;239;g3cc25112971_0_212"/>
          <p:cNvGraphicFramePr/>
          <p:nvPr/>
        </p:nvGraphicFramePr>
        <p:xfrm>
          <a:off x="3539926" y="2204588"/>
          <a:ext cx="2233775" cy="1103350"/>
        </p:xfrm>
        <a:graphic>
          <a:graphicData uri="http://schemas.openxmlformats.org/drawingml/2006/table">
            <a:tbl>
              <a:tblPr>
                <a:noFill/>
                <a:tableStyleId>{312DF80A-4CAD-4B3A-9A1A-665FECB37874}</a:tableStyleId>
              </a:tblPr>
              <a:tblGrid>
                <a:gridCol w="87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Type de borne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solidFill>
                            <a:srgbClr val="FF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240 kW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rgbClr val="428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Bornes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PDC 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0" name="Google Shape;240;g3cc25112971_0_212"/>
          <p:cNvSpPr txBox="1"/>
          <p:nvPr/>
        </p:nvSpPr>
        <p:spPr>
          <a:xfrm>
            <a:off x="3411213" y="3332063"/>
            <a:ext cx="2563500" cy="2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fr-F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Puissance utilisable :</a:t>
            </a:r>
            <a:r>
              <a:rPr lang="fr-F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50 à 240kVA</a:t>
            </a:r>
            <a:endParaRPr sz="1000" b="0" i="0" u="none" strike="noStrike" cap="none">
              <a:solidFill>
                <a:srgbClr val="5C66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1" name="Google Shape;241;g3cc25112971_0_212"/>
          <p:cNvPicPr preferRelativeResize="0"/>
          <p:nvPr/>
        </p:nvPicPr>
        <p:blipFill rotWithShape="1">
          <a:blip r:embed="rId3">
            <a:alphaModFix/>
          </a:blip>
          <a:srcRect l="22835" r="18220" b="4462"/>
          <a:stretch/>
        </p:blipFill>
        <p:spPr>
          <a:xfrm>
            <a:off x="6026275" y="1451225"/>
            <a:ext cx="1766199" cy="2862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g3cc25112971_0_212"/>
          <p:cNvGrpSpPr/>
          <p:nvPr/>
        </p:nvGrpSpPr>
        <p:grpSpPr>
          <a:xfrm>
            <a:off x="349475" y="1244189"/>
            <a:ext cx="2563580" cy="2964052"/>
            <a:chOff x="-7985137" y="2791220"/>
            <a:chExt cx="3254100" cy="2224763"/>
          </a:xfrm>
        </p:grpSpPr>
        <p:sp>
          <p:nvSpPr>
            <p:cNvPr id="243" name="Google Shape;243;g3cc25112971_0_212"/>
            <p:cNvSpPr/>
            <p:nvPr/>
          </p:nvSpPr>
          <p:spPr>
            <a:xfrm>
              <a:off x="-7985137" y="2950483"/>
              <a:ext cx="3254100" cy="2065500"/>
            </a:xfrm>
            <a:prstGeom prst="roundRect">
              <a:avLst>
                <a:gd name="adj" fmla="val 9266"/>
              </a:avLst>
            </a:prstGeom>
            <a:solidFill>
              <a:srgbClr val="FFFFFF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Autel DH480 - 240kW - DC Link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Modèl de borne permettant d'ajouter un satellite double en série.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Avec Compteurs MID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En option :  2 câbles de 7m.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4" name="Google Shape;244;g3cc25112971_0_212"/>
            <p:cNvSpPr/>
            <p:nvPr/>
          </p:nvSpPr>
          <p:spPr>
            <a:xfrm>
              <a:off x="-7756522" y="2791220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9803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Commentaires</a:t>
              </a:r>
              <a:endParaRPr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cxnSp>
        <p:nvCxnSpPr>
          <p:cNvPr id="245" name="Google Shape;245;g3cc25112971_0_212"/>
          <p:cNvCxnSpPr/>
          <p:nvPr/>
        </p:nvCxnSpPr>
        <p:spPr>
          <a:xfrm>
            <a:off x="3158673" y="1706297"/>
            <a:ext cx="0" cy="2257200"/>
          </a:xfrm>
          <a:prstGeom prst="straightConnector1">
            <a:avLst/>
          </a:prstGeom>
          <a:noFill/>
          <a:ln w="9525" cap="flat" cmpd="sng">
            <a:solidFill>
              <a:srgbClr val="1D29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g3cc25112971_0_212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pic>
        <p:nvPicPr>
          <p:cNvPr id="247" name="Google Shape;247;g3cc25112971_0_212" title="Capture d’écran 2025-12-30 à 19.16.2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4025" y="1920422"/>
            <a:ext cx="997019" cy="23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c25112971_0_227"/>
          <p:cNvSpPr/>
          <p:nvPr/>
        </p:nvSpPr>
        <p:spPr>
          <a:xfrm>
            <a:off x="12599625" y="-8843"/>
            <a:ext cx="51435" cy="2571750"/>
          </a:xfrm>
          <a:custGeom>
            <a:avLst/>
            <a:gdLst/>
            <a:ahLst/>
            <a:cxnLst/>
            <a:rect l="l" t="t" r="r" b="b"/>
            <a:pathLst>
              <a:path w="102870" h="5143500" extrusionOk="0">
                <a:moveTo>
                  <a:pt x="0" y="0"/>
                </a:moveTo>
                <a:lnTo>
                  <a:pt x="102870" y="0"/>
                </a:lnTo>
                <a:lnTo>
                  <a:pt x="10287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cc25112971_0_227"/>
          <p:cNvSpPr/>
          <p:nvPr/>
        </p:nvSpPr>
        <p:spPr>
          <a:xfrm>
            <a:off x="3411225" y="1920426"/>
            <a:ext cx="2362500" cy="1865700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3921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  <a:t>Installation</a:t>
            </a:r>
            <a:b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 b="1" i="0" u="none" strike="noStrike" cap="none">
              <a:solidFill>
                <a:srgbClr val="919AA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254" name="Google Shape;254;g3cc25112971_0_227"/>
          <p:cNvGraphicFramePr/>
          <p:nvPr/>
        </p:nvGraphicFramePr>
        <p:xfrm>
          <a:off x="3539926" y="2204588"/>
          <a:ext cx="2105500" cy="1402100"/>
        </p:xfrm>
        <a:graphic>
          <a:graphicData uri="http://schemas.openxmlformats.org/drawingml/2006/table">
            <a:tbl>
              <a:tblPr>
                <a:noFill/>
                <a:tableStyleId>{312DF80A-4CAD-4B3A-9A1A-665FECB37874}</a:tableStyleId>
              </a:tblPr>
              <a:tblGrid>
                <a:gridCol w="108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Type de borne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solidFill>
                            <a:srgbClr val="FF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 200 kW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PU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Type de SAT 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Double (2 PDC)</a:t>
                      </a:r>
                      <a:endParaRPr sz="1000" b="0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Nb de Sat</a:t>
                      </a: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00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1000" u="none" strike="noStrike" cap="none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55" name="Google Shape;255;g3cc25112971_0_227"/>
          <p:cNvGrpSpPr/>
          <p:nvPr/>
        </p:nvGrpSpPr>
        <p:grpSpPr>
          <a:xfrm>
            <a:off x="349475" y="1244189"/>
            <a:ext cx="2563580" cy="2964052"/>
            <a:chOff x="-7985137" y="2791220"/>
            <a:chExt cx="3254100" cy="2224763"/>
          </a:xfrm>
        </p:grpSpPr>
        <p:sp>
          <p:nvSpPr>
            <p:cNvPr id="256" name="Google Shape;256;g3cc25112971_0_227"/>
            <p:cNvSpPr/>
            <p:nvPr/>
          </p:nvSpPr>
          <p:spPr>
            <a:xfrm>
              <a:off x="-7985137" y="2950483"/>
              <a:ext cx="3254100" cy="2065500"/>
            </a:xfrm>
            <a:prstGeom prst="roundRect">
              <a:avLst>
                <a:gd name="adj" fmla="val 9266"/>
              </a:avLst>
            </a:prstGeom>
            <a:solidFill>
              <a:srgbClr val="FFFFFF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Kempower 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1x PU 200 kW 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+ 2x SAT double 300A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En option :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- </a:t>
              </a: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  </a:ext>
                  </a:extLst>
                </a:rPr>
                <a:t>Compteurs MID. 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- </a:t>
              </a: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  </a:ext>
                  </a:extLst>
                </a:rPr>
                <a:t>2 câbles de 7m</a:t>
              </a:r>
              <a:r>
                <a:rPr lang="fr-FR" sz="1100" b="0" i="0" u="none" strike="noStrike" cap="none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 par SAT.</a:t>
              </a:r>
              <a:endParaRPr sz="1100" b="0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1D2939"/>
                </a:solidFill>
                <a:highlight>
                  <a:srgbClr val="EEFF41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7" name="Google Shape;257;g3cc25112971_0_227"/>
            <p:cNvSpPr/>
            <p:nvPr/>
          </p:nvSpPr>
          <p:spPr>
            <a:xfrm>
              <a:off x="-7756522" y="2791220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196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Commentaires</a:t>
              </a:r>
              <a:endParaRPr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cxnSp>
        <p:nvCxnSpPr>
          <p:cNvPr id="258" name="Google Shape;258;g3cc25112971_0_227"/>
          <p:cNvCxnSpPr/>
          <p:nvPr/>
        </p:nvCxnSpPr>
        <p:spPr>
          <a:xfrm>
            <a:off x="3158673" y="1706297"/>
            <a:ext cx="0" cy="2257200"/>
          </a:xfrm>
          <a:prstGeom prst="straightConnector1">
            <a:avLst/>
          </a:prstGeom>
          <a:noFill/>
          <a:ln w="9525" cap="flat" cmpd="sng">
            <a:solidFill>
              <a:srgbClr val="1D29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g3cc25112971_0_227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sp>
        <p:nvSpPr>
          <p:cNvPr id="260" name="Google Shape;260;g3cc25112971_0_227"/>
          <p:cNvSpPr txBox="1">
            <a:spLocks noGrp="1"/>
          </p:cNvSpPr>
          <p:nvPr>
            <p:ph type="title"/>
          </p:nvPr>
        </p:nvSpPr>
        <p:spPr>
          <a:xfrm>
            <a:off x="375225" y="198000"/>
            <a:ext cx="76098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</a:pPr>
            <a:r>
              <a:rPr lang="fr-FR" sz="3000"/>
              <a:t>Présentation des bornes de recharges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endParaRPr sz="3000">
              <a:solidFill>
                <a:srgbClr val="1D2939"/>
              </a:solidFill>
            </a:endParaRPr>
          </a:p>
        </p:txBody>
      </p:sp>
      <p:pic>
        <p:nvPicPr>
          <p:cNvPr id="261" name="Google Shape;261;g3cc25112971_0_227"/>
          <p:cNvPicPr preferRelativeResize="0"/>
          <p:nvPr/>
        </p:nvPicPr>
        <p:blipFill rotWithShape="1">
          <a:blip r:embed="rId3">
            <a:alphaModFix/>
          </a:blip>
          <a:srcRect l="28178" r="23053"/>
          <a:stretch/>
        </p:blipFill>
        <p:spPr>
          <a:xfrm>
            <a:off x="6026275" y="1139500"/>
            <a:ext cx="1396901" cy="286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cc25112971_0_2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6695" y="1111138"/>
            <a:ext cx="2921224" cy="292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c25112971_0_2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sp>
        <p:nvSpPr>
          <p:cNvPr id="268" name="Google Shape;268;g3cc25112971_0_2"/>
          <p:cNvSpPr/>
          <p:nvPr/>
        </p:nvSpPr>
        <p:spPr>
          <a:xfrm>
            <a:off x="6747677" y="4710532"/>
            <a:ext cx="1392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cc25112971_0_2"/>
          <p:cNvSpPr txBox="1"/>
          <p:nvPr/>
        </p:nvSpPr>
        <p:spPr>
          <a:xfrm>
            <a:off x="375225" y="198000"/>
            <a:ext cx="813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</a:pPr>
            <a:r>
              <a:rPr lang="fr-FR" sz="3000" b="1" i="0" u="none" strike="noStrike" cap="none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rPr>
              <a:t>Réserves techniques</a:t>
            </a:r>
            <a:r>
              <a:rPr lang="fr-FR" sz="3000" b="1" i="0" u="none" strike="noStrike" cap="none">
                <a:solidFill>
                  <a:srgbClr val="1D293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cc25112971_0_2"/>
          <p:cNvSpPr/>
          <p:nvPr/>
        </p:nvSpPr>
        <p:spPr>
          <a:xfrm>
            <a:off x="582475" y="976800"/>
            <a:ext cx="7202100" cy="3189900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10588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b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 b="1" i="0" u="none" strike="noStrike" cap="none">
              <a:solidFill>
                <a:srgbClr val="919AA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 t="4111" b="22707"/>
          <a:stretch/>
        </p:blipFill>
        <p:spPr>
          <a:xfrm>
            <a:off x="504750" y="1262371"/>
            <a:ext cx="8134500" cy="3453900"/>
          </a:xfrm>
          <a:prstGeom prst="roundRect">
            <a:avLst>
              <a:gd name="adj" fmla="val 2736"/>
            </a:avLst>
          </a:prstGeom>
          <a:noFill/>
          <a:ln>
            <a:noFill/>
          </a:ln>
          <a:effectLst>
            <a:outerShdw blurRad="1143000" dist="304800" dir="5400000" algn="bl" rotWithShape="0">
              <a:srgbClr val="919AAC">
                <a:alpha val="31372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B070-9DCD-DA0A-CD3E-4DC22734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29" y="249382"/>
            <a:ext cx="8527141" cy="2076600"/>
          </a:xfrm>
        </p:spPr>
        <p:txBody>
          <a:bodyPr>
            <a:noAutofit/>
          </a:bodyPr>
          <a:lstStyle/>
          <a:p>
            <a:r>
              <a:rPr lang="fr-FR" sz="4400" dirty="0"/>
              <a:t>Annexe – Photos VT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254D51-ED36-0FDD-946E-99E2AEE321B2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96077" y="1034916"/>
            <a:ext cx="7724700" cy="371320"/>
          </a:xfrm>
        </p:spPr>
        <p:txBody>
          <a:bodyPr/>
          <a:lstStyle/>
          <a:p>
            <a:r>
              <a:rPr lang="fr-FR" dirty="0"/>
              <a:t>A supprimer avant envoie Client.</a:t>
            </a:r>
          </a:p>
        </p:txBody>
      </p:sp>
    </p:spTree>
    <p:extLst>
      <p:ext uri="{BB962C8B-B14F-4D97-AF65-F5344CB8AC3E}">
        <p14:creationId xmlns:p14="http://schemas.microsoft.com/office/powerpoint/2010/main" val="197725824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0ACF7CF757DC4094EE3C8029BBFF87" ma:contentTypeVersion="17" ma:contentTypeDescription="Crée un document." ma:contentTypeScope="" ma:versionID="e4941add2b7d5889b7155188c1132661">
  <xsd:schema xmlns:xsd="http://www.w3.org/2001/XMLSchema" xmlns:xs="http://www.w3.org/2001/XMLSchema" xmlns:p="http://schemas.microsoft.com/office/2006/metadata/properties" xmlns:ns2="a1102ece-9c89-40d2-9a2c-27d9929e8279" xmlns:ns3="3d362b09-fb7a-4ffe-b2d8-2cde68c25db3" targetNamespace="http://schemas.microsoft.com/office/2006/metadata/properties" ma:root="true" ma:fieldsID="f6b974aa2b127d8c88c06246f83f4eec" ns2:_="" ns3:_="">
    <xsd:import namespace="a1102ece-9c89-40d2-9a2c-27d9929e8279"/>
    <xsd:import namespace="3d362b09-fb7a-4ffe-b2d8-2cde68c25db3"/>
    <xsd:element name="properties">
      <xsd:complexType>
        <xsd:sequence>
          <xsd:element name="documentManagement">
            <xsd:complexType>
              <xsd:all>
                <xsd:element ref="ns2:CloudMigratorOriginId" minOccurs="0"/>
                <xsd:element ref="ns2:FileHash" minOccurs="0"/>
                <xsd:element ref="ns2:CloudMigratorVersion" minOccurs="0"/>
                <xsd:element ref="ns2:UniqueSourceRe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02ece-9c89-40d2-9a2c-27d9929e8279" elementFormDefault="qualified">
    <xsd:import namespace="http://schemas.microsoft.com/office/2006/documentManagement/types"/>
    <xsd:import namespace="http://schemas.microsoft.com/office/infopath/2007/PartnerControls"/>
    <xsd:element name="CloudMigratorOriginId" ma:index="8" nillable="true" ma:displayName="CloudMigratorOriginId" ma:description="" ma:internalName="CloudMigratorOriginId">
      <xsd:simpleType>
        <xsd:restriction base="dms:Note">
          <xsd:maxLength value="255"/>
        </xsd:restriction>
      </xsd:simpleType>
    </xsd:element>
    <xsd:element name="FileHash" ma:index="9" nillable="true" ma:displayName="FileHash" ma:description="" ma:internalName="FileHash">
      <xsd:simpleType>
        <xsd:restriction base="dms:Note">
          <xsd:maxLength value="255"/>
        </xsd:restriction>
      </xsd:simpleType>
    </xsd:element>
    <xsd:element name="CloudMigratorVersion" ma:index="10" nillable="true" ma:displayName="CloudMigratorVersion" ma:description="" ma:internalName="CloudMigratorVersion">
      <xsd:simpleType>
        <xsd:restriction base="dms:Note">
          <xsd:maxLength value="255"/>
        </xsd:restriction>
      </xsd:simpleType>
    </xsd:element>
    <xsd:element name="UniqueSourceRef" ma:index="11" nillable="true" ma:displayName="UniqueSourceRef" ma:description="" ma:internalName="UniqueSourceRef">
      <xsd:simpleType>
        <xsd:restriction base="dms:Note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9cf8ae5-f3d2-4649-a1b0-e98408d2ff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362b09-fb7a-4ffe-b2d8-2cde68c25d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bcd010-1ed8-463d-a1b5-4731b69db7f1}" ma:internalName="TaxCatchAll" ma:showField="CatchAllData" ma:web="3d362b09-fb7a-4ffe-b2d8-2cde68c25d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362b09-fb7a-4ffe-b2d8-2cde68c25db3" xsi:nil="true"/>
    <UniqueSourceRef xmlns="a1102ece-9c89-40d2-9a2c-27d9929e8279" xsi:nil="true"/>
    <FileHash xmlns="a1102ece-9c89-40d2-9a2c-27d9929e8279" xsi:nil="true"/>
    <lcf76f155ced4ddcb4097134ff3c332f xmlns="a1102ece-9c89-40d2-9a2c-27d9929e8279">
      <Terms xmlns="http://schemas.microsoft.com/office/infopath/2007/PartnerControls"/>
    </lcf76f155ced4ddcb4097134ff3c332f>
    <CloudMigratorOriginId xmlns="a1102ece-9c89-40d2-9a2c-27d9929e8279" xsi:nil="true"/>
    <CloudMigratorVersion xmlns="a1102ece-9c89-40d2-9a2c-27d9929e82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83EF9C-CCB4-4277-80C4-7DA915EC8C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02ece-9c89-40d2-9a2c-27d9929e8279"/>
    <ds:schemaRef ds:uri="3d362b09-fb7a-4ffe-b2d8-2cde68c25d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FA15C1-6407-4BA0-B06F-171D862B2F8C}">
  <ds:schemaRefs>
    <ds:schemaRef ds:uri="http://schemas.microsoft.com/office/2006/metadata/properties"/>
    <ds:schemaRef ds:uri="http://schemas.microsoft.com/office/infopath/2007/PartnerControls"/>
    <ds:schemaRef ds:uri="3d362b09-fb7a-4ffe-b2d8-2cde68c25db3"/>
    <ds:schemaRef ds:uri="a1102ece-9c89-40d2-9a2c-27d9929e8279"/>
  </ds:schemaRefs>
</ds:datastoreItem>
</file>

<file path=customXml/itemProps3.xml><?xml version="1.0" encoding="utf-8"?>
<ds:datastoreItem xmlns:ds="http://schemas.openxmlformats.org/officeDocument/2006/customXml" ds:itemID="{28D63668-2BCD-4E70-A973-6657470FEE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On-screen Show (16:9)</PresentationFormat>
  <Paragraphs>154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Inter Medium</vt:lpstr>
      <vt:lpstr>DM Sans</vt:lpstr>
      <vt:lpstr>DM Sans SemiBold</vt:lpstr>
      <vt:lpstr>DM Sans Medium</vt:lpstr>
      <vt:lpstr>Inter</vt:lpstr>
      <vt:lpstr>Inter SemiBold</vt:lpstr>
      <vt:lpstr>Arial</vt:lpstr>
      <vt:lpstr>Simple Light</vt:lpstr>
      <vt:lpstr>Nouveau Client x Bump</vt:lpstr>
      <vt:lpstr>Le Projet</vt:lpstr>
      <vt:lpstr>Plan d'implantation de la station</vt:lpstr>
      <vt:lpstr>Raccordement TGBT </vt:lpstr>
      <vt:lpstr>Hypothèse de raccordement ENEDIS</vt:lpstr>
      <vt:lpstr>PowerPoint Presentation</vt:lpstr>
      <vt:lpstr>PowerPoint Presentation</vt:lpstr>
      <vt:lpstr>PowerPoint Presentation</vt:lpstr>
      <vt:lpstr>Plan d'implantation -   </vt:lpstr>
      <vt:lpstr>Notre proposition de bornes AC </vt:lpstr>
      <vt:lpstr>Présentation des bornes de recharges </vt:lpstr>
      <vt:lpstr>Présentation des bornes de recharges </vt:lpstr>
      <vt:lpstr>PowerPoint Presentation</vt:lpstr>
      <vt:lpstr>PowerPoint Presentation</vt:lpstr>
      <vt:lpstr>Annexe – Photos VT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Wajih TAZI</cp:lastModifiedBy>
  <cp:revision>3</cp:revision>
  <dcterms:modified xsi:type="dcterms:W3CDTF">2026-10-09T09:02:19Z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0x0101000F0ACF7CF757DC4094EE3C8029BBFF87</vt:lpwstr>
  </property>
  <property fmtid="{D5CDD505-2E9C-101B-9397-08002B2CF9AE}" pid="3" name="MediaServiceImageTags">
    <vt:lpwstr/>
  </property>
</Properties>
</file>